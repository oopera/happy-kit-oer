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6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86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AB1AE-BCB7-4392-914D-1620631DBD24}" type="datetimeFigureOut">
              <a:rPr lang="de-DE" smtClean="0"/>
              <a:t>15.04.2025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EAA06-FA3B-494F-B483-6D3EED3EB6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817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67AAC5-E19D-4C4F-A62D-4E8DD51B8C68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beration Serif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166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2F209691-7882-4238-801F-B63FAA938076}"/>
              </a:ext>
            </a:extLst>
          </p:cNvPr>
          <p:cNvSpPr/>
          <p:nvPr userDrawn="1"/>
        </p:nvSpPr>
        <p:spPr>
          <a:xfrm>
            <a:off x="0" y="1172225"/>
            <a:ext cx="12192000" cy="46894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pic>
        <p:nvPicPr>
          <p:cNvPr id="16" name="HRW_Logo_transparent.png">
            <a:extLst>
              <a:ext uri="{FF2B5EF4-FFF2-40B4-BE49-F238E27FC236}">
                <a16:creationId xmlns:a16="http://schemas.microsoft.com/office/drawing/2014/main" id="{251BAA7E-DF9D-401E-A509-46C3FA0949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04" y="-5965"/>
            <a:ext cx="2592288" cy="1150806"/>
          </a:xfrm>
          <a:prstGeom prst="rect">
            <a:avLst/>
          </a:prstGeom>
        </p:spPr>
      </p:pic>
      <p:pic>
        <p:nvPicPr>
          <p:cNvPr id="17" name="Bild 2">
            <a:extLst>
              <a:ext uri="{FF2B5EF4-FFF2-40B4-BE49-F238E27FC236}">
                <a16:creationId xmlns:a16="http://schemas.microsoft.com/office/drawing/2014/main" id="{F6FF9EDF-5F71-4DEB-974B-C8BF78CAB9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52384" y="-27384"/>
            <a:ext cx="2015208" cy="318982"/>
          </a:xfrm>
          <a:prstGeom prst="rect">
            <a:avLst/>
          </a:prstGeom>
        </p:spPr>
      </p:pic>
      <p:sp>
        <p:nvSpPr>
          <p:cNvPr id="18" name="Titel 1">
            <a:extLst>
              <a:ext uri="{FF2B5EF4-FFF2-40B4-BE49-F238E27FC236}">
                <a16:creationId xmlns:a16="http://schemas.microsoft.com/office/drawing/2014/main" id="{4D750284-B646-407C-B6B0-35BD96F7D4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392" y="1412777"/>
            <a:ext cx="10944721" cy="612692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latin typeface="Liberation Serif" pitchFamily="18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643E9BF6-7747-4652-AD2E-2DECF8D013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393" y="2099447"/>
            <a:ext cx="10944200" cy="538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Liberation Serif" pitchFamily="18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21" name="Inhaltsplatzhalter 18">
            <a:extLst>
              <a:ext uri="{FF2B5EF4-FFF2-40B4-BE49-F238E27FC236}">
                <a16:creationId xmlns:a16="http://schemas.microsoft.com/office/drawing/2014/main" id="{0AFA74AB-D6FF-41EA-A6B1-3CA8CABE78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37702" y="6102708"/>
            <a:ext cx="4838179" cy="476250"/>
          </a:xfrm>
          <a:prstGeom prst="rect">
            <a:avLst/>
          </a:prstGeom>
        </p:spPr>
        <p:txBody>
          <a:bodyPr lIns="0" rIns="0"/>
          <a:lstStyle>
            <a:lvl1pPr algn="r"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Fachbereich, Institut o.ä.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A1FD8DD9-AF25-4C65-ADCD-63CDAF5EF2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45" y="5949280"/>
            <a:ext cx="2378295" cy="78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02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4C57E92-D1F3-45D1-9948-450440153D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40116" y="6009914"/>
            <a:ext cx="517652" cy="517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321E5D4-90C5-490B-B502-E568CC1AA46E}"/>
              </a:ext>
            </a:extLst>
          </p:cNvPr>
          <p:cNvSpPr txBox="1"/>
          <p:nvPr userDrawn="1"/>
        </p:nvSpPr>
        <p:spPr>
          <a:xfrm>
            <a:off x="10494069" y="6140394"/>
            <a:ext cx="64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679B97E-2F6E-4600-A1D4-CAD9FE23913C}" type="slidenum">
              <a:rPr lang="de-DE" sz="1400" smtClean="0">
                <a:latin typeface="Liberation Serif" panose="02020603050405020304" pitchFamily="18" charset="0"/>
              </a:rPr>
              <a:pPr algn="r"/>
              <a:t>‹Nr.›</a:t>
            </a:fld>
            <a:endParaRPr lang="de-DE" sz="1400" dirty="0">
              <a:latin typeface="Liberation Serif" panose="02020603050405020304" pitchFamily="18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506B2031-0944-472D-9758-0DCDA86D1772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623886" y="1685924"/>
            <a:ext cx="10943704" cy="4181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tabLst>
                <a:tab pos="322498" algn="l"/>
                <a:tab pos="657954" algn="l"/>
                <a:tab pos="977572" algn="l"/>
                <a:tab pos="1301509" algn="l"/>
                <a:tab pos="1621128" algn="l"/>
                <a:tab pos="1959463" algn="l"/>
                <a:tab pos="2601579" algn="l"/>
                <a:tab pos="3259532" algn="l"/>
                <a:tab pos="3903088" algn="l"/>
                <a:tab pos="4561041" algn="l"/>
              </a:tabLst>
              <a:defRPr sz="2400" b="1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0" indent="0" algn="l"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2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2pPr>
            <a:lvl3pPr marL="0" indent="0" algn="l" defTabSz="407442"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2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3pPr>
            <a:lvl4pPr marL="322498" indent="-322498" algn="l">
              <a:buFont typeface="+mj-lt"/>
              <a:buNone/>
              <a:tabLst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2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4pPr>
            <a:lvl5pPr marL="322498" indent="-322498" algn="l">
              <a:buFont typeface="Arial" pitchFamily="34" charset="0"/>
              <a:buChar char="•"/>
              <a:tabLst>
                <a:tab pos="656514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2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38CB67B9-68E6-4B38-8C0A-390C5C83192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3888" y="489404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>
              <a:defRPr sz="3600" b="1">
                <a:solidFill>
                  <a:srgbClr val="00B0F0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3899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4C57E92-D1F3-45D1-9948-450440153D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40116" y="6009914"/>
            <a:ext cx="517652" cy="517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87D9650-9A7A-4B37-8FFC-2B4B6FD27DC6}"/>
              </a:ext>
            </a:extLst>
          </p:cNvPr>
          <p:cNvSpPr txBox="1"/>
          <p:nvPr userDrawn="1"/>
        </p:nvSpPr>
        <p:spPr>
          <a:xfrm>
            <a:off x="10494069" y="6140394"/>
            <a:ext cx="64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679B97E-2F6E-4600-A1D4-CAD9FE23913C}" type="slidenum">
              <a:rPr lang="de-DE" sz="1400" smtClean="0">
                <a:latin typeface="Liberation Serif" panose="02020603050405020304" pitchFamily="18" charset="0"/>
              </a:rPr>
              <a:pPr algn="r"/>
              <a:t>‹Nr.›</a:t>
            </a:fld>
            <a:endParaRPr lang="de-DE" sz="1400" dirty="0">
              <a:latin typeface="Liberation Serif" panose="02020603050405020304" pitchFamily="18" charset="0"/>
            </a:endParaRP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1D2B3BB5-5D99-4B39-B9A1-92A21DA0905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623886" y="1268760"/>
            <a:ext cx="10943704" cy="4598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tabLst>
                <a:tab pos="322498" algn="l"/>
                <a:tab pos="657954" algn="l"/>
                <a:tab pos="977572" algn="l"/>
                <a:tab pos="1301509" algn="l"/>
                <a:tab pos="1621128" algn="l"/>
                <a:tab pos="1959463" algn="l"/>
                <a:tab pos="2601579" algn="l"/>
                <a:tab pos="3259532" algn="l"/>
                <a:tab pos="3903088" algn="l"/>
                <a:tab pos="4561041" algn="l"/>
              </a:tabLst>
              <a:defRPr sz="1400" b="1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0" indent="0" algn="l"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2pPr>
            <a:lvl3pPr marL="0" indent="0" algn="l" defTabSz="407442"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3pPr>
            <a:lvl4pPr marL="322498" indent="-322498" algn="l">
              <a:buFont typeface="+mj-lt"/>
              <a:buNone/>
              <a:tabLst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4pPr>
            <a:lvl5pPr marL="322498" indent="-322498" algn="l">
              <a:buFont typeface="Arial" pitchFamily="34" charset="0"/>
              <a:buChar char="•"/>
              <a:tabLst>
                <a:tab pos="656514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E2AD25A9-78B7-4D5C-B726-25F0ADE2C06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3888" y="489404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>
              <a:defRPr sz="2800">
                <a:solidFill>
                  <a:srgbClr val="00B0F0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2801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  <p15:guide id="2" orient="horz" pos="300">
          <p15:clr>
            <a:srgbClr val="FBAE40"/>
          </p15:clr>
        </p15:guide>
        <p15:guide id="3" orient="horz" pos="70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>
            <a:extLst>
              <a:ext uri="{FF2B5EF4-FFF2-40B4-BE49-F238E27FC236}">
                <a16:creationId xmlns:a16="http://schemas.microsoft.com/office/drawing/2014/main" id="{1D2B3BB5-5D99-4B39-B9A1-92A21DA0905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623886" y="1268760"/>
            <a:ext cx="10943704" cy="4598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tabLst>
                <a:tab pos="322498" algn="l"/>
                <a:tab pos="657954" algn="l"/>
                <a:tab pos="977572" algn="l"/>
                <a:tab pos="1301509" algn="l"/>
                <a:tab pos="1621128" algn="l"/>
                <a:tab pos="1959463" algn="l"/>
                <a:tab pos="2601579" algn="l"/>
                <a:tab pos="3259532" algn="l"/>
                <a:tab pos="3903088" algn="l"/>
                <a:tab pos="4561041" algn="l"/>
              </a:tabLst>
              <a:defRPr sz="1400" b="1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0" indent="0" algn="l"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2pPr>
            <a:lvl3pPr marL="0" indent="0" algn="l" defTabSz="407442"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3pPr>
            <a:lvl4pPr marL="322498" indent="-322498" algn="l">
              <a:buFont typeface="+mj-lt"/>
              <a:buNone/>
              <a:tabLst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4pPr>
            <a:lvl5pPr marL="322498" indent="-322498" algn="l">
              <a:buFont typeface="Arial" pitchFamily="34" charset="0"/>
              <a:buChar char="•"/>
              <a:tabLst>
                <a:tab pos="656514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E2AD25A9-78B7-4D5C-B726-25F0ADE2C06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3888" y="489404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>
              <a:defRPr sz="2800">
                <a:solidFill>
                  <a:srgbClr val="00B0F0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989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  <p15:guide id="2" orient="horz" pos="300">
          <p15:clr>
            <a:srgbClr val="FBAE40"/>
          </p15:clr>
        </p15:guide>
        <p15:guide id="3" orient="horz" pos="70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B911F3F6-CFAF-4712-99FF-0821A3CDF40F}"/>
              </a:ext>
            </a:extLst>
          </p:cNvPr>
          <p:cNvSpPr/>
          <p:nvPr userDrawn="1"/>
        </p:nvSpPr>
        <p:spPr>
          <a:xfrm>
            <a:off x="0" y="1150806"/>
            <a:ext cx="12192000" cy="46894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3AA6966-2C26-4F5B-A6D5-F8776664F8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2296" y="1412776"/>
            <a:ext cx="10945817" cy="1102519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latin typeface="Liberation Serif" pitchFamily="18" charset="0"/>
              </a:defRPr>
            </a:lvl1pPr>
          </a:lstStyle>
          <a:p>
            <a:r>
              <a:rPr lang="de-DE" dirty="0"/>
              <a:t>Abschlussmaster durch Klicken bearbeiten</a:t>
            </a:r>
          </a:p>
        </p:txBody>
      </p:sp>
      <p:pic>
        <p:nvPicPr>
          <p:cNvPr id="16" name="Bild 2">
            <a:extLst>
              <a:ext uri="{FF2B5EF4-FFF2-40B4-BE49-F238E27FC236}">
                <a16:creationId xmlns:a16="http://schemas.microsoft.com/office/drawing/2014/main" id="{F440AE9D-24A0-4E14-BEAA-A817DEA58C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52384" y="-27384"/>
            <a:ext cx="2015208" cy="318982"/>
          </a:xfrm>
          <a:prstGeom prst="rect">
            <a:avLst/>
          </a:prstGeom>
        </p:spPr>
      </p:pic>
      <p:pic>
        <p:nvPicPr>
          <p:cNvPr id="17" name="HRW_Logo_transparent.png">
            <a:extLst>
              <a:ext uri="{FF2B5EF4-FFF2-40B4-BE49-F238E27FC236}">
                <a16:creationId xmlns:a16="http://schemas.microsoft.com/office/drawing/2014/main" id="{977B5304-7624-44FB-8AE5-9CBDC59AB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04" y="-27384"/>
            <a:ext cx="2592288" cy="115080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25C95A8-926B-4BB4-83F9-CBBFE9E376C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45" y="5949280"/>
            <a:ext cx="2378295" cy="783106"/>
          </a:xfrm>
          <a:prstGeom prst="rect">
            <a:avLst/>
          </a:prstGeom>
        </p:spPr>
      </p:pic>
      <p:sp>
        <p:nvSpPr>
          <p:cNvPr id="8" name="Inhaltsplatzhalter 18">
            <a:extLst>
              <a:ext uri="{FF2B5EF4-FFF2-40B4-BE49-F238E27FC236}">
                <a16:creationId xmlns:a16="http://schemas.microsoft.com/office/drawing/2014/main" id="{CE84D051-E07F-4D08-A817-41C9C28BFBB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37702" y="6102708"/>
            <a:ext cx="4838179" cy="476250"/>
          </a:xfrm>
          <a:prstGeom prst="rect">
            <a:avLst/>
          </a:prstGeom>
        </p:spPr>
        <p:txBody>
          <a:bodyPr lIns="0" rIns="0"/>
          <a:lstStyle>
            <a:lvl1pPr algn="r"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Fachbereich, Institut o.ä.</a:t>
            </a:r>
          </a:p>
        </p:txBody>
      </p:sp>
    </p:spTree>
    <p:extLst>
      <p:ext uri="{BB962C8B-B14F-4D97-AF65-F5344CB8AC3E}">
        <p14:creationId xmlns:p14="http://schemas.microsoft.com/office/powerpoint/2010/main" val="2488757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57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Liberation Serif" panose="02020603050405020304" pitchFamily="18" charset="0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Liberation Serif" panose="02020603050405020304" pitchFamily="18" charset="0"/>
          <a:ea typeface="+mn-ea"/>
          <a:cs typeface="+mn-cs"/>
        </a:defRPr>
      </a:lvl1pPr>
      <a:lvl2pPr marL="685767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iberation Serif" panose="02020603050405020304" pitchFamily="18" charset="0"/>
          <a:ea typeface="+mn-ea"/>
          <a:cs typeface="+mn-cs"/>
        </a:defRPr>
      </a:lvl2pPr>
      <a:lvl3pPr marL="1142943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iberation Serif" panose="02020603050405020304" pitchFamily="18" charset="0"/>
          <a:ea typeface="+mn-ea"/>
          <a:cs typeface="+mn-cs"/>
        </a:defRPr>
      </a:lvl3pPr>
      <a:lvl4pPr marL="1600121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Liberation Serif" panose="02020603050405020304" pitchFamily="18" charset="0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Liberation Serif" panose="02020603050405020304" pitchFamily="18" charset="0"/>
          <a:ea typeface="+mn-ea"/>
          <a:cs typeface="+mn-cs"/>
        </a:defRPr>
      </a:lvl5pPr>
      <a:lvl6pPr marL="251447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7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7">
          <p15:clr>
            <a:srgbClr val="F26B43"/>
          </p15:clr>
        </p15:guide>
        <p15:guide id="5" orient="horz" pos="822">
          <p15:clr>
            <a:srgbClr val="F26B43"/>
          </p15:clr>
        </p15:guide>
        <p15:guide id="7" pos="393">
          <p15:clr>
            <a:srgbClr val="F26B43"/>
          </p15:clr>
        </p15:guide>
        <p15:guide id="8" orient="horz" pos="61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E9A19D7-2499-4E64-B22C-E92EFB5BD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685924"/>
            <a:ext cx="10943704" cy="1600615"/>
          </a:xfrm>
        </p:spPr>
        <p:txBody>
          <a:bodyPr/>
          <a:lstStyle/>
          <a:p>
            <a:r>
              <a:rPr lang="de-DE" sz="3000" dirty="0"/>
              <a:t>Wie fühlen Sie sich heute? Bewerten Sie die folgenden positiven Emotionen auf einer Skala von 1 bis 5: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b="0" dirty="0"/>
              <a:t>Fröhlichkeit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b="0" dirty="0"/>
              <a:t>Gelassenheit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b="0" dirty="0"/>
              <a:t>Zufriedenheit</a:t>
            </a:r>
          </a:p>
          <a:p>
            <a:endParaRPr lang="de-DE" dirty="0"/>
          </a:p>
        </p:txBody>
      </p:sp>
      <p:sp>
        <p:nvSpPr>
          <p:cNvPr id="12" name="Titel 2">
            <a:extLst>
              <a:ext uri="{FF2B5EF4-FFF2-40B4-BE49-F238E27FC236}">
                <a16:creationId xmlns:a16="http://schemas.microsoft.com/office/drawing/2014/main" id="{6291137A-35E7-49E4-9443-6AA58AD28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489404"/>
            <a:ext cx="10943704" cy="776810"/>
          </a:xfrm>
        </p:spPr>
        <p:txBody>
          <a:bodyPr/>
          <a:lstStyle/>
          <a:p>
            <a:r>
              <a:rPr lang="de-DE" b="1" dirty="0">
                <a:solidFill>
                  <a:srgbClr val="009FE3"/>
                </a:solidFill>
              </a:rPr>
              <a:t>Ein kurzer Check-in: Positive Emotionen erfassen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110D137-92B1-4508-8AAD-2F4C40C879AF}"/>
              </a:ext>
            </a:extLst>
          </p:cNvPr>
          <p:cNvSpPr txBox="1"/>
          <p:nvPr/>
        </p:nvSpPr>
        <p:spPr>
          <a:xfrm>
            <a:off x="3433350" y="260145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  <a:cs typeface="+mn-cs"/>
              </a:rPr>
              <a:t>Interesse</a:t>
            </a:r>
          </a:p>
          <a:p>
            <a:pPr marL="457200" marR="0" lvl="0" indent="-4572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  <a:cs typeface="+mn-cs"/>
              </a:rPr>
              <a:t>Stolz</a:t>
            </a:r>
          </a:p>
          <a:p>
            <a:pPr marL="457200" marR="0" lvl="0" indent="-4572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Inhaltsplatzhalter 1">
            <a:extLst>
              <a:ext uri="{FF2B5EF4-FFF2-40B4-BE49-F238E27FC236}">
                <a16:creationId xmlns:a16="http://schemas.microsoft.com/office/drawing/2014/main" id="{9173FF5B-B683-486A-BB29-AEDA5C8203C4}"/>
              </a:ext>
            </a:extLst>
          </p:cNvPr>
          <p:cNvSpPr txBox="1">
            <a:spLocks/>
          </p:cNvSpPr>
          <p:nvPr/>
        </p:nvSpPr>
        <p:spPr bwMode="auto">
          <a:xfrm>
            <a:off x="4069518" y="4615050"/>
            <a:ext cx="7228949" cy="1252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tabLst>
                <a:tab pos="322498" algn="l"/>
                <a:tab pos="657954" algn="l"/>
                <a:tab pos="977572" algn="l"/>
                <a:tab pos="1301509" algn="l"/>
                <a:tab pos="1621128" algn="l"/>
                <a:tab pos="1959463" algn="l"/>
                <a:tab pos="2601579" algn="l"/>
                <a:tab pos="3259532" algn="l"/>
                <a:tab pos="3903088" algn="l"/>
                <a:tab pos="4561041" algn="l"/>
              </a:tabLst>
              <a:defRPr sz="2400" b="1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Liberation Serif" panose="02020603050405020304" pitchFamily="18" charset="0"/>
              </a:defRPr>
            </a:lvl1pPr>
            <a:lvl2pPr marL="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24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Liberation Serif" panose="02020603050405020304" pitchFamily="18" charset="0"/>
              </a:defRPr>
            </a:lvl2pPr>
            <a:lvl3pPr marL="0" indent="0" algn="l" defTabSz="40744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24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Liberation Serif" panose="02020603050405020304" pitchFamily="18" charset="0"/>
              </a:defRPr>
            </a:lvl3pPr>
            <a:lvl4pPr marL="322498" indent="-322498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tabLst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24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Liberation Serif" panose="02020603050405020304" pitchFamily="18" charset="0"/>
              </a:defRPr>
            </a:lvl4pPr>
            <a:lvl5pPr marL="322498" indent="-322498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tabLst>
                <a:tab pos="656514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24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Liberation Serif" panose="02020603050405020304" pitchFamily="18" charset="0"/>
              </a:defRPr>
            </a:lvl5pPr>
            <a:lvl6pPr marL="251447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7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322498" algn="l"/>
                <a:tab pos="657954" algn="l"/>
                <a:tab pos="977572" algn="l"/>
                <a:tab pos="1301509" algn="l"/>
                <a:tab pos="1621128" algn="l"/>
                <a:tab pos="1959463" algn="l"/>
                <a:tab pos="2601579" algn="l"/>
                <a:tab pos="3259532" algn="l"/>
                <a:tab pos="3903088" algn="l"/>
                <a:tab pos="4561041" algn="l"/>
              </a:tabLst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  <a:t>Gehen Sie auf 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  <a:t>wooclap.com/de 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  <a:t>und geben Sie </a:t>
            </a:r>
            <a:b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</a:b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  <a:t>den Code ein, der gleich mit Ihnen geteilt wird.</a:t>
            </a:r>
            <a:b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</a:b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  <a:t>						</a:t>
            </a:r>
            <a:b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</a:b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  <a:t>							</a:t>
            </a:r>
          </a:p>
        </p:txBody>
      </p:sp>
      <p:pic>
        <p:nvPicPr>
          <p:cNvPr id="19" name="Picture 2" descr="Erstellen Sie interaktive Präsentationen mit Wooclap">
            <a:extLst>
              <a:ext uri="{FF2B5EF4-FFF2-40B4-BE49-F238E27FC236}">
                <a16:creationId xmlns:a16="http://schemas.microsoft.com/office/drawing/2014/main" id="{ED6BE5FA-EF2D-43B0-BAAC-26D7D507F6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3"/>
          <a:stretch/>
        </p:blipFill>
        <p:spPr bwMode="auto">
          <a:xfrm>
            <a:off x="721832" y="4949261"/>
            <a:ext cx="3227316" cy="1777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2" descr="Cours : WOOCLAP">
            <a:extLst>
              <a:ext uri="{FF2B5EF4-FFF2-40B4-BE49-F238E27FC236}">
                <a16:creationId xmlns:a16="http://schemas.microsoft.com/office/drawing/2014/main" id="{A211449B-7080-49C1-9429-C35299834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4615050"/>
            <a:ext cx="2504661" cy="74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798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">
  <a:themeElements>
    <a:clrScheme name="Benutzerdefiniert 1">
      <a:dk1>
        <a:srgbClr val="000000"/>
      </a:dk1>
      <a:lt1>
        <a:srgbClr val="FFFFFF"/>
      </a:lt1>
      <a:dk2>
        <a:srgbClr val="00A2D9"/>
      </a:dk2>
      <a:lt2>
        <a:srgbClr val="EEECE1"/>
      </a:lt2>
      <a:accent1>
        <a:srgbClr val="00A3DA"/>
      </a:accent1>
      <a:accent2>
        <a:srgbClr val="006B8E"/>
      </a:accent2>
      <a:accent3>
        <a:srgbClr val="4C4D4C"/>
      </a:accent3>
      <a:accent4>
        <a:srgbClr val="767776"/>
      </a:accent4>
      <a:accent5>
        <a:srgbClr val="767776"/>
      </a:accent5>
      <a:accent6>
        <a:srgbClr val="00AFDD"/>
      </a:accent6>
      <a:hlink>
        <a:srgbClr val="006B8E"/>
      </a:hlink>
      <a:folHlink>
        <a:srgbClr val="00516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9-06-06_HRW Powerpoint Master" id="{04377A4D-9DE6-EE41-8781-0E189CB9E1B1}" vid="{5CFA870C-B1ED-834E-B24B-41185ED9A9A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Breitbild</PresentationFormat>
  <Paragraphs>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Liberation Serif</vt:lpstr>
      <vt:lpstr>1_Office</vt:lpstr>
      <vt:lpstr>Ein kurzer Check-in: Positive Emotionen erfassen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kurzer Check-in: Positive Emotionen erfassen</dc:title>
  <dc:creator>Graf, Maike</dc:creator>
  <cp:lastModifiedBy>Graf, Maike</cp:lastModifiedBy>
  <cp:revision>1</cp:revision>
  <dcterms:created xsi:type="dcterms:W3CDTF">2025-04-15T11:35:48Z</dcterms:created>
  <dcterms:modified xsi:type="dcterms:W3CDTF">2025-04-15T11:36:32Z</dcterms:modified>
</cp:coreProperties>
</file>