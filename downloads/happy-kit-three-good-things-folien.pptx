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
  </p:notesMasterIdLst>
  <p:sldIdLst>
    <p:sldId id="368" r:id="rId2"/>
    <p:sldId id="369" r:id="rId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8052" autoAdjust="0"/>
  </p:normalViewPr>
  <p:slideViewPr>
    <p:cSldViewPr snapToGrid="0">
      <p:cViewPr varScale="1">
        <p:scale>
          <a:sx n="51" d="100"/>
          <a:sy n="51" d="100"/>
        </p:scale>
        <p:origin x="125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158BA-E91D-407B-ACB7-59D63F67D087}" type="datetimeFigureOut">
              <a:rPr lang="de-DE" smtClean="0"/>
              <a:t>27.08.2026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AF92C9-B6FC-4C59-9B54-8192BC6798B5}" type="slidenum">
              <a:rPr lang="de-DE" smtClean="0"/>
              <a:t>‹Nr.›</a:t>
            </a:fld>
            <a:endParaRPr lang="de-DE"/>
          </a:p>
        </p:txBody>
      </p:sp>
    </p:spTree>
    <p:extLst>
      <p:ext uri="{BB962C8B-B14F-4D97-AF65-F5344CB8AC3E}">
        <p14:creationId xmlns:p14="http://schemas.microsoft.com/office/powerpoint/2010/main" val="3842662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buFont typeface="Arial" panose="020B0604020202020204" pitchFamily="34" charset="0"/>
              <a:buNone/>
            </a:pPr>
            <a:r>
              <a:rPr lang="de-DE" sz="1050">
                <a:effectLst/>
                <a:latin typeface="Calibri" panose="020F0502020204030204" pitchFamily="34" charset="0"/>
                <a:ea typeface="Calibri" panose="020F0502020204030204" pitchFamily="34" charset="0"/>
                <a:cs typeface="Times New Roman" panose="02020603050405020304" pitchFamily="18" charset="0"/>
              </a:rPr>
              <a:t>„Zum Abschluss der heutigen Veranstaltung möchte ich das Tool Three Good Things aus dem Happy Kit nutzen und mit Ihnen Aspekte der Veranstaltung sammeln, die positiv waren und für die Sie dankbar sind. Bitte beantworten Sie gleich also die Frage (siehe oben); das können spezifische vermittelte Inhalte sein, bestimmte verwendete Methodiken, oder kleine Momente zwischendurch. Alternativ können Sie sich auch Fragen, auf welche </a:t>
            </a:r>
            <a:r>
              <a:rPr lang="de-DE" sz="1800">
                <a:effectLst/>
                <a:latin typeface="Liberation Serif" panose="02020603050405020304" pitchFamily="18" charset="0"/>
                <a:ea typeface="Calibri" panose="020F0502020204030204" pitchFamily="34" charset="0"/>
                <a:cs typeface="Times New Roman" panose="02020603050405020304" pitchFamily="18" charset="0"/>
              </a:rPr>
              <a:t>drei Dinge der heutigen Veranstaltung Sie positiv zurückblicken.</a:t>
            </a:r>
            <a:endParaRPr lang="de-DE" sz="105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None/>
            </a:pPr>
            <a:r>
              <a:rPr lang="de-DE" sz="1050">
                <a:effectLst/>
                <a:latin typeface="Calibri" panose="020F0502020204030204" pitchFamily="34" charset="0"/>
                <a:ea typeface="Calibri" panose="020F0502020204030204" pitchFamily="34" charset="0"/>
                <a:cs typeface="Times New Roman" panose="02020603050405020304" pitchFamily="18" charset="0"/>
              </a:rPr>
              <a:t>Teilen Sie Ihre Antworten anonym auf Wooclap; gehen Sie dazu auf wooclap.com/de und geben Sie den Umfragen-Code ein, den ich auf der nächsten Folie mit Ihnen teile. </a:t>
            </a:r>
          </a:p>
          <a:p>
            <a:pPr>
              <a:buFont typeface="Arial" panose="020B0604020202020204" pitchFamily="34" charset="0"/>
              <a:buNone/>
            </a:pPr>
            <a:endParaRPr lang="de-DE" sz="105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None/>
            </a:pPr>
            <a:endParaRPr lang="de-DE"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Foliennummernplatzhalt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5D67AAC5-E19D-4C4F-A62D-4E8DD51B8C68}" type="slidenum">
              <a:rPr kumimoji="0" lang="de-DE" sz="1000" b="0" i="0" u="none" strike="noStrike" kern="1200" cap="none" spc="0" normalizeH="0" baseline="0" noProof="0" smtClean="0">
                <a:ln>
                  <a:noFill/>
                </a:ln>
                <a:solidFill>
                  <a:prstClr val="black"/>
                </a:solidFill>
                <a:effectLst/>
                <a:uLnTx/>
                <a:uFillTx/>
                <a:latin typeface="Liberation Serif" panose="02020603050405020304" pitchFamily="18"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a:t>
            </a:fld>
            <a:endParaRPr kumimoji="0" lang="de-DE" sz="1000" b="0" i="0" u="none" strike="noStrike" kern="1200" cap="none" spc="0" normalizeH="0" baseline="0" noProof="0">
              <a:ln>
                <a:noFill/>
              </a:ln>
              <a:solidFill>
                <a:prstClr val="black"/>
              </a:solidFill>
              <a:effectLst/>
              <a:uLnTx/>
              <a:uFillTx/>
              <a:latin typeface="Liberation Serif" panose="02020603050405020304" pitchFamily="18" charset="0"/>
              <a:ea typeface="+mn-ea"/>
              <a:cs typeface="+mn-cs"/>
            </a:endParaRPr>
          </a:p>
        </p:txBody>
      </p:sp>
    </p:spTree>
    <p:extLst>
      <p:ext uri="{BB962C8B-B14F-4D97-AF65-F5344CB8AC3E}">
        <p14:creationId xmlns:p14="http://schemas.microsoft.com/office/powerpoint/2010/main" val="1513329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buFont typeface="Arial" panose="020B0604020202020204" pitchFamily="34" charset="0"/>
              <a:buNone/>
            </a:pPr>
            <a:r>
              <a:rPr lang="de-DE" sz="1800" dirty="0">
                <a:effectLst/>
                <a:latin typeface="Calibri" panose="020F0502020204030204" pitchFamily="34" charset="0"/>
                <a:ea typeface="Calibri" panose="020F0502020204030204" pitchFamily="34" charset="0"/>
                <a:cs typeface="Times New Roman" panose="02020603050405020304" pitchFamily="18" charset="0"/>
              </a:rPr>
              <a:t>Folie als Platzhalter für die Integration von </a:t>
            </a:r>
            <a:r>
              <a:rPr lang="de-DE" sz="1800" dirty="0" err="1">
                <a:effectLst/>
                <a:latin typeface="Calibri" panose="020F0502020204030204" pitchFamily="34" charset="0"/>
                <a:ea typeface="Calibri" panose="020F0502020204030204" pitchFamily="34" charset="0"/>
                <a:cs typeface="Times New Roman" panose="02020603050405020304" pitchFamily="18" charset="0"/>
              </a:rPr>
              <a:t>Wooclap</a:t>
            </a:r>
            <a:r>
              <a:rPr lang="de-DE" sz="1800" dirty="0">
                <a:effectLst/>
                <a:latin typeface="Calibri" panose="020F0502020204030204" pitchFamily="34" charset="0"/>
                <a:ea typeface="Calibri" panose="020F0502020204030204" pitchFamily="34" charset="0"/>
                <a:cs typeface="Times New Roman" panose="02020603050405020304" pitchFamily="18" charset="0"/>
              </a:rPr>
              <a:t>:</a:t>
            </a:r>
          </a:p>
          <a:p>
            <a:pPr>
              <a:buFont typeface="Arial" panose="020B0604020202020204" pitchFamily="34" charset="0"/>
              <a:buNone/>
            </a:pPr>
            <a:endParaRPr lang="de-DE"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None/>
            </a:pPr>
            <a:r>
              <a:rPr lang="de-DE" sz="1800" b="1" dirty="0">
                <a:effectLst/>
                <a:latin typeface="Liberation Serif" panose="02020603050405020304" pitchFamily="18" charset="0"/>
                <a:ea typeface="Calibri" panose="020F0502020204030204" pitchFamily="34" charset="0"/>
                <a:cs typeface="Times New Roman" panose="02020603050405020304" pitchFamily="18" charset="0"/>
              </a:rPr>
              <a:t>Klickanleitung</a:t>
            </a:r>
            <a:r>
              <a:rPr lang="de-DE" sz="1800" dirty="0">
                <a:effectLst/>
                <a:latin typeface="Liberation Serif" panose="02020603050405020304" pitchFamily="18" charset="0"/>
                <a:ea typeface="Calibri" panose="020F0502020204030204" pitchFamily="34" charset="0"/>
                <a:cs typeface="Times New Roman" panose="02020603050405020304" pitchFamily="18" charset="0"/>
              </a:rPr>
              <a:t>: Klickt oben im Reiter auf „Einfügen“ </a:t>
            </a:r>
            <a:r>
              <a:rPr lang="de-DE" sz="1800" dirty="0">
                <a:effectLst/>
                <a:latin typeface="Liberation Serif"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de-DE" sz="1800" dirty="0">
                <a:effectLst/>
                <a:latin typeface="Liberation Serif" panose="02020603050405020304" pitchFamily="18" charset="0"/>
                <a:ea typeface="Calibri" panose="020F0502020204030204" pitchFamily="34" charset="0"/>
                <a:cs typeface="Times New Roman" panose="02020603050405020304" pitchFamily="18" charset="0"/>
              </a:rPr>
              <a:t> „Add-Ins“ </a:t>
            </a:r>
            <a:r>
              <a:rPr lang="de-DE" sz="1800" dirty="0">
                <a:effectLst/>
                <a:latin typeface="Liberation Serif"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de-DE" sz="1800" dirty="0">
                <a:effectLst/>
                <a:latin typeface="Liberation Serif" panose="02020603050405020304" pitchFamily="18" charset="0"/>
                <a:ea typeface="Calibri" panose="020F0502020204030204" pitchFamily="34" charset="0"/>
                <a:cs typeface="Times New Roman" panose="02020603050405020304" pitchFamily="18" charset="0"/>
              </a:rPr>
              <a:t> „“Meine Add-Ins“ </a:t>
            </a:r>
            <a:r>
              <a:rPr lang="de-DE" sz="1800" dirty="0">
                <a:effectLst/>
                <a:latin typeface="Liberation Serif"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de-DE" sz="1800" dirty="0">
                <a:effectLst/>
                <a:latin typeface="Liberation Serif" panose="02020603050405020304" pitchFamily="18" charset="0"/>
                <a:ea typeface="Calibri" panose="020F0502020204030204" pitchFamily="34" charset="0"/>
                <a:cs typeface="Times New Roman" panose="02020603050405020304" pitchFamily="18" charset="0"/>
              </a:rPr>
              <a:t> „Store“ + </a:t>
            </a:r>
            <a:r>
              <a:rPr lang="de-DE" sz="1800" dirty="0" err="1">
                <a:effectLst/>
                <a:latin typeface="Liberation Serif" panose="02020603050405020304" pitchFamily="18" charset="0"/>
                <a:ea typeface="Calibri" panose="020F0502020204030204" pitchFamily="34" charset="0"/>
                <a:cs typeface="Times New Roman" panose="02020603050405020304" pitchFamily="18" charset="0"/>
              </a:rPr>
              <a:t>Wooclap</a:t>
            </a:r>
            <a:r>
              <a:rPr lang="de-DE" sz="1800" dirty="0">
                <a:effectLst/>
                <a:latin typeface="Liberation Serif" panose="02020603050405020304" pitchFamily="18" charset="0"/>
                <a:ea typeface="Calibri" panose="020F0502020204030204" pitchFamily="34" charset="0"/>
                <a:cs typeface="Times New Roman" panose="02020603050405020304" pitchFamily="18" charset="0"/>
              </a:rPr>
              <a:t> eingeben </a:t>
            </a:r>
            <a:r>
              <a:rPr lang="de-DE" sz="1800" dirty="0">
                <a:effectLst/>
                <a:latin typeface="Liberation Serif"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de-DE" sz="1800" dirty="0">
                <a:effectLst/>
                <a:latin typeface="Liberation Serif" panose="02020603050405020304" pitchFamily="18" charset="0"/>
                <a:ea typeface="Calibri" panose="020F0502020204030204" pitchFamily="34" charset="0"/>
                <a:cs typeface="Times New Roman" panose="02020603050405020304" pitchFamily="18" charset="0"/>
              </a:rPr>
              <a:t> „Hinzufügen“ + HRW Login-Daten eingeben </a:t>
            </a:r>
            <a:r>
              <a:rPr lang="de-DE" sz="1800" dirty="0">
                <a:effectLst/>
                <a:latin typeface="Liberation Serif"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de-DE" sz="1800" dirty="0">
                <a:effectLst/>
                <a:latin typeface="Liberation Serif" panose="02020603050405020304" pitchFamily="18" charset="0"/>
                <a:ea typeface="Calibri" panose="020F0502020204030204" pitchFamily="34" charset="0"/>
                <a:cs typeface="Times New Roman" panose="02020603050405020304" pitchFamily="18" charset="0"/>
              </a:rPr>
              <a:t> </a:t>
            </a:r>
            <a:r>
              <a:rPr lang="de-DE" sz="1800" dirty="0" err="1">
                <a:effectLst/>
                <a:latin typeface="Liberation Serif" panose="02020603050405020304" pitchFamily="18" charset="0"/>
                <a:ea typeface="Calibri" panose="020F0502020204030204" pitchFamily="34" charset="0"/>
                <a:cs typeface="Times New Roman" panose="02020603050405020304" pitchFamily="18" charset="0"/>
              </a:rPr>
              <a:t>Wooclap</a:t>
            </a:r>
            <a:r>
              <a:rPr lang="de-DE" sz="1800" dirty="0">
                <a:effectLst/>
                <a:latin typeface="Liberation Serif" panose="02020603050405020304" pitchFamily="18" charset="0"/>
                <a:ea typeface="Calibri" panose="020F0502020204030204" pitchFamily="34" charset="0"/>
                <a:cs typeface="Times New Roman" panose="02020603050405020304" pitchFamily="18" charset="0"/>
              </a:rPr>
              <a:t> öffnet sich auf der PowerPoint-Folie und ihr könnt die Umfrage aus eurem Eventbereich anklicken.</a:t>
            </a:r>
            <a:endParaRPr lang="de-DE"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Foliennummernplatzhalt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5D67AAC5-E19D-4C4F-A62D-4E8DD51B8C68}" type="slidenum">
              <a:rPr kumimoji="0" lang="de-DE" sz="1000" b="0" i="0" u="none" strike="noStrike" kern="1200" cap="none" spc="0" normalizeH="0" baseline="0" noProof="0" smtClean="0">
                <a:ln>
                  <a:noFill/>
                </a:ln>
                <a:solidFill>
                  <a:prstClr val="black"/>
                </a:solidFill>
                <a:effectLst/>
                <a:uLnTx/>
                <a:uFillTx/>
                <a:latin typeface="Liberation Serif" panose="02020603050405020304" pitchFamily="18"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a:t>
            </a:fld>
            <a:endParaRPr kumimoji="0" lang="de-DE" sz="1000" b="0" i="0" u="none" strike="noStrike" kern="1200" cap="none" spc="0" normalizeH="0" baseline="0" noProof="0">
              <a:ln>
                <a:noFill/>
              </a:ln>
              <a:solidFill>
                <a:prstClr val="black"/>
              </a:solidFill>
              <a:effectLst/>
              <a:uLnTx/>
              <a:uFillTx/>
              <a:latin typeface="Liberation Serif" panose="02020603050405020304" pitchFamily="18" charset="0"/>
              <a:ea typeface="+mn-ea"/>
              <a:cs typeface="+mn-cs"/>
            </a:endParaRPr>
          </a:p>
        </p:txBody>
      </p:sp>
    </p:spTree>
    <p:extLst>
      <p:ext uri="{BB962C8B-B14F-4D97-AF65-F5344CB8AC3E}">
        <p14:creationId xmlns:p14="http://schemas.microsoft.com/office/powerpoint/2010/main" val="27127601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bg>
      <p:bgPr>
        <a:solidFill>
          <a:schemeClr val="bg1"/>
        </a:solidFill>
        <a:effectLst/>
      </p:bgPr>
    </p:bg>
    <p:spTree>
      <p:nvGrpSpPr>
        <p:cNvPr id="1" name=""/>
        <p:cNvGrpSpPr/>
        <p:nvPr/>
      </p:nvGrpSpPr>
      <p:grpSpPr>
        <a:xfrm>
          <a:off x="0" y="0"/>
          <a:ext cx="0" cy="0"/>
          <a:chOff x="0" y="0"/>
          <a:chExt cx="0" cy="0"/>
        </a:xfrm>
      </p:grpSpPr>
      <p:sp>
        <p:nvSpPr>
          <p:cNvPr id="15" name="Rechteck 14">
            <a:extLst>
              <a:ext uri="{FF2B5EF4-FFF2-40B4-BE49-F238E27FC236}">
                <a16:creationId xmlns:a16="http://schemas.microsoft.com/office/drawing/2014/main" id="{2F209691-7882-4238-801F-B63FAA938076}"/>
              </a:ext>
            </a:extLst>
          </p:cNvPr>
          <p:cNvSpPr/>
          <p:nvPr userDrawn="1"/>
        </p:nvSpPr>
        <p:spPr>
          <a:xfrm>
            <a:off x="0" y="1172225"/>
            <a:ext cx="12192000" cy="46894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a:p>
        </p:txBody>
      </p:sp>
      <p:pic>
        <p:nvPicPr>
          <p:cNvPr id="16" name="HRW_Logo_transparent.png">
            <a:extLst>
              <a:ext uri="{FF2B5EF4-FFF2-40B4-BE49-F238E27FC236}">
                <a16:creationId xmlns:a16="http://schemas.microsoft.com/office/drawing/2014/main" id="{251BAA7E-DF9D-401E-A509-46C3FA0949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7504" y="-5965"/>
            <a:ext cx="2592288" cy="1150806"/>
          </a:xfrm>
          <a:prstGeom prst="rect">
            <a:avLst/>
          </a:prstGeom>
        </p:spPr>
      </p:pic>
      <p:pic>
        <p:nvPicPr>
          <p:cNvPr id="17" name="Bild 2">
            <a:extLst>
              <a:ext uri="{FF2B5EF4-FFF2-40B4-BE49-F238E27FC236}">
                <a16:creationId xmlns:a16="http://schemas.microsoft.com/office/drawing/2014/main" id="{F6FF9EDF-5F71-4DEB-974B-C8BF78CAB9FA}"/>
              </a:ext>
            </a:extLst>
          </p:cNvPr>
          <p:cNvPicPr>
            <a:picLocks noChangeAspect="1"/>
          </p:cNvPicPr>
          <p:nvPr userDrawn="1"/>
        </p:nvPicPr>
        <p:blipFill>
          <a:blip r:embed="rId3"/>
          <a:stretch>
            <a:fillRect/>
          </a:stretch>
        </p:blipFill>
        <p:spPr>
          <a:xfrm>
            <a:off x="9552384" y="-27384"/>
            <a:ext cx="2015208" cy="318982"/>
          </a:xfrm>
          <a:prstGeom prst="rect">
            <a:avLst/>
          </a:prstGeom>
        </p:spPr>
      </p:pic>
      <p:sp>
        <p:nvSpPr>
          <p:cNvPr id="18" name="Titel 1">
            <a:extLst>
              <a:ext uri="{FF2B5EF4-FFF2-40B4-BE49-F238E27FC236}">
                <a16:creationId xmlns:a16="http://schemas.microsoft.com/office/drawing/2014/main" id="{4D750284-B646-407C-B6B0-35BD96F7D486}"/>
              </a:ext>
            </a:extLst>
          </p:cNvPr>
          <p:cNvSpPr>
            <a:spLocks noGrp="1"/>
          </p:cNvSpPr>
          <p:nvPr>
            <p:ph type="ctrTitle" hasCustomPrompt="1"/>
          </p:nvPr>
        </p:nvSpPr>
        <p:spPr>
          <a:xfrm>
            <a:off x="623392" y="1412777"/>
            <a:ext cx="10944721" cy="612692"/>
          </a:xfrm>
          <a:prstGeom prst="rect">
            <a:avLst/>
          </a:prstGeom>
        </p:spPr>
        <p:txBody>
          <a:bodyPr vert="horz" lIns="0" tIns="0" rIns="0" bIns="0" anchor="t" anchorCtr="0">
            <a:noAutofit/>
          </a:bodyPr>
          <a:lstStyle>
            <a:lvl1pPr>
              <a:defRPr sz="4000">
                <a:solidFill>
                  <a:schemeClr val="bg1"/>
                </a:solidFill>
                <a:latin typeface="Liberation Serif" pitchFamily="18" charset="0"/>
              </a:defRPr>
            </a:lvl1pPr>
          </a:lstStyle>
          <a:p>
            <a:r>
              <a:rPr lang="de-DE" dirty="0"/>
              <a:t>Titelmasterformat durch Klicken bearbeiten</a:t>
            </a:r>
          </a:p>
        </p:txBody>
      </p:sp>
      <p:sp>
        <p:nvSpPr>
          <p:cNvPr id="20" name="Untertitel 2">
            <a:extLst>
              <a:ext uri="{FF2B5EF4-FFF2-40B4-BE49-F238E27FC236}">
                <a16:creationId xmlns:a16="http://schemas.microsoft.com/office/drawing/2014/main" id="{643E9BF6-7747-4652-AD2E-2DECF8D0135C}"/>
              </a:ext>
            </a:extLst>
          </p:cNvPr>
          <p:cNvSpPr>
            <a:spLocks noGrp="1"/>
          </p:cNvSpPr>
          <p:nvPr>
            <p:ph type="subTitle" idx="1" hasCustomPrompt="1"/>
          </p:nvPr>
        </p:nvSpPr>
        <p:spPr>
          <a:xfrm>
            <a:off x="623393" y="2099447"/>
            <a:ext cx="10944200" cy="538498"/>
          </a:xfrm>
          <a:prstGeom prst="rect">
            <a:avLst/>
          </a:prstGeom>
        </p:spPr>
        <p:txBody>
          <a:bodyPr>
            <a:noAutofit/>
          </a:bodyPr>
          <a:lstStyle>
            <a:lvl1pPr marL="0" indent="0" algn="l">
              <a:buNone/>
              <a:defRPr sz="2800">
                <a:solidFill>
                  <a:schemeClr val="bg1"/>
                </a:solidFill>
                <a:latin typeface="Liberation Serif" pitchFamily="18" charset="0"/>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de-DE" dirty="0"/>
              <a:t>Formatvorlage des Untertitelmasters durch Klicken bearbeiten</a:t>
            </a:r>
          </a:p>
        </p:txBody>
      </p:sp>
      <p:sp>
        <p:nvSpPr>
          <p:cNvPr id="21" name="Inhaltsplatzhalter 18">
            <a:extLst>
              <a:ext uri="{FF2B5EF4-FFF2-40B4-BE49-F238E27FC236}">
                <a16:creationId xmlns:a16="http://schemas.microsoft.com/office/drawing/2014/main" id="{0AFA74AB-D6FF-41EA-A6B1-3CA8CABE7881}"/>
              </a:ext>
            </a:extLst>
          </p:cNvPr>
          <p:cNvSpPr>
            <a:spLocks noGrp="1"/>
          </p:cNvSpPr>
          <p:nvPr>
            <p:ph sz="quarter" idx="11" hasCustomPrompt="1"/>
          </p:nvPr>
        </p:nvSpPr>
        <p:spPr>
          <a:xfrm>
            <a:off x="6737702" y="6102708"/>
            <a:ext cx="4838179" cy="476250"/>
          </a:xfrm>
          <a:prstGeom prst="rect">
            <a:avLst/>
          </a:prstGeom>
        </p:spPr>
        <p:txBody>
          <a:bodyPr lIns="0" rIns="0"/>
          <a:lstStyle>
            <a:lvl1pPr algn="r">
              <a:defRPr sz="2800">
                <a:solidFill>
                  <a:schemeClr val="tx2"/>
                </a:solidFill>
              </a:defRPr>
            </a:lvl1pPr>
          </a:lstStyle>
          <a:p>
            <a:pPr lvl="0"/>
            <a:r>
              <a:rPr lang="de-DE" dirty="0"/>
              <a:t>Fachbereich, Institut o.ä.</a:t>
            </a:r>
          </a:p>
        </p:txBody>
      </p:sp>
      <p:pic>
        <p:nvPicPr>
          <p:cNvPr id="22" name="Grafik 21">
            <a:extLst>
              <a:ext uri="{FF2B5EF4-FFF2-40B4-BE49-F238E27FC236}">
                <a16:creationId xmlns:a16="http://schemas.microsoft.com/office/drawing/2014/main" id="{A1FD8DD9-AF25-4C65-ADCD-63CDAF5EF26C}"/>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7345" y="5949280"/>
            <a:ext cx="2378295" cy="783106"/>
          </a:xfrm>
          <a:prstGeom prst="rect">
            <a:avLst/>
          </a:prstGeom>
        </p:spPr>
      </p:pic>
    </p:spTree>
    <p:extLst>
      <p:ext uri="{BB962C8B-B14F-4D97-AF65-F5344CB8AC3E}">
        <p14:creationId xmlns:p14="http://schemas.microsoft.com/office/powerpoint/2010/main" val="255927117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7" name="Textplatzhalter 2">
            <a:extLst>
              <a:ext uri="{FF2B5EF4-FFF2-40B4-BE49-F238E27FC236}">
                <a16:creationId xmlns:a16="http://schemas.microsoft.com/office/drawing/2014/main" id="{506B2031-0944-472D-9758-0DCDA86D1772}"/>
              </a:ext>
            </a:extLst>
          </p:cNvPr>
          <p:cNvSpPr>
            <a:spLocks noGrp="1"/>
          </p:cNvSpPr>
          <p:nvPr>
            <p:ph idx="1" hasCustomPrompt="1"/>
          </p:nvPr>
        </p:nvSpPr>
        <p:spPr bwMode="auto">
          <a:xfrm>
            <a:off x="623886" y="1685924"/>
            <a:ext cx="10943704" cy="4181553"/>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2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itelplatzhalter 1">
            <a:extLst>
              <a:ext uri="{FF2B5EF4-FFF2-40B4-BE49-F238E27FC236}">
                <a16:creationId xmlns:a16="http://schemas.microsoft.com/office/drawing/2014/main" id="{38CB67B9-68E6-4B38-8C0A-390C5C83192D}"/>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3600" b="1">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
        <p:nvSpPr>
          <p:cNvPr id="8" name="Textfeld 7">
            <a:extLst>
              <a:ext uri="{FF2B5EF4-FFF2-40B4-BE49-F238E27FC236}">
                <a16:creationId xmlns:a16="http://schemas.microsoft.com/office/drawing/2014/main" id="{AD61DBF0-A9A3-4214-AACB-BFA17C8796B6}"/>
              </a:ext>
            </a:extLst>
          </p:cNvPr>
          <p:cNvSpPr txBox="1"/>
          <p:nvPr userDrawn="1"/>
        </p:nvSpPr>
        <p:spPr>
          <a:xfrm>
            <a:off x="10494069" y="6349346"/>
            <a:ext cx="646047" cy="307777"/>
          </a:xfrm>
          <a:prstGeom prst="rect">
            <a:avLst/>
          </a:prstGeom>
          <a:noFill/>
        </p:spPr>
        <p:txBody>
          <a:bodyPr wrap="square" rtlCol="0">
            <a:spAutoFit/>
          </a:bodyPr>
          <a:lstStyle/>
          <a:p>
            <a:pPr algn="r"/>
            <a:fld id="{3679B97E-2F6E-4600-A1D4-CAD9FE23913C}" type="slidenum">
              <a:rPr lang="de-DE" sz="1400" smtClean="0">
                <a:latin typeface="Liberation Serif" panose="02020603050405020304" pitchFamily="18" charset="0"/>
              </a:rPr>
              <a:pPr algn="r"/>
              <a:t>‹Nr.›</a:t>
            </a:fld>
            <a:endParaRPr lang="de-DE" sz="1400" dirty="0">
              <a:latin typeface="Liberation Serif" panose="02020603050405020304" pitchFamily="18" charset="0"/>
            </a:endParaRPr>
          </a:p>
        </p:txBody>
      </p:sp>
    </p:spTree>
    <p:extLst>
      <p:ext uri="{BB962C8B-B14F-4D97-AF65-F5344CB8AC3E}">
        <p14:creationId xmlns:p14="http://schemas.microsoft.com/office/powerpoint/2010/main" val="45100935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el und Inhalt">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54C57E92-D1F3-45D1-9948-450440153DE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1140116" y="6009914"/>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feld 4">
            <a:extLst>
              <a:ext uri="{FF2B5EF4-FFF2-40B4-BE49-F238E27FC236}">
                <a16:creationId xmlns:a16="http://schemas.microsoft.com/office/drawing/2014/main" id="{487D9650-9A7A-4B37-8FFC-2B4B6FD27DC6}"/>
              </a:ext>
            </a:extLst>
          </p:cNvPr>
          <p:cNvSpPr txBox="1"/>
          <p:nvPr userDrawn="1"/>
        </p:nvSpPr>
        <p:spPr>
          <a:xfrm>
            <a:off x="10494069" y="6140394"/>
            <a:ext cx="646047" cy="307777"/>
          </a:xfrm>
          <a:prstGeom prst="rect">
            <a:avLst/>
          </a:prstGeom>
          <a:noFill/>
        </p:spPr>
        <p:txBody>
          <a:bodyPr wrap="square" rtlCol="0">
            <a:spAutoFit/>
          </a:bodyPr>
          <a:lstStyle/>
          <a:p>
            <a:pPr algn="r"/>
            <a:fld id="{3679B97E-2F6E-4600-A1D4-CAD9FE23913C}" type="slidenum">
              <a:rPr lang="de-DE" sz="1400" smtClean="0">
                <a:latin typeface="Liberation Serif" panose="02020603050405020304" pitchFamily="18" charset="0"/>
              </a:rPr>
              <a:pPr algn="r"/>
              <a:t>‹Nr.›</a:t>
            </a:fld>
            <a:endParaRPr lang="de-DE" sz="1400" dirty="0">
              <a:latin typeface="Liberation Serif" panose="02020603050405020304" pitchFamily="18" charset="0"/>
            </a:endParaRPr>
          </a:p>
        </p:txBody>
      </p:sp>
      <p:sp>
        <p:nvSpPr>
          <p:cNvPr id="6" name="Textplatzhalter 2">
            <a:extLst>
              <a:ext uri="{FF2B5EF4-FFF2-40B4-BE49-F238E27FC236}">
                <a16:creationId xmlns:a16="http://schemas.microsoft.com/office/drawing/2014/main" id="{1D2B3BB5-5D99-4B39-B9A1-92A21DA09056}"/>
              </a:ext>
            </a:extLst>
          </p:cNvPr>
          <p:cNvSpPr>
            <a:spLocks noGrp="1"/>
          </p:cNvSpPr>
          <p:nvPr>
            <p:ph idx="1" hasCustomPrompt="1"/>
          </p:nvPr>
        </p:nvSpPr>
        <p:spPr bwMode="auto">
          <a:xfrm>
            <a:off x="623886" y="1268760"/>
            <a:ext cx="10943704" cy="4598718"/>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1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itelplatzhalter 1">
            <a:extLst>
              <a:ext uri="{FF2B5EF4-FFF2-40B4-BE49-F238E27FC236}">
                <a16:creationId xmlns:a16="http://schemas.microsoft.com/office/drawing/2014/main" id="{E2AD25A9-78B7-4D5C-B726-25F0ADE2C06B}"/>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2800">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Tree>
    <p:extLst>
      <p:ext uri="{BB962C8B-B14F-4D97-AF65-F5344CB8AC3E}">
        <p14:creationId xmlns:p14="http://schemas.microsoft.com/office/powerpoint/2010/main" val="3566966594"/>
      </p:ext>
    </p:extLst>
  </p:cSld>
  <p:clrMapOvr>
    <a:masterClrMapping/>
  </p:clrMapOvr>
  <p:extLst>
    <p:ext uri="{DCECCB84-F9BA-43D5-87BE-67443E8EF086}">
      <p15:sldGuideLst xmlns:p15="http://schemas.microsoft.com/office/powerpoint/2012/main">
        <p15:guide id="1" pos="393">
          <p15:clr>
            <a:srgbClr val="FBAE40"/>
          </p15:clr>
        </p15:guide>
        <p15:guide id="2" orient="horz" pos="300">
          <p15:clr>
            <a:srgbClr val="FBAE40"/>
          </p15:clr>
        </p15:guide>
        <p15:guide id="3" orient="horz" pos="70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6" name="Textplatzhalter 2">
            <a:extLst>
              <a:ext uri="{FF2B5EF4-FFF2-40B4-BE49-F238E27FC236}">
                <a16:creationId xmlns:a16="http://schemas.microsoft.com/office/drawing/2014/main" id="{1D2B3BB5-5D99-4B39-B9A1-92A21DA09056}"/>
              </a:ext>
            </a:extLst>
          </p:cNvPr>
          <p:cNvSpPr>
            <a:spLocks noGrp="1"/>
          </p:cNvSpPr>
          <p:nvPr>
            <p:ph idx="1" hasCustomPrompt="1"/>
          </p:nvPr>
        </p:nvSpPr>
        <p:spPr bwMode="auto">
          <a:xfrm>
            <a:off x="623886" y="1268760"/>
            <a:ext cx="10943704" cy="4598718"/>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1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itelplatzhalter 1">
            <a:extLst>
              <a:ext uri="{FF2B5EF4-FFF2-40B4-BE49-F238E27FC236}">
                <a16:creationId xmlns:a16="http://schemas.microsoft.com/office/drawing/2014/main" id="{E2AD25A9-78B7-4D5C-B726-25F0ADE2C06B}"/>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2800">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Tree>
    <p:extLst>
      <p:ext uri="{BB962C8B-B14F-4D97-AF65-F5344CB8AC3E}">
        <p14:creationId xmlns:p14="http://schemas.microsoft.com/office/powerpoint/2010/main" val="770161381"/>
      </p:ext>
    </p:extLst>
  </p:cSld>
  <p:clrMapOvr>
    <a:masterClrMapping/>
  </p:clrMapOvr>
  <p:extLst>
    <p:ext uri="{DCECCB84-F9BA-43D5-87BE-67443E8EF086}">
      <p15:sldGuideLst xmlns:p15="http://schemas.microsoft.com/office/powerpoint/2012/main">
        <p15:guide id="1" pos="393">
          <p15:clr>
            <a:srgbClr val="FBAE40"/>
          </p15:clr>
        </p15:guide>
        <p15:guide id="2" orient="horz" pos="300">
          <p15:clr>
            <a:srgbClr val="FBAE40"/>
          </p15:clr>
        </p15:guide>
        <p15:guide id="3" orient="horz" pos="70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bschluss">
    <p:bg>
      <p:bgPr>
        <a:solidFill>
          <a:schemeClr val="bg1"/>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B911F3F6-CFAF-4712-99FF-0821A3CDF40F}"/>
              </a:ext>
            </a:extLst>
          </p:cNvPr>
          <p:cNvSpPr/>
          <p:nvPr userDrawn="1"/>
        </p:nvSpPr>
        <p:spPr>
          <a:xfrm>
            <a:off x="0" y="1150806"/>
            <a:ext cx="12192000" cy="46894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a:p>
        </p:txBody>
      </p:sp>
      <p:sp>
        <p:nvSpPr>
          <p:cNvPr id="14" name="Titel 1">
            <a:extLst>
              <a:ext uri="{FF2B5EF4-FFF2-40B4-BE49-F238E27FC236}">
                <a16:creationId xmlns:a16="http://schemas.microsoft.com/office/drawing/2014/main" id="{F3AA6966-2C26-4F5B-A6D5-F8776664F8E6}"/>
              </a:ext>
            </a:extLst>
          </p:cNvPr>
          <p:cNvSpPr>
            <a:spLocks noGrp="1"/>
          </p:cNvSpPr>
          <p:nvPr>
            <p:ph type="ctrTitle" hasCustomPrompt="1"/>
          </p:nvPr>
        </p:nvSpPr>
        <p:spPr>
          <a:xfrm>
            <a:off x="622296" y="1412776"/>
            <a:ext cx="10945817" cy="1102519"/>
          </a:xfrm>
          <a:prstGeom prst="rect">
            <a:avLst/>
          </a:prstGeom>
        </p:spPr>
        <p:txBody>
          <a:bodyPr vert="horz" lIns="0" tIns="0" rIns="0" bIns="0" anchor="t" anchorCtr="0">
            <a:noAutofit/>
          </a:bodyPr>
          <a:lstStyle>
            <a:lvl1pPr>
              <a:defRPr sz="4000">
                <a:solidFill>
                  <a:schemeClr val="bg1"/>
                </a:solidFill>
                <a:latin typeface="Liberation Serif" pitchFamily="18" charset="0"/>
              </a:defRPr>
            </a:lvl1pPr>
          </a:lstStyle>
          <a:p>
            <a:r>
              <a:rPr lang="de-DE" dirty="0"/>
              <a:t>Abschlussmaster durch Klicken bearbeiten</a:t>
            </a:r>
          </a:p>
        </p:txBody>
      </p:sp>
      <p:pic>
        <p:nvPicPr>
          <p:cNvPr id="16" name="Bild 2">
            <a:extLst>
              <a:ext uri="{FF2B5EF4-FFF2-40B4-BE49-F238E27FC236}">
                <a16:creationId xmlns:a16="http://schemas.microsoft.com/office/drawing/2014/main" id="{F440AE9D-24A0-4E14-BEAA-A817DEA58C9B}"/>
              </a:ext>
            </a:extLst>
          </p:cNvPr>
          <p:cNvPicPr>
            <a:picLocks noChangeAspect="1"/>
          </p:cNvPicPr>
          <p:nvPr userDrawn="1"/>
        </p:nvPicPr>
        <p:blipFill>
          <a:blip r:embed="rId2"/>
          <a:stretch>
            <a:fillRect/>
          </a:stretch>
        </p:blipFill>
        <p:spPr>
          <a:xfrm>
            <a:off x="9552384" y="-27384"/>
            <a:ext cx="2015208" cy="318982"/>
          </a:xfrm>
          <a:prstGeom prst="rect">
            <a:avLst/>
          </a:prstGeom>
        </p:spPr>
      </p:pic>
      <p:pic>
        <p:nvPicPr>
          <p:cNvPr id="17" name="HRW_Logo_transparent.png">
            <a:extLst>
              <a:ext uri="{FF2B5EF4-FFF2-40B4-BE49-F238E27FC236}">
                <a16:creationId xmlns:a16="http://schemas.microsoft.com/office/drawing/2014/main" id="{977B5304-7624-44FB-8AE5-9CBDC59AB85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7504" y="-27384"/>
            <a:ext cx="2592288" cy="1150806"/>
          </a:xfrm>
          <a:prstGeom prst="rect">
            <a:avLst/>
          </a:prstGeom>
        </p:spPr>
      </p:pic>
      <p:pic>
        <p:nvPicPr>
          <p:cNvPr id="18" name="Grafik 17">
            <a:extLst>
              <a:ext uri="{FF2B5EF4-FFF2-40B4-BE49-F238E27FC236}">
                <a16:creationId xmlns:a16="http://schemas.microsoft.com/office/drawing/2014/main" id="{C25C95A8-926B-4BB4-83F9-CBBFE9E376C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7345" y="5949280"/>
            <a:ext cx="2378295" cy="783106"/>
          </a:xfrm>
          <a:prstGeom prst="rect">
            <a:avLst/>
          </a:prstGeom>
        </p:spPr>
      </p:pic>
      <p:sp>
        <p:nvSpPr>
          <p:cNvPr id="8" name="Inhaltsplatzhalter 18">
            <a:extLst>
              <a:ext uri="{FF2B5EF4-FFF2-40B4-BE49-F238E27FC236}">
                <a16:creationId xmlns:a16="http://schemas.microsoft.com/office/drawing/2014/main" id="{CE84D051-E07F-4D08-A817-41C9C28BFBB7}"/>
              </a:ext>
            </a:extLst>
          </p:cNvPr>
          <p:cNvSpPr>
            <a:spLocks noGrp="1"/>
          </p:cNvSpPr>
          <p:nvPr>
            <p:ph sz="quarter" idx="11" hasCustomPrompt="1"/>
          </p:nvPr>
        </p:nvSpPr>
        <p:spPr>
          <a:xfrm>
            <a:off x="6737702" y="6102708"/>
            <a:ext cx="4838179" cy="476250"/>
          </a:xfrm>
          <a:prstGeom prst="rect">
            <a:avLst/>
          </a:prstGeom>
        </p:spPr>
        <p:txBody>
          <a:bodyPr lIns="0" rIns="0"/>
          <a:lstStyle>
            <a:lvl1pPr algn="r">
              <a:defRPr sz="2800">
                <a:solidFill>
                  <a:schemeClr val="tx2"/>
                </a:solidFill>
              </a:defRPr>
            </a:lvl1pPr>
          </a:lstStyle>
          <a:p>
            <a:pPr lvl="0"/>
            <a:r>
              <a:rPr lang="de-DE" dirty="0"/>
              <a:t>Fachbereich, Institut o.ä.</a:t>
            </a:r>
          </a:p>
        </p:txBody>
      </p:sp>
    </p:spTree>
    <p:extLst>
      <p:ext uri="{BB962C8B-B14F-4D97-AF65-F5344CB8AC3E}">
        <p14:creationId xmlns:p14="http://schemas.microsoft.com/office/powerpoint/2010/main" val="79391983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2465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lgn="l" defTabSz="914354" rtl="0" eaLnBrk="1" latinLnBrk="0" hangingPunct="1">
        <a:lnSpc>
          <a:spcPct val="90000"/>
        </a:lnSpc>
        <a:spcBef>
          <a:spcPct val="0"/>
        </a:spcBef>
        <a:buNone/>
        <a:defRPr sz="4400" kern="1200">
          <a:solidFill>
            <a:schemeClr val="tx1"/>
          </a:solidFill>
          <a:latin typeface="Liberation Serif" panose="02020603050405020304" pitchFamily="18" charset="0"/>
          <a:ea typeface="+mj-ea"/>
          <a:cs typeface="+mj-cs"/>
        </a:defRPr>
      </a:lvl1pPr>
    </p:titleStyle>
    <p:bodyStyle>
      <a:lvl1pPr marL="0" indent="0" algn="l" defTabSz="914354" rtl="0" eaLnBrk="1" latinLnBrk="0" hangingPunct="1">
        <a:lnSpc>
          <a:spcPct val="90000"/>
        </a:lnSpc>
        <a:spcBef>
          <a:spcPts val="1001"/>
        </a:spcBef>
        <a:buFont typeface="Arial" panose="020B0604020202020204" pitchFamily="34" charset="0"/>
        <a:buNone/>
        <a:defRPr sz="2800" kern="1200">
          <a:solidFill>
            <a:schemeClr val="tx1"/>
          </a:solidFill>
          <a:latin typeface="Liberation Serif" panose="02020603050405020304" pitchFamily="18" charset="0"/>
          <a:ea typeface="+mn-ea"/>
          <a:cs typeface="+mn-cs"/>
        </a:defRPr>
      </a:lvl1pPr>
      <a:lvl2pPr marL="685767"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Liberation Serif" panose="02020603050405020304" pitchFamily="18" charset="0"/>
          <a:ea typeface="+mn-ea"/>
          <a:cs typeface="+mn-cs"/>
        </a:defRPr>
      </a:lvl2pPr>
      <a:lvl3pPr marL="1142943"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Liberation Serif" panose="02020603050405020304" pitchFamily="18" charset="0"/>
          <a:ea typeface="+mn-ea"/>
          <a:cs typeface="+mn-cs"/>
        </a:defRPr>
      </a:lvl3pPr>
      <a:lvl4pPr marL="1600121"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Liberation Serif" panose="02020603050405020304" pitchFamily="18" charset="0"/>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Liberation Serif" panose="02020603050405020304" pitchFamily="18" charset="0"/>
          <a:ea typeface="+mn-ea"/>
          <a:cs typeface="+mn-cs"/>
        </a:defRPr>
      </a:lvl5pPr>
      <a:lvl6pPr marL="2514476"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07"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de-DE"/>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87">
          <p15:clr>
            <a:srgbClr val="F26B43"/>
          </p15:clr>
        </p15:guide>
        <p15:guide id="5" orient="horz" pos="822">
          <p15:clr>
            <a:srgbClr val="F26B43"/>
          </p15:clr>
        </p15:guide>
        <p15:guide id="7" pos="393">
          <p15:clr>
            <a:srgbClr val="F26B43"/>
          </p15:clr>
        </p15:guide>
        <p15:guide id="8" orient="horz" pos="61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3E256E18-EC24-4500-BC3B-066D14936873}"/>
              </a:ext>
            </a:extLst>
          </p:cNvPr>
          <p:cNvSpPr>
            <a:spLocks noGrp="1"/>
          </p:cNvSpPr>
          <p:nvPr>
            <p:ph idx="1"/>
          </p:nvPr>
        </p:nvSpPr>
        <p:spPr>
          <a:xfrm>
            <a:off x="623888" y="1674295"/>
            <a:ext cx="10434639" cy="3314700"/>
          </a:xfrm>
        </p:spPr>
        <p:txBody>
          <a:bodyPr/>
          <a:lstStyle/>
          <a:p>
            <a:pPr>
              <a:lnSpc>
                <a:spcPct val="114000"/>
              </a:lnSpc>
            </a:pPr>
            <a:r>
              <a:rPr lang="en-US" sz="3000" dirty="0" err="1"/>
              <a:t>Für</a:t>
            </a:r>
            <a:r>
              <a:rPr lang="en-US" sz="3000" dirty="0"/>
              <a:t> </a:t>
            </a:r>
            <a:r>
              <a:rPr lang="en-US" sz="3000" dirty="0" err="1"/>
              <a:t>welche</a:t>
            </a:r>
            <a:r>
              <a:rPr lang="en-US" sz="3000" dirty="0"/>
              <a:t> </a:t>
            </a:r>
            <a:r>
              <a:rPr lang="en-US" sz="3000" dirty="0" err="1"/>
              <a:t>drei</a:t>
            </a:r>
            <a:r>
              <a:rPr lang="en-US" sz="3000" dirty="0"/>
              <a:t> Dinge </a:t>
            </a:r>
            <a:r>
              <a:rPr lang="en-US" sz="3000" dirty="0" err="1"/>
              <a:t>im</a:t>
            </a:r>
            <a:r>
              <a:rPr lang="en-US" sz="3000" dirty="0"/>
              <a:t> </a:t>
            </a:r>
            <a:r>
              <a:rPr lang="en-US" sz="3000" dirty="0" err="1"/>
              <a:t>Rahmen</a:t>
            </a:r>
            <a:r>
              <a:rPr lang="en-US" sz="3000" dirty="0"/>
              <a:t> der </a:t>
            </a:r>
            <a:r>
              <a:rPr lang="en-US" sz="3000" dirty="0" err="1"/>
              <a:t>heutigen</a:t>
            </a:r>
            <a:r>
              <a:rPr lang="en-US" sz="3000" dirty="0"/>
              <a:t> Veranstaltung </a:t>
            </a:r>
            <a:r>
              <a:rPr lang="en-US" sz="3000" dirty="0" err="1"/>
              <a:t>sind</a:t>
            </a:r>
            <a:r>
              <a:rPr lang="en-US" sz="3000" dirty="0"/>
              <a:t> Sie </a:t>
            </a:r>
            <a:r>
              <a:rPr lang="en-US" sz="3000" dirty="0" err="1"/>
              <a:t>dankbar</a:t>
            </a:r>
            <a:r>
              <a:rPr lang="en-US" sz="3000" dirty="0"/>
              <a:t>? Auf </a:t>
            </a:r>
            <a:r>
              <a:rPr lang="en-US" sz="3000" dirty="0" err="1"/>
              <a:t>welche</a:t>
            </a:r>
            <a:r>
              <a:rPr lang="en-US" sz="3000" dirty="0"/>
              <a:t> </a:t>
            </a:r>
            <a:r>
              <a:rPr lang="en-US" sz="3000" dirty="0" err="1"/>
              <a:t>drei</a:t>
            </a:r>
            <a:r>
              <a:rPr lang="en-US" sz="3000" dirty="0"/>
              <a:t> Dinge </a:t>
            </a:r>
            <a:r>
              <a:rPr lang="en-US" sz="3000" dirty="0" err="1"/>
              <a:t>blicken</a:t>
            </a:r>
            <a:r>
              <a:rPr lang="en-US" sz="3000" dirty="0"/>
              <a:t> Sie positive </a:t>
            </a:r>
            <a:r>
              <a:rPr lang="en-US" sz="3000" dirty="0" err="1"/>
              <a:t>zurück</a:t>
            </a:r>
            <a:r>
              <a:rPr lang="en-US" sz="3000" dirty="0"/>
              <a:t>?</a:t>
            </a:r>
            <a:br>
              <a:rPr lang="de-DE" dirty="0"/>
            </a:br>
            <a:r>
              <a:rPr lang="de-DE" b="0" dirty="0"/>
              <a:t>Dies können spezifische vermittelte Inhalte sein, bestimmte Methodiken oder </a:t>
            </a:r>
            <a:br>
              <a:rPr lang="de-DE" b="0" dirty="0"/>
            </a:br>
            <a:r>
              <a:rPr lang="de-DE" b="0" dirty="0"/>
              <a:t>kleine Momente zwischendurch. </a:t>
            </a:r>
            <a:endParaRPr lang="de-DE" sz="2600" b="0" dirty="0"/>
          </a:p>
        </p:txBody>
      </p:sp>
      <p:sp>
        <p:nvSpPr>
          <p:cNvPr id="3" name="Titel 2">
            <a:extLst>
              <a:ext uri="{FF2B5EF4-FFF2-40B4-BE49-F238E27FC236}">
                <a16:creationId xmlns:a16="http://schemas.microsoft.com/office/drawing/2014/main" id="{277ABF4A-BA07-4BF5-8A4B-5A35F94D84E0}"/>
              </a:ext>
            </a:extLst>
          </p:cNvPr>
          <p:cNvSpPr>
            <a:spLocks noGrp="1"/>
          </p:cNvSpPr>
          <p:nvPr>
            <p:ph type="title"/>
          </p:nvPr>
        </p:nvSpPr>
        <p:spPr/>
        <p:txBody>
          <a:bodyPr/>
          <a:lstStyle/>
          <a:p>
            <a:r>
              <a:rPr lang="de-DE" sz="4000" dirty="0" err="1"/>
              <a:t>Three</a:t>
            </a:r>
            <a:r>
              <a:rPr lang="de-DE" sz="4000" dirty="0"/>
              <a:t> </a:t>
            </a:r>
            <a:r>
              <a:rPr lang="de-DE" sz="4000" dirty="0" err="1"/>
              <a:t>Good</a:t>
            </a:r>
            <a:r>
              <a:rPr lang="de-DE" sz="4000" dirty="0"/>
              <a:t> Things</a:t>
            </a:r>
          </a:p>
        </p:txBody>
      </p:sp>
      <p:sp>
        <p:nvSpPr>
          <p:cNvPr id="6" name="Inhaltsplatzhalter 1">
            <a:extLst>
              <a:ext uri="{FF2B5EF4-FFF2-40B4-BE49-F238E27FC236}">
                <a16:creationId xmlns:a16="http://schemas.microsoft.com/office/drawing/2014/main" id="{E80842DD-469D-4C72-829E-EC740B7F2C8D}"/>
              </a:ext>
            </a:extLst>
          </p:cNvPr>
          <p:cNvSpPr txBox="1">
            <a:spLocks/>
          </p:cNvSpPr>
          <p:nvPr/>
        </p:nvSpPr>
        <p:spPr bwMode="auto">
          <a:xfrm>
            <a:off x="5084127" y="4738574"/>
            <a:ext cx="7228949" cy="1252755"/>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defTabSz="914354" rtl="0" eaLnBrk="1" latinLnBrk="0" hangingPunct="1">
              <a:lnSpc>
                <a:spcPct val="90000"/>
              </a:lnSpc>
              <a:spcBef>
                <a:spcPts val="1001"/>
              </a:spcBef>
              <a:buFont typeface="Arial" panose="020B0604020202020204" pitchFamily="34" charset="0"/>
              <a:buNone/>
              <a:tabLst>
                <a:tab pos="322498" algn="l"/>
                <a:tab pos="657954" algn="l"/>
                <a:tab pos="977572" algn="l"/>
                <a:tab pos="1301509" algn="l"/>
                <a:tab pos="1621128" algn="l"/>
                <a:tab pos="1959463" algn="l"/>
                <a:tab pos="2601579" algn="l"/>
                <a:tab pos="3259532" algn="l"/>
                <a:tab pos="3903088" algn="l"/>
                <a:tab pos="4561041" algn="l"/>
              </a:tabLst>
              <a:defRPr sz="2400" b="1" kern="1200">
                <a:solidFill>
                  <a:schemeClr val="tx1"/>
                </a:solidFill>
                <a:latin typeface="Liberation Serif" panose="02020603050405020304" pitchFamily="18" charset="0"/>
                <a:ea typeface="+mn-ea"/>
                <a:cs typeface="Liberation Serif" panose="02020603050405020304" pitchFamily="18" charset="0"/>
              </a:defRPr>
            </a:lvl1pPr>
            <a:lvl2pPr marL="0" indent="0" algn="l" defTabSz="914354" rtl="0" eaLnBrk="1" latinLnBrk="0" hangingPunct="1">
              <a:lnSpc>
                <a:spcPct val="90000"/>
              </a:lnSpc>
              <a:spcBef>
                <a:spcPts val="500"/>
              </a:spcBef>
              <a:buFont typeface="Arial" panose="020B0604020202020204" pitchFamily="34" charset="0"/>
              <a:buNone/>
              <a:tabLst>
                <a:tab pos="322498" algn="l"/>
                <a:tab pos="646436" algn="l"/>
                <a:tab pos="977572" algn="l"/>
                <a:tab pos="1304389" algn="l"/>
                <a:tab pos="1621128" algn="l"/>
                <a:tab pos="1955144"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2pPr>
            <a:lvl3pPr marL="0" indent="0" algn="l" defTabSz="407442" rtl="0" eaLnBrk="1" latinLnBrk="0" hangingPunct="1">
              <a:lnSpc>
                <a:spcPct val="90000"/>
              </a:lnSpc>
              <a:spcBef>
                <a:spcPts val="500"/>
              </a:spcBef>
              <a:buFont typeface="Arial" panose="020B0604020202020204" pitchFamily="34" charset="0"/>
              <a:buNone/>
              <a:tabLst>
                <a:tab pos="322498" algn="l"/>
                <a:tab pos="646436" algn="l"/>
                <a:tab pos="977572" algn="l"/>
                <a:tab pos="1304389" algn="l"/>
                <a:tab pos="1621128" algn="l"/>
                <a:tab pos="1950825"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3pPr>
            <a:lvl4pPr marL="322498" indent="-322498" algn="l" defTabSz="914354" rtl="0" eaLnBrk="1" latinLnBrk="0" hangingPunct="1">
              <a:lnSpc>
                <a:spcPct val="90000"/>
              </a:lnSpc>
              <a:spcBef>
                <a:spcPts val="500"/>
              </a:spcBef>
              <a:buFont typeface="+mj-lt"/>
              <a:buNone/>
              <a:tabLst>
                <a:tab pos="646436" algn="l"/>
                <a:tab pos="977572" algn="l"/>
                <a:tab pos="1304389" algn="l"/>
                <a:tab pos="1621128" algn="l"/>
                <a:tab pos="1950825"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4pPr>
            <a:lvl5pPr marL="322498" indent="-322498" algn="l" defTabSz="914354" rtl="0" eaLnBrk="1" latinLnBrk="0" hangingPunct="1">
              <a:lnSpc>
                <a:spcPct val="90000"/>
              </a:lnSpc>
              <a:spcBef>
                <a:spcPts val="500"/>
              </a:spcBef>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5pPr>
            <a:lvl6pPr marL="2514476"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07"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001"/>
              </a:spcBef>
              <a:spcAft>
                <a:spcPts val="0"/>
              </a:spcAft>
              <a:buClrTx/>
              <a:buSzTx/>
              <a:buFont typeface="Arial" panose="020B0604020202020204" pitchFamily="34" charset="0"/>
              <a:buNone/>
              <a:tabLst>
                <a:tab pos="322498" algn="l"/>
                <a:tab pos="657954" algn="l"/>
                <a:tab pos="977572" algn="l"/>
                <a:tab pos="1301509" algn="l"/>
                <a:tab pos="1621128" algn="l"/>
                <a:tab pos="1959463" algn="l"/>
                <a:tab pos="2601579" algn="l"/>
                <a:tab pos="3259532" algn="l"/>
                <a:tab pos="3903088" algn="l"/>
                <a:tab pos="4561041" algn="l"/>
              </a:tabLst>
              <a:defRPr/>
            </a:pPr>
            <a:r>
              <a:rPr kumimoji="0" lang="de-DE" b="0" i="0" u="none" strike="noStrike" kern="1200" cap="none" spc="0" normalizeH="0" baseline="0" noProof="0" dirty="0">
                <a:ln>
                  <a:noFill/>
                </a:ln>
                <a:solidFill>
                  <a:srgbClr val="000000"/>
                </a:solidFill>
                <a:effectLst/>
                <a:uLnTx/>
                <a:uFillTx/>
                <a:latin typeface="Liberation Serif" panose="02020603050405020304" pitchFamily="18" charset="0"/>
                <a:ea typeface="+mn-ea"/>
              </a:rPr>
              <a:t>Gehen Sie auf </a:t>
            </a:r>
            <a:r>
              <a:rPr kumimoji="0" lang="de-DE" b="1" i="0" u="none" strike="noStrike" kern="1200" cap="none" spc="0" normalizeH="0" baseline="0" noProof="0" dirty="0">
                <a:ln>
                  <a:noFill/>
                </a:ln>
                <a:solidFill>
                  <a:srgbClr val="000000"/>
                </a:solidFill>
                <a:effectLst/>
                <a:uLnTx/>
                <a:uFillTx/>
                <a:latin typeface="Liberation Serif" panose="02020603050405020304" pitchFamily="18" charset="0"/>
                <a:ea typeface="+mn-ea"/>
              </a:rPr>
              <a:t>wooclap.com/de </a:t>
            </a:r>
            <a:r>
              <a:rPr kumimoji="0" lang="de-DE" b="0" i="0" u="none" strike="noStrike" kern="1200" cap="none" spc="0" normalizeH="0" baseline="0" noProof="0" dirty="0">
                <a:ln>
                  <a:noFill/>
                </a:ln>
                <a:solidFill>
                  <a:srgbClr val="000000"/>
                </a:solidFill>
                <a:effectLst/>
                <a:uLnTx/>
                <a:uFillTx/>
                <a:latin typeface="Liberation Serif" panose="02020603050405020304" pitchFamily="18" charset="0"/>
                <a:ea typeface="+mn-ea"/>
              </a:rPr>
              <a:t>und geben Sie </a:t>
            </a:r>
            <a:br>
              <a:rPr kumimoji="0" lang="de-DE" b="0" i="0" u="none" strike="noStrike" kern="1200" cap="none" spc="0" normalizeH="0" baseline="0" noProof="0" dirty="0">
                <a:ln>
                  <a:noFill/>
                </a:ln>
                <a:solidFill>
                  <a:srgbClr val="000000"/>
                </a:solidFill>
                <a:effectLst/>
                <a:uLnTx/>
                <a:uFillTx/>
                <a:latin typeface="Liberation Serif" panose="02020603050405020304" pitchFamily="18" charset="0"/>
                <a:ea typeface="+mn-ea"/>
              </a:rPr>
            </a:br>
            <a:r>
              <a:rPr kumimoji="0" lang="de-DE" b="0" i="0" u="none" strike="noStrike" kern="1200" cap="none" spc="0" normalizeH="0" baseline="0" noProof="0" dirty="0">
                <a:ln>
                  <a:noFill/>
                </a:ln>
                <a:solidFill>
                  <a:srgbClr val="000000"/>
                </a:solidFill>
                <a:effectLst/>
                <a:uLnTx/>
                <a:uFillTx/>
                <a:latin typeface="Liberation Serif" panose="02020603050405020304" pitchFamily="18" charset="0"/>
                <a:ea typeface="+mn-ea"/>
              </a:rPr>
              <a:t>den Code ein, der gleich mit Ihnen geteilt wird.</a:t>
            </a:r>
            <a:br>
              <a:rPr kumimoji="0" lang="de-DE" b="0" i="0" u="none" strike="noStrike" kern="1200" cap="none" spc="0" normalizeH="0" baseline="0" noProof="0" dirty="0">
                <a:ln>
                  <a:noFill/>
                </a:ln>
                <a:solidFill>
                  <a:srgbClr val="000000"/>
                </a:solidFill>
                <a:effectLst/>
                <a:uLnTx/>
                <a:uFillTx/>
                <a:latin typeface="Liberation Serif" panose="02020603050405020304" pitchFamily="18" charset="0"/>
                <a:ea typeface="+mn-ea"/>
              </a:rPr>
            </a:br>
            <a:r>
              <a:rPr kumimoji="0" lang="de-DE" b="0" i="0" u="none" strike="noStrike" kern="1200" cap="none" spc="0" normalizeH="0" baseline="0" noProof="0" dirty="0">
                <a:ln>
                  <a:noFill/>
                </a:ln>
                <a:solidFill>
                  <a:srgbClr val="000000"/>
                </a:solidFill>
                <a:effectLst/>
                <a:uLnTx/>
                <a:uFillTx/>
                <a:latin typeface="Liberation Serif" panose="02020603050405020304" pitchFamily="18" charset="0"/>
                <a:ea typeface="+mn-ea"/>
              </a:rPr>
              <a:t>						</a:t>
            </a:r>
            <a:br>
              <a:rPr kumimoji="0" lang="de-DE" b="0" i="0" u="none" strike="noStrike" kern="1200" cap="none" spc="0" normalizeH="0" baseline="0" noProof="0" dirty="0">
                <a:ln>
                  <a:noFill/>
                </a:ln>
                <a:solidFill>
                  <a:srgbClr val="000000"/>
                </a:solidFill>
                <a:effectLst/>
                <a:uLnTx/>
                <a:uFillTx/>
                <a:latin typeface="Liberation Serif" panose="02020603050405020304" pitchFamily="18" charset="0"/>
                <a:ea typeface="+mn-ea"/>
              </a:rPr>
            </a:br>
            <a:r>
              <a:rPr kumimoji="0" lang="de-DE" b="0" i="0" u="none" strike="noStrike" kern="1200" cap="none" spc="0" normalizeH="0" baseline="0" noProof="0" dirty="0">
                <a:ln>
                  <a:noFill/>
                </a:ln>
                <a:solidFill>
                  <a:srgbClr val="000000"/>
                </a:solidFill>
                <a:effectLst/>
                <a:uLnTx/>
                <a:uFillTx/>
                <a:latin typeface="Liberation Serif" panose="02020603050405020304" pitchFamily="18" charset="0"/>
                <a:ea typeface="+mn-ea"/>
              </a:rPr>
              <a:t>							</a:t>
            </a:r>
          </a:p>
        </p:txBody>
      </p:sp>
      <p:pic>
        <p:nvPicPr>
          <p:cNvPr id="1026" name="Picture 2" descr="Erstellen Sie interaktive Präsentationen mit Wooclap">
            <a:extLst>
              <a:ext uri="{FF2B5EF4-FFF2-40B4-BE49-F238E27FC236}">
                <a16:creationId xmlns:a16="http://schemas.microsoft.com/office/drawing/2014/main" id="{51818588-95F9-4894-86D4-6D52F793F5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403"/>
          <a:stretch/>
        </p:blipFill>
        <p:spPr bwMode="auto">
          <a:xfrm>
            <a:off x="1605733" y="4793186"/>
            <a:ext cx="3227316" cy="177714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Cours : WOOCLAP">
            <a:extLst>
              <a:ext uri="{FF2B5EF4-FFF2-40B4-BE49-F238E27FC236}">
                <a16:creationId xmlns:a16="http://schemas.microsoft.com/office/drawing/2014/main" id="{CFADF4A0-353A-4B99-BB6A-88A001403B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3028" y="4485260"/>
            <a:ext cx="2504661" cy="74618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1E5056D0-F453-4081-9C9E-C23ED58F61B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11084308" y="6216870"/>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Grafik 9">
            <a:extLst>
              <a:ext uri="{FF2B5EF4-FFF2-40B4-BE49-F238E27FC236}">
                <a16:creationId xmlns:a16="http://schemas.microsoft.com/office/drawing/2014/main" id="{C81E541E-468E-4A68-9E28-FAD354E181C8}"/>
              </a:ext>
            </a:extLst>
          </p:cNvPr>
          <p:cNvPicPr>
            <a:picLocks noChangeAspect="1"/>
          </p:cNvPicPr>
          <p:nvPr/>
        </p:nvPicPr>
        <p:blipFill>
          <a:blip r:embed="rId6"/>
          <a:stretch>
            <a:fillRect/>
          </a:stretch>
        </p:blipFill>
        <p:spPr>
          <a:xfrm>
            <a:off x="10292297" y="6168287"/>
            <a:ext cx="610328" cy="626204"/>
          </a:xfrm>
          <a:prstGeom prst="rect">
            <a:avLst/>
          </a:prstGeom>
        </p:spPr>
      </p:pic>
      <p:pic>
        <p:nvPicPr>
          <p:cNvPr id="11" name="Grafik 10">
            <a:extLst>
              <a:ext uri="{FF2B5EF4-FFF2-40B4-BE49-F238E27FC236}">
                <a16:creationId xmlns:a16="http://schemas.microsoft.com/office/drawing/2014/main" id="{AD39C9A0-B06C-41D5-9743-60B17160203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902625" y="153118"/>
            <a:ext cx="1020035" cy="1022585"/>
          </a:xfrm>
          <a:prstGeom prst="rect">
            <a:avLst/>
          </a:prstGeom>
        </p:spPr>
      </p:pic>
      <p:sp>
        <p:nvSpPr>
          <p:cNvPr id="12" name="Textfeld 11">
            <a:extLst>
              <a:ext uri="{FF2B5EF4-FFF2-40B4-BE49-F238E27FC236}">
                <a16:creationId xmlns:a16="http://schemas.microsoft.com/office/drawing/2014/main" id="{25CA7F8D-E663-4A16-8881-6F03691382E6}"/>
              </a:ext>
            </a:extLst>
          </p:cNvPr>
          <p:cNvSpPr txBox="1"/>
          <p:nvPr/>
        </p:nvSpPr>
        <p:spPr>
          <a:xfrm>
            <a:off x="533936" y="6378130"/>
            <a:ext cx="9894586" cy="338554"/>
          </a:xfrm>
          <a:prstGeom prst="rect">
            <a:avLst/>
          </a:prstGeom>
          <a:noFill/>
        </p:spPr>
        <p:txBody>
          <a:bodyPr wrap="square">
            <a:spAutoFit/>
          </a:bodyPr>
          <a:lstStyle/>
          <a:p>
            <a:pPr marL="0" marR="0" indent="0">
              <a:buNone/>
            </a:pPr>
            <a:r>
              <a:rPr lang="de-DE" sz="800" b="0" i="0" dirty="0">
                <a:effectLst/>
                <a:latin typeface="Segoe UI" panose="020B0502040204020203" pitchFamily="34" charset="0"/>
              </a:rPr>
              <a:t>Dieses Material wurde im Rahmen des Projekts Happy Kit erarbeitet. </a:t>
            </a:r>
          </a:p>
          <a:p>
            <a:pPr marL="0" marR="0" indent="0">
              <a:buNone/>
            </a:pPr>
            <a:r>
              <a:rPr lang="de-DE" sz="800" b="0" i="0" dirty="0">
                <a:effectLst/>
                <a:latin typeface="Segoe UI" panose="020B0502040204020203" pitchFamily="34" charset="0"/>
              </a:rPr>
              <a:t>Das Projekt wurde von Oktober 2024 bis Oktober 2026 durch interne Qualitätsverbesserungsmittel für Studium und Lehre der Hochschule Ruhr West gefördert.</a:t>
            </a:r>
          </a:p>
        </p:txBody>
      </p:sp>
    </p:spTree>
    <p:extLst>
      <p:ext uri="{BB962C8B-B14F-4D97-AF65-F5344CB8AC3E}">
        <p14:creationId xmlns:p14="http://schemas.microsoft.com/office/powerpoint/2010/main" val="3636354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277ABF4A-BA07-4BF5-8A4B-5A35F94D84E0}"/>
              </a:ext>
            </a:extLst>
          </p:cNvPr>
          <p:cNvSpPr>
            <a:spLocks noGrp="1"/>
          </p:cNvSpPr>
          <p:nvPr>
            <p:ph type="title"/>
          </p:nvPr>
        </p:nvSpPr>
        <p:spPr/>
        <p:txBody>
          <a:bodyPr/>
          <a:lstStyle/>
          <a:p>
            <a:r>
              <a:rPr lang="de-DE" sz="4000" dirty="0" err="1"/>
              <a:t>Three</a:t>
            </a:r>
            <a:r>
              <a:rPr lang="de-DE" sz="4000" dirty="0"/>
              <a:t> </a:t>
            </a:r>
            <a:r>
              <a:rPr lang="de-DE" sz="4000" dirty="0" err="1"/>
              <a:t>Good</a:t>
            </a:r>
            <a:r>
              <a:rPr lang="de-DE" sz="4000" dirty="0"/>
              <a:t> Things</a:t>
            </a:r>
          </a:p>
        </p:txBody>
      </p:sp>
      <p:pic>
        <p:nvPicPr>
          <p:cNvPr id="9" name="Picture 2">
            <a:extLst>
              <a:ext uri="{FF2B5EF4-FFF2-40B4-BE49-F238E27FC236}">
                <a16:creationId xmlns:a16="http://schemas.microsoft.com/office/drawing/2014/main" id="{1E5056D0-F453-4081-9C9E-C23ED58F61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1084308" y="6216870"/>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Grafik 9">
            <a:extLst>
              <a:ext uri="{FF2B5EF4-FFF2-40B4-BE49-F238E27FC236}">
                <a16:creationId xmlns:a16="http://schemas.microsoft.com/office/drawing/2014/main" id="{C81E541E-468E-4A68-9E28-FAD354E181C8}"/>
              </a:ext>
            </a:extLst>
          </p:cNvPr>
          <p:cNvPicPr>
            <a:picLocks noChangeAspect="1"/>
          </p:cNvPicPr>
          <p:nvPr/>
        </p:nvPicPr>
        <p:blipFill>
          <a:blip r:embed="rId4"/>
          <a:stretch>
            <a:fillRect/>
          </a:stretch>
        </p:blipFill>
        <p:spPr>
          <a:xfrm>
            <a:off x="10292297" y="6168287"/>
            <a:ext cx="610328" cy="626204"/>
          </a:xfrm>
          <a:prstGeom prst="rect">
            <a:avLst/>
          </a:prstGeom>
        </p:spPr>
      </p:pic>
      <p:sp>
        <p:nvSpPr>
          <p:cNvPr id="12" name="Inhaltsplatzhalter 1">
            <a:extLst>
              <a:ext uri="{FF2B5EF4-FFF2-40B4-BE49-F238E27FC236}">
                <a16:creationId xmlns:a16="http://schemas.microsoft.com/office/drawing/2014/main" id="{8CACFC6F-0FDD-44A2-A2C5-BA4358D2F7F8}"/>
              </a:ext>
            </a:extLst>
          </p:cNvPr>
          <p:cNvSpPr>
            <a:spLocks noGrp="1"/>
          </p:cNvSpPr>
          <p:nvPr>
            <p:ph idx="1"/>
          </p:nvPr>
        </p:nvSpPr>
        <p:spPr>
          <a:xfrm>
            <a:off x="623888" y="1674295"/>
            <a:ext cx="10434639" cy="3314700"/>
          </a:xfrm>
        </p:spPr>
        <p:txBody>
          <a:bodyPr/>
          <a:lstStyle/>
          <a:p>
            <a:pPr>
              <a:lnSpc>
                <a:spcPct val="114000"/>
              </a:lnSpc>
            </a:pPr>
            <a:r>
              <a:rPr lang="de-DE" sz="3000" dirty="0"/>
              <a:t>Ihre Antworten auf </a:t>
            </a:r>
            <a:r>
              <a:rPr lang="de-DE" sz="3000" dirty="0" err="1"/>
              <a:t>Wooclap</a:t>
            </a:r>
            <a:r>
              <a:rPr lang="de-DE" sz="3000" dirty="0"/>
              <a:t>:</a:t>
            </a:r>
            <a:endParaRPr lang="de-DE" b="0" dirty="0"/>
          </a:p>
        </p:txBody>
      </p:sp>
      <p:pic>
        <p:nvPicPr>
          <p:cNvPr id="8" name="Grafik 7">
            <a:extLst>
              <a:ext uri="{FF2B5EF4-FFF2-40B4-BE49-F238E27FC236}">
                <a16:creationId xmlns:a16="http://schemas.microsoft.com/office/drawing/2014/main" id="{4DC1C9D1-2C84-44B9-A128-5A227E2802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02625" y="153118"/>
            <a:ext cx="1020035" cy="1022585"/>
          </a:xfrm>
          <a:prstGeom prst="rect">
            <a:avLst/>
          </a:prstGeom>
        </p:spPr>
      </p:pic>
      <p:sp>
        <p:nvSpPr>
          <p:cNvPr id="7" name="Textfeld 6">
            <a:extLst>
              <a:ext uri="{FF2B5EF4-FFF2-40B4-BE49-F238E27FC236}">
                <a16:creationId xmlns:a16="http://schemas.microsoft.com/office/drawing/2014/main" id="{E0C42177-9244-4EDC-A750-81AD7955D438}"/>
              </a:ext>
            </a:extLst>
          </p:cNvPr>
          <p:cNvSpPr txBox="1"/>
          <p:nvPr/>
        </p:nvSpPr>
        <p:spPr>
          <a:xfrm>
            <a:off x="533936" y="6378130"/>
            <a:ext cx="9894586" cy="338554"/>
          </a:xfrm>
          <a:prstGeom prst="rect">
            <a:avLst/>
          </a:prstGeom>
          <a:noFill/>
        </p:spPr>
        <p:txBody>
          <a:bodyPr wrap="square">
            <a:spAutoFit/>
          </a:bodyPr>
          <a:lstStyle/>
          <a:p>
            <a:pPr marL="0" marR="0" indent="0">
              <a:buNone/>
            </a:pPr>
            <a:r>
              <a:rPr lang="de-DE" sz="800" b="0" i="0" dirty="0">
                <a:effectLst/>
                <a:latin typeface="Segoe UI" panose="020B0502040204020203" pitchFamily="34" charset="0"/>
              </a:rPr>
              <a:t>Dieses Material wurde im Rahmen des Projekts Happy Kit erarbeitet. </a:t>
            </a:r>
          </a:p>
          <a:p>
            <a:pPr marL="0" marR="0" indent="0">
              <a:buNone/>
            </a:pPr>
            <a:r>
              <a:rPr lang="de-DE" sz="800" b="0" i="0" dirty="0">
                <a:effectLst/>
                <a:latin typeface="Segoe UI" panose="020B0502040204020203" pitchFamily="34" charset="0"/>
              </a:rPr>
              <a:t>Das Projekt wurde von Oktober 2024 bis Oktober 2026 durch interne Qualitätsverbesserungsmittel für Studium und Lehre der Hochschule Ruhr West gefördert.</a:t>
            </a:r>
          </a:p>
        </p:txBody>
      </p:sp>
    </p:spTree>
    <p:extLst>
      <p:ext uri="{BB962C8B-B14F-4D97-AF65-F5344CB8AC3E}">
        <p14:creationId xmlns:p14="http://schemas.microsoft.com/office/powerpoint/2010/main" val="3978148342"/>
      </p:ext>
    </p:extLst>
  </p:cSld>
  <p:clrMapOvr>
    <a:masterClrMapping/>
  </p:clrMapOvr>
</p:sld>
</file>

<file path=ppt/theme/theme1.xml><?xml version="1.0" encoding="utf-8"?>
<a:theme xmlns:a="http://schemas.openxmlformats.org/drawingml/2006/main" name="1_Office">
  <a:themeElements>
    <a:clrScheme name="Benutzerdefiniert 1">
      <a:dk1>
        <a:srgbClr val="000000"/>
      </a:dk1>
      <a:lt1>
        <a:srgbClr val="FFFFFF"/>
      </a:lt1>
      <a:dk2>
        <a:srgbClr val="00A2D9"/>
      </a:dk2>
      <a:lt2>
        <a:srgbClr val="EEECE1"/>
      </a:lt2>
      <a:accent1>
        <a:srgbClr val="00A3DA"/>
      </a:accent1>
      <a:accent2>
        <a:srgbClr val="006B8E"/>
      </a:accent2>
      <a:accent3>
        <a:srgbClr val="4C4D4C"/>
      </a:accent3>
      <a:accent4>
        <a:srgbClr val="767776"/>
      </a:accent4>
      <a:accent5>
        <a:srgbClr val="767776"/>
      </a:accent5>
      <a:accent6>
        <a:srgbClr val="00AFDD"/>
      </a:accent6>
      <a:hlink>
        <a:srgbClr val="006B8E"/>
      </a:hlink>
      <a:folHlink>
        <a:srgbClr val="00516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9-06-06_HRW Powerpoint Master" id="{04377A4D-9DE6-EE41-8781-0E189CB9E1B1}" vid="{5CFA870C-B1ED-834E-B24B-41185ED9A9A9}"/>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330</Words>
  <Application>Microsoft Office PowerPoint</Application>
  <PresentationFormat>Breitbild</PresentationFormat>
  <Paragraphs>16</Paragraphs>
  <Slides>2</Slides>
  <Notes>2</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vt:i4>
      </vt:variant>
    </vt:vector>
  </HeadingPairs>
  <TitlesOfParts>
    <vt:vector size="7" baseType="lpstr">
      <vt:lpstr>Arial</vt:lpstr>
      <vt:lpstr>Calibri</vt:lpstr>
      <vt:lpstr>Liberation Serif</vt:lpstr>
      <vt:lpstr>Segoe UI</vt:lpstr>
      <vt:lpstr>1_Office</vt:lpstr>
      <vt:lpstr>Three Good Things</vt:lpstr>
      <vt:lpstr>Three Good Things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Positive Takeaway</dc:title>
  <dc:creator>Graf, Maike</dc:creator>
  <cp:lastModifiedBy>Graf, Maike</cp:lastModifiedBy>
  <cp:revision>11</cp:revision>
  <dcterms:created xsi:type="dcterms:W3CDTF">2025-04-03T10:23:37Z</dcterms:created>
  <dcterms:modified xsi:type="dcterms:W3CDTF">2026-08-27T08:36:45Z</dcterms:modified>
</cp:coreProperties>
</file>