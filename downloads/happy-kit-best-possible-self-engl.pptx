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368" r:id="rId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052" autoAdjust="0"/>
  </p:normalViewPr>
  <p:slideViewPr>
    <p:cSldViewPr snapToGrid="0">
      <p:cViewPr varScale="1">
        <p:scale>
          <a:sx n="51" d="100"/>
          <a:sy n="51" d="100"/>
        </p:scale>
        <p:origin x="12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158BA-E91D-407B-ACB7-59D63F67D087}" type="datetimeFigureOut">
              <a:rPr lang="de-DE" smtClean="0"/>
              <a:t>02.09.2026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F92C9-B6FC-4C59-9B54-8192BC6798B5}" type="slidenum">
              <a:rPr lang="de-DE" smtClean="0"/>
              <a:t>‹Nr.›</a:t>
            </a:fld>
            <a:endParaRPr lang="de-DE"/>
          </a:p>
        </p:txBody>
      </p:sp>
    </p:spTree>
    <p:extLst>
      <p:ext uri="{BB962C8B-B14F-4D97-AF65-F5344CB8AC3E}">
        <p14:creationId xmlns:p14="http://schemas.microsoft.com/office/powerpoint/2010/main" val="384266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“I would like to go through another tool from the Happy Kit with you. Today, we will be doing the ”Best Possible Self" exercise, which will take about 15 minutes. This is a reflection task that you will do individually and do not need to share with anyone. The exercise is divided into three parts: In the first part, you create a positive vision of the future for yourself and imagine how everything will have gone well at the end of your studies. You can use the prompt questions in the reflection portfolio for this. Roughly speaking, think about what you are like, what you have achieved, what skills/knowledge you have acquired if your studies are going ideally, and perhaps also what your ideal professional future looks like.</a:t>
            </a:r>
          </a:p>
          <a:p>
            <a:pPr>
              <a:buFont typeface="Arial" panose="020B0604020202020204" pitchFamily="34" charse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the second part, consider how the content of this course will help you achieve your ideal vision of the future or how the course content can be applied to your vision of the future. What do you need to achieve your ideal vision of the future? Which content is particularly relevant to you?</a:t>
            </a:r>
          </a:p>
          <a:p>
            <a:pPr>
              <a:buFont typeface="Arial" panose="020B0604020202020204" pitchFamily="34" charse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the third part, formulate concrete steps in relation to your vision for the future and how you can get closer to it. Which course content do you want to focus on in particular? How do you want to learn throughout the semester in order to achieve the desired skills at the end?</a:t>
            </a:r>
          </a:p>
          <a:p>
            <a:pPr>
              <a:buFont typeface="Arial" panose="020B0604020202020204" pitchFamily="34" charse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will now find the reflection portfolio in our Moodle course, which you can download and fill out. Have fun!</a:t>
            </a: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15133296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bg1"/>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2F209691-7882-4238-801F-B63FAA938076}"/>
              </a:ext>
            </a:extLst>
          </p:cNvPr>
          <p:cNvSpPr/>
          <p:nvPr userDrawn="1"/>
        </p:nvSpPr>
        <p:spPr>
          <a:xfrm>
            <a:off x="0" y="1172225"/>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pic>
        <p:nvPicPr>
          <p:cNvPr id="16" name="HRW_Logo_transparent.png">
            <a:extLst>
              <a:ext uri="{FF2B5EF4-FFF2-40B4-BE49-F238E27FC236}">
                <a16:creationId xmlns:a16="http://schemas.microsoft.com/office/drawing/2014/main" id="{251BAA7E-DF9D-401E-A509-46C3FA0949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504" y="-5965"/>
            <a:ext cx="2592288" cy="1150806"/>
          </a:xfrm>
          <a:prstGeom prst="rect">
            <a:avLst/>
          </a:prstGeom>
        </p:spPr>
      </p:pic>
      <p:pic>
        <p:nvPicPr>
          <p:cNvPr id="17" name="Bild 2">
            <a:extLst>
              <a:ext uri="{FF2B5EF4-FFF2-40B4-BE49-F238E27FC236}">
                <a16:creationId xmlns:a16="http://schemas.microsoft.com/office/drawing/2014/main" id="{F6FF9EDF-5F71-4DEB-974B-C8BF78CAB9FA}"/>
              </a:ext>
            </a:extLst>
          </p:cNvPr>
          <p:cNvPicPr>
            <a:picLocks noChangeAspect="1"/>
          </p:cNvPicPr>
          <p:nvPr userDrawn="1"/>
        </p:nvPicPr>
        <p:blipFill>
          <a:blip r:embed="rId3"/>
          <a:stretch>
            <a:fillRect/>
          </a:stretch>
        </p:blipFill>
        <p:spPr>
          <a:xfrm>
            <a:off x="9552384" y="-27384"/>
            <a:ext cx="2015208" cy="318982"/>
          </a:xfrm>
          <a:prstGeom prst="rect">
            <a:avLst/>
          </a:prstGeom>
        </p:spPr>
      </p:pic>
      <p:sp>
        <p:nvSpPr>
          <p:cNvPr id="18" name="Titel 1">
            <a:extLst>
              <a:ext uri="{FF2B5EF4-FFF2-40B4-BE49-F238E27FC236}">
                <a16:creationId xmlns:a16="http://schemas.microsoft.com/office/drawing/2014/main" id="{4D750284-B646-407C-B6B0-35BD96F7D486}"/>
              </a:ext>
            </a:extLst>
          </p:cNvPr>
          <p:cNvSpPr>
            <a:spLocks noGrp="1"/>
          </p:cNvSpPr>
          <p:nvPr>
            <p:ph type="ctrTitle" hasCustomPrompt="1"/>
          </p:nvPr>
        </p:nvSpPr>
        <p:spPr>
          <a:xfrm>
            <a:off x="623392" y="1412777"/>
            <a:ext cx="10944721" cy="612692"/>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Titelmasterformat durch Klicken bearbeiten</a:t>
            </a:r>
          </a:p>
        </p:txBody>
      </p:sp>
      <p:sp>
        <p:nvSpPr>
          <p:cNvPr id="20" name="Untertitel 2">
            <a:extLst>
              <a:ext uri="{FF2B5EF4-FFF2-40B4-BE49-F238E27FC236}">
                <a16:creationId xmlns:a16="http://schemas.microsoft.com/office/drawing/2014/main" id="{643E9BF6-7747-4652-AD2E-2DECF8D0135C}"/>
              </a:ext>
            </a:extLst>
          </p:cNvPr>
          <p:cNvSpPr>
            <a:spLocks noGrp="1"/>
          </p:cNvSpPr>
          <p:nvPr>
            <p:ph type="subTitle" idx="1" hasCustomPrompt="1"/>
          </p:nvPr>
        </p:nvSpPr>
        <p:spPr>
          <a:xfrm>
            <a:off x="623393" y="2099447"/>
            <a:ext cx="10944200" cy="538498"/>
          </a:xfrm>
          <a:prstGeom prst="rect">
            <a:avLst/>
          </a:prstGeom>
        </p:spPr>
        <p:txBody>
          <a:bodyPr>
            <a:noAutofit/>
          </a:bodyPr>
          <a:lstStyle>
            <a:lvl1pPr marL="0" indent="0" algn="l">
              <a:buNone/>
              <a:defRPr sz="2800">
                <a:solidFill>
                  <a:schemeClr val="bg1"/>
                </a:solidFill>
                <a:latin typeface="Liberation Serif" pitchFamily="18"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de-DE" dirty="0"/>
              <a:t>Formatvorlage des Untertitelmasters durch Klicken bearbeiten</a:t>
            </a:r>
          </a:p>
        </p:txBody>
      </p:sp>
      <p:sp>
        <p:nvSpPr>
          <p:cNvPr id="21" name="Inhaltsplatzhalter 18">
            <a:extLst>
              <a:ext uri="{FF2B5EF4-FFF2-40B4-BE49-F238E27FC236}">
                <a16:creationId xmlns:a16="http://schemas.microsoft.com/office/drawing/2014/main" id="{0AFA74AB-D6FF-41EA-A6B1-3CA8CABE7881}"/>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pic>
        <p:nvPicPr>
          <p:cNvPr id="22" name="Grafik 21">
            <a:extLst>
              <a:ext uri="{FF2B5EF4-FFF2-40B4-BE49-F238E27FC236}">
                <a16:creationId xmlns:a16="http://schemas.microsoft.com/office/drawing/2014/main" id="{A1FD8DD9-AF25-4C65-ADCD-63CDAF5EF26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Tree>
    <p:extLst>
      <p:ext uri="{BB962C8B-B14F-4D97-AF65-F5344CB8AC3E}">
        <p14:creationId xmlns:p14="http://schemas.microsoft.com/office/powerpoint/2010/main" val="255927117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Textplatzhalter 2">
            <a:extLst>
              <a:ext uri="{FF2B5EF4-FFF2-40B4-BE49-F238E27FC236}">
                <a16:creationId xmlns:a16="http://schemas.microsoft.com/office/drawing/2014/main" id="{506B2031-0944-472D-9758-0DCDA86D1772}"/>
              </a:ext>
            </a:extLst>
          </p:cNvPr>
          <p:cNvSpPr>
            <a:spLocks noGrp="1"/>
          </p:cNvSpPr>
          <p:nvPr>
            <p:ph idx="1" hasCustomPrompt="1"/>
          </p:nvPr>
        </p:nvSpPr>
        <p:spPr bwMode="auto">
          <a:xfrm>
            <a:off x="623886" y="1685924"/>
            <a:ext cx="10943704" cy="4181553"/>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2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itelplatzhalter 1">
            <a:extLst>
              <a:ext uri="{FF2B5EF4-FFF2-40B4-BE49-F238E27FC236}">
                <a16:creationId xmlns:a16="http://schemas.microsoft.com/office/drawing/2014/main" id="{38CB67B9-68E6-4B38-8C0A-390C5C83192D}"/>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3600" b="1">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
        <p:nvSpPr>
          <p:cNvPr id="8" name="Textfeld 7">
            <a:extLst>
              <a:ext uri="{FF2B5EF4-FFF2-40B4-BE49-F238E27FC236}">
                <a16:creationId xmlns:a16="http://schemas.microsoft.com/office/drawing/2014/main" id="{AD61DBF0-A9A3-4214-AACB-BFA17C8796B6}"/>
              </a:ext>
            </a:extLst>
          </p:cNvPr>
          <p:cNvSpPr txBox="1"/>
          <p:nvPr userDrawn="1"/>
        </p:nvSpPr>
        <p:spPr>
          <a:xfrm>
            <a:off x="10494069" y="6349346"/>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Tree>
    <p:extLst>
      <p:ext uri="{BB962C8B-B14F-4D97-AF65-F5344CB8AC3E}">
        <p14:creationId xmlns:p14="http://schemas.microsoft.com/office/powerpoint/2010/main" val="45100935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4C57E92-D1F3-45D1-9948-450440153DE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1140116" y="6009914"/>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feld 4">
            <a:extLst>
              <a:ext uri="{FF2B5EF4-FFF2-40B4-BE49-F238E27FC236}">
                <a16:creationId xmlns:a16="http://schemas.microsoft.com/office/drawing/2014/main" id="{487D9650-9A7A-4B37-8FFC-2B4B6FD27DC6}"/>
              </a:ext>
            </a:extLst>
          </p:cNvPr>
          <p:cNvSpPr txBox="1"/>
          <p:nvPr userDrawn="1"/>
        </p:nvSpPr>
        <p:spPr>
          <a:xfrm>
            <a:off x="10494069" y="6140394"/>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3566966594"/>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770161381"/>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luss">
    <p:bg>
      <p:bgPr>
        <a:solidFill>
          <a:schemeClr val="bg1"/>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B911F3F6-CFAF-4712-99FF-0821A3CDF40F}"/>
              </a:ext>
            </a:extLst>
          </p:cNvPr>
          <p:cNvSpPr/>
          <p:nvPr userDrawn="1"/>
        </p:nvSpPr>
        <p:spPr>
          <a:xfrm>
            <a:off x="0" y="1150806"/>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sp>
        <p:nvSpPr>
          <p:cNvPr id="14" name="Titel 1">
            <a:extLst>
              <a:ext uri="{FF2B5EF4-FFF2-40B4-BE49-F238E27FC236}">
                <a16:creationId xmlns:a16="http://schemas.microsoft.com/office/drawing/2014/main" id="{F3AA6966-2C26-4F5B-A6D5-F8776664F8E6}"/>
              </a:ext>
            </a:extLst>
          </p:cNvPr>
          <p:cNvSpPr>
            <a:spLocks noGrp="1"/>
          </p:cNvSpPr>
          <p:nvPr>
            <p:ph type="ctrTitle" hasCustomPrompt="1"/>
          </p:nvPr>
        </p:nvSpPr>
        <p:spPr>
          <a:xfrm>
            <a:off x="622296" y="1412776"/>
            <a:ext cx="10945817" cy="1102519"/>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Abschlussmaster durch Klicken bearbeiten</a:t>
            </a:r>
          </a:p>
        </p:txBody>
      </p:sp>
      <p:pic>
        <p:nvPicPr>
          <p:cNvPr id="16" name="Bild 2">
            <a:extLst>
              <a:ext uri="{FF2B5EF4-FFF2-40B4-BE49-F238E27FC236}">
                <a16:creationId xmlns:a16="http://schemas.microsoft.com/office/drawing/2014/main" id="{F440AE9D-24A0-4E14-BEAA-A817DEA58C9B}"/>
              </a:ext>
            </a:extLst>
          </p:cNvPr>
          <p:cNvPicPr>
            <a:picLocks noChangeAspect="1"/>
          </p:cNvPicPr>
          <p:nvPr userDrawn="1"/>
        </p:nvPicPr>
        <p:blipFill>
          <a:blip r:embed="rId2"/>
          <a:stretch>
            <a:fillRect/>
          </a:stretch>
        </p:blipFill>
        <p:spPr>
          <a:xfrm>
            <a:off x="9552384" y="-27384"/>
            <a:ext cx="2015208" cy="318982"/>
          </a:xfrm>
          <a:prstGeom prst="rect">
            <a:avLst/>
          </a:prstGeom>
        </p:spPr>
      </p:pic>
      <p:pic>
        <p:nvPicPr>
          <p:cNvPr id="17" name="HRW_Logo_transparent.png">
            <a:extLst>
              <a:ext uri="{FF2B5EF4-FFF2-40B4-BE49-F238E27FC236}">
                <a16:creationId xmlns:a16="http://schemas.microsoft.com/office/drawing/2014/main" id="{977B5304-7624-44FB-8AE5-9CBDC59AB8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504" y="-27384"/>
            <a:ext cx="2592288" cy="1150806"/>
          </a:xfrm>
          <a:prstGeom prst="rect">
            <a:avLst/>
          </a:prstGeom>
        </p:spPr>
      </p:pic>
      <p:pic>
        <p:nvPicPr>
          <p:cNvPr id="18" name="Grafik 17">
            <a:extLst>
              <a:ext uri="{FF2B5EF4-FFF2-40B4-BE49-F238E27FC236}">
                <a16:creationId xmlns:a16="http://schemas.microsoft.com/office/drawing/2014/main" id="{C25C95A8-926B-4BB4-83F9-CBBFE9E376C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
        <p:nvSpPr>
          <p:cNvPr id="8" name="Inhaltsplatzhalter 18">
            <a:extLst>
              <a:ext uri="{FF2B5EF4-FFF2-40B4-BE49-F238E27FC236}">
                <a16:creationId xmlns:a16="http://schemas.microsoft.com/office/drawing/2014/main" id="{CE84D051-E07F-4D08-A817-41C9C28BFBB7}"/>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spTree>
    <p:extLst>
      <p:ext uri="{BB962C8B-B14F-4D97-AF65-F5344CB8AC3E}">
        <p14:creationId xmlns:p14="http://schemas.microsoft.com/office/powerpoint/2010/main" val="79391983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465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lgn="l" defTabSz="914354" rtl="0" eaLnBrk="1" latinLnBrk="0" hangingPunct="1">
        <a:lnSpc>
          <a:spcPct val="90000"/>
        </a:lnSpc>
        <a:spcBef>
          <a:spcPct val="0"/>
        </a:spcBef>
        <a:buNone/>
        <a:defRPr sz="4400" kern="1200">
          <a:solidFill>
            <a:schemeClr val="tx1"/>
          </a:solidFill>
          <a:latin typeface="Liberation Serif" panose="02020603050405020304" pitchFamily="18" charset="0"/>
          <a:ea typeface="+mj-ea"/>
          <a:cs typeface="+mj-cs"/>
        </a:defRPr>
      </a:lvl1pPr>
    </p:titleStyle>
    <p:bodyStyle>
      <a:lvl1pPr marL="0" indent="0" algn="l" defTabSz="914354" rtl="0" eaLnBrk="1" latinLnBrk="0" hangingPunct="1">
        <a:lnSpc>
          <a:spcPct val="90000"/>
        </a:lnSpc>
        <a:spcBef>
          <a:spcPts val="1001"/>
        </a:spcBef>
        <a:buFont typeface="Arial" panose="020B0604020202020204" pitchFamily="34" charset="0"/>
        <a:buNone/>
        <a:defRPr sz="2800" kern="1200">
          <a:solidFill>
            <a:schemeClr val="tx1"/>
          </a:solidFill>
          <a:latin typeface="Liberation Serif" panose="02020603050405020304" pitchFamily="18" charset="0"/>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Liberation Serif" panose="02020603050405020304" pitchFamily="18" charset="0"/>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Liberation Serif" panose="02020603050405020304" pitchFamily="18" charset="0"/>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7">
          <p15:clr>
            <a:srgbClr val="F26B43"/>
          </p15:clr>
        </p15:guide>
        <p15:guide id="5" orient="horz" pos="822">
          <p15:clr>
            <a:srgbClr val="F26B43"/>
          </p15:clr>
        </p15:guide>
        <p15:guide id="7" pos="393">
          <p15:clr>
            <a:srgbClr val="F26B43"/>
          </p15:clr>
        </p15:guide>
        <p15:guide id="8" orient="horz" pos="6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3E256E18-EC24-4500-BC3B-066D14936873}"/>
              </a:ext>
            </a:extLst>
          </p:cNvPr>
          <p:cNvSpPr>
            <a:spLocks noGrp="1"/>
          </p:cNvSpPr>
          <p:nvPr>
            <p:ph idx="1"/>
          </p:nvPr>
        </p:nvSpPr>
        <p:spPr>
          <a:xfrm>
            <a:off x="623888" y="1486405"/>
            <a:ext cx="10434639" cy="3314700"/>
          </a:xfrm>
        </p:spPr>
        <p:txBody>
          <a:bodyPr/>
          <a:lstStyle/>
          <a:p>
            <a:pPr>
              <a:lnSpc>
                <a:spcPct val="114000"/>
              </a:lnSpc>
            </a:pPr>
            <a:r>
              <a:rPr lang="de-DE" sz="3000" dirty="0" err="1"/>
              <a:t>Instruction</a:t>
            </a:r>
            <a:r>
              <a:rPr lang="de-DE" sz="3000" dirty="0"/>
              <a:t>:</a:t>
            </a:r>
          </a:p>
          <a:p>
            <a:pPr marL="457200" indent="-457200">
              <a:lnSpc>
                <a:spcPct val="114000"/>
              </a:lnSpc>
              <a:buFont typeface="+mj-lt"/>
              <a:buAutoNum type="arabicPeriod"/>
            </a:pPr>
            <a:r>
              <a:rPr lang="en-US" dirty="0"/>
              <a:t>Ideal vision of the future </a:t>
            </a:r>
            <a:r>
              <a:rPr lang="en-US" b="0" dirty="0"/>
              <a:t>(approx. 5 minutes): Create a positive vision of the future in which everything has gone well or ideally at the end of your studies and you start your career with an ideal job. Use the prompt questions in the reflection portfolio to help you.</a:t>
            </a:r>
          </a:p>
          <a:p>
            <a:pPr marL="457200" indent="-457200">
              <a:lnSpc>
                <a:spcPct val="114000"/>
              </a:lnSpc>
              <a:buFont typeface="+mj-lt"/>
              <a:buAutoNum type="arabicPeriod"/>
            </a:pPr>
            <a:r>
              <a:rPr lang="en-US" dirty="0"/>
              <a:t>Link to course content </a:t>
            </a:r>
            <a:r>
              <a:rPr lang="en-US" b="0" dirty="0"/>
              <a:t>(approx. 5 minutes): Then note down how the course content contributes to achieving your vision of the future or how it can be applied in your ideal future.</a:t>
            </a:r>
          </a:p>
          <a:p>
            <a:pPr marL="457200" indent="-457200">
              <a:lnSpc>
                <a:spcPct val="114000"/>
              </a:lnSpc>
              <a:buFont typeface="+mj-lt"/>
              <a:buAutoNum type="arabicPeriod"/>
            </a:pPr>
            <a:r>
              <a:rPr lang="en-US" dirty="0"/>
              <a:t>Concrete steps </a:t>
            </a:r>
            <a:r>
              <a:rPr lang="en-US" b="0" dirty="0"/>
              <a:t>(approx. 5 minutes): Formulate concrete steps that will bring you closer to your ideal vision of the future, also with regard to the course.</a:t>
            </a:r>
            <a:endParaRPr lang="de-DE" sz="2600" b="0" dirty="0"/>
          </a:p>
          <a:p>
            <a:endParaRPr lang="de-DE" b="0" dirty="0"/>
          </a:p>
          <a:p>
            <a:endParaRPr lang="de-DE" b="0" dirty="0"/>
          </a:p>
          <a:p>
            <a:endParaRPr lang="de-DE" b="0" dirty="0"/>
          </a:p>
        </p:txBody>
      </p:sp>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pPr marL="0" indent="0"/>
            <a:r>
              <a:rPr lang="de-DE" sz="4000" dirty="0"/>
              <a:t>Best Possible </a:t>
            </a:r>
            <a:r>
              <a:rPr lang="de-DE" sz="4000" dirty="0" err="1"/>
              <a:t>Self</a:t>
            </a:r>
            <a:r>
              <a:rPr lang="de-DE" sz="4000" dirty="0"/>
              <a:t>: </a:t>
            </a:r>
            <a:br>
              <a:rPr lang="de-DE" sz="4000" dirty="0"/>
            </a:br>
            <a:r>
              <a:rPr lang="en-US" b="0" dirty="0"/>
              <a:t>Vision of an </a:t>
            </a:r>
            <a:r>
              <a:rPr lang="en-US" b="0"/>
              <a:t>ideal future</a:t>
            </a:r>
            <a:endParaRPr lang="de-DE" sz="4000" b="0" dirty="0"/>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4"/>
          <a:stretch>
            <a:fillRect/>
          </a:stretch>
        </p:blipFill>
        <p:spPr>
          <a:xfrm>
            <a:off x="10292297" y="6168287"/>
            <a:ext cx="610328" cy="626204"/>
          </a:xfrm>
          <a:prstGeom prst="rect">
            <a:avLst/>
          </a:prstGeom>
        </p:spPr>
      </p:pic>
      <p:sp>
        <p:nvSpPr>
          <p:cNvPr id="7" name="Textfeld 6">
            <a:extLst>
              <a:ext uri="{FF2B5EF4-FFF2-40B4-BE49-F238E27FC236}">
                <a16:creationId xmlns:a16="http://schemas.microsoft.com/office/drawing/2014/main" id="{6271F612-F0FE-4182-A587-165F30B4CB0C}"/>
              </a:ext>
            </a:extLst>
          </p:cNvPr>
          <p:cNvSpPr txBox="1"/>
          <p:nvPr/>
        </p:nvSpPr>
        <p:spPr>
          <a:xfrm>
            <a:off x="533936" y="6378130"/>
            <a:ext cx="9894586" cy="338554"/>
          </a:xfrm>
          <a:prstGeom prst="rect">
            <a:avLst/>
          </a:prstGeom>
          <a:noFill/>
        </p:spPr>
        <p:txBody>
          <a:bodyPr wrap="square">
            <a:spAutoFit/>
          </a:bodyPr>
          <a:lstStyle/>
          <a:p>
            <a:pPr marL="0" marR="0" indent="0">
              <a:buNone/>
            </a:pPr>
            <a:r>
              <a:rPr lang="en-US" sz="800" b="0" i="0" dirty="0">
                <a:effectLst/>
                <a:latin typeface="Segoe UI" panose="020B0502040204020203" pitchFamily="34" charset="0"/>
              </a:rPr>
              <a:t>This material was developed as part of the Happy Kit project.</a:t>
            </a:r>
            <a:br>
              <a:rPr lang="en-US" sz="800" b="0" i="0" dirty="0">
                <a:effectLst/>
                <a:latin typeface="Segoe UI" panose="020B0502040204020203" pitchFamily="34" charset="0"/>
              </a:rPr>
            </a:br>
            <a:r>
              <a:rPr lang="en-US" sz="800" b="0" i="0" dirty="0">
                <a:effectLst/>
                <a:latin typeface="Segoe UI" panose="020B0502040204020203" pitchFamily="34" charset="0"/>
              </a:rPr>
              <a:t>The project was funded from October 2024 to October 2026 through internal quality improvement funds for academic programs and teaching at Ruhr West University of Applied Sciences.</a:t>
            </a:r>
            <a:endParaRPr lang="de-DE" sz="800" b="0" i="0" dirty="0">
              <a:effectLst/>
              <a:latin typeface="Segoe UI" panose="020B0502040204020203" pitchFamily="34" charset="0"/>
            </a:endParaRPr>
          </a:p>
        </p:txBody>
      </p:sp>
      <p:pic>
        <p:nvPicPr>
          <p:cNvPr id="8" name="Grafik 7">
            <a:extLst>
              <a:ext uri="{FF2B5EF4-FFF2-40B4-BE49-F238E27FC236}">
                <a16:creationId xmlns:a16="http://schemas.microsoft.com/office/drawing/2014/main" id="{62984687-B356-44FB-83FF-7278D9AFE0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53118"/>
            <a:ext cx="1022400" cy="1022400"/>
          </a:xfrm>
          <a:prstGeom prst="rect">
            <a:avLst/>
          </a:prstGeom>
        </p:spPr>
      </p:pic>
    </p:spTree>
    <p:extLst>
      <p:ext uri="{BB962C8B-B14F-4D97-AF65-F5344CB8AC3E}">
        <p14:creationId xmlns:p14="http://schemas.microsoft.com/office/powerpoint/2010/main" val="3636354621"/>
      </p:ext>
    </p:extLst>
  </p:cSld>
  <p:clrMapOvr>
    <a:masterClrMapping/>
  </p:clrMapOvr>
</p:sld>
</file>

<file path=ppt/theme/theme1.xml><?xml version="1.0" encoding="utf-8"?>
<a:theme xmlns:a="http://schemas.openxmlformats.org/drawingml/2006/main" name="1_Office">
  <a:themeElements>
    <a:clrScheme name="Benutzerdefiniert 1">
      <a:dk1>
        <a:srgbClr val="000000"/>
      </a:dk1>
      <a:lt1>
        <a:srgbClr val="FFFFFF"/>
      </a:lt1>
      <a:dk2>
        <a:srgbClr val="00A2D9"/>
      </a:dk2>
      <a:lt2>
        <a:srgbClr val="EEECE1"/>
      </a:lt2>
      <a:accent1>
        <a:srgbClr val="00A3DA"/>
      </a:accent1>
      <a:accent2>
        <a:srgbClr val="006B8E"/>
      </a:accent2>
      <a:accent3>
        <a:srgbClr val="4C4D4C"/>
      </a:accent3>
      <a:accent4>
        <a:srgbClr val="767776"/>
      </a:accent4>
      <a:accent5>
        <a:srgbClr val="767776"/>
      </a:accent5>
      <a:accent6>
        <a:srgbClr val="00AFDD"/>
      </a:accent6>
      <a:hlink>
        <a:srgbClr val="006B8E"/>
      </a:hlink>
      <a:folHlink>
        <a:srgbClr val="00516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6-06_HRW Powerpoint Master" id="{04377A4D-9DE6-EE41-8781-0E189CB9E1B1}" vid="{5CFA870C-B1ED-834E-B24B-41185ED9A9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460</Words>
  <Application>Microsoft Office PowerPoint</Application>
  <PresentationFormat>Breitbild</PresentationFormat>
  <Paragraphs>15</Paragraphs>
  <Slides>1</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Arial</vt:lpstr>
      <vt:lpstr>Calibri</vt:lpstr>
      <vt:lpstr>Liberation Serif</vt:lpstr>
      <vt:lpstr>Segoe UI</vt:lpstr>
      <vt:lpstr>1_Office</vt:lpstr>
      <vt:lpstr>Best Possible Self:  Vision of an ideal future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Positive Takeaway</dc:title>
  <dc:creator>Graf, Maike</dc:creator>
  <cp:lastModifiedBy>Graf, Maike</cp:lastModifiedBy>
  <cp:revision>31</cp:revision>
  <dcterms:created xsi:type="dcterms:W3CDTF">2025-04-03T10:23:37Z</dcterms:created>
  <dcterms:modified xsi:type="dcterms:W3CDTF">2026-09-02T07:44:30Z</dcterms:modified>
</cp:coreProperties>
</file>