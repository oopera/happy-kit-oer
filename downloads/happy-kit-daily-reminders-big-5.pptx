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313" r:id="rId2"/>
    <p:sldId id="314" r:id="rId3"/>
    <p:sldId id="315" r:id="rId4"/>
    <p:sldId id="316" r:id="rId5"/>
    <p:sldId id="317" r:id="rId6"/>
    <p:sldId id="318" r:id="rId7"/>
    <p:sldId id="319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FE3"/>
    <a:srgbClr val="C51343"/>
    <a:srgbClr val="36B7B3"/>
    <a:srgbClr val="FBBA00"/>
    <a:srgbClr val="A1C617"/>
    <a:srgbClr val="C801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68" y="-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D09D20-B671-4937-8942-6DE7441B1CEB}" type="datetimeFigureOut">
              <a:rPr lang="de-DE" smtClean="0"/>
              <a:t>27.03.2025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749593-E03B-45E4-A4A6-109AFB023FC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539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67AAC5-E19D-4C4F-A62D-4E8DD51B8C68}" type="slidenum">
              <a:rPr lang="de-DE" smtClean="0"/>
              <a:pPr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5671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AA57AE-2CF7-49FF-942F-5DBC1E7EAF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5B2F988-C02F-49C8-B53E-D854499395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8D890CA-C398-4A40-A646-CFF5CE854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F4C75-2DA6-4D1F-A064-7DCD81400078}" type="datetimeFigureOut">
              <a:rPr lang="de-DE" smtClean="0"/>
              <a:t>27.03.2025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52E9A6B-7C9D-4067-821F-7DD4CC718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2F41A41-E0DA-498C-B09E-EC61A780E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C0035-8B4F-4F05-B26A-C3CCAE71E2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2739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9F276D-B34A-4B60-8D78-F46478943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66B983A-D88B-4174-85E9-5BF09004D5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1D528B-1C15-446F-9E65-D3C95A22C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F4C75-2DA6-4D1F-A064-7DCD81400078}" type="datetimeFigureOut">
              <a:rPr lang="de-DE" smtClean="0"/>
              <a:t>27.03.2025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15AB410-46EE-4B34-BC36-0B7DE1AF4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D3A3A1-502C-4095-9ACE-6E129A6ED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C0035-8B4F-4F05-B26A-C3CCAE71E2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7526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95846B-7C34-4DCD-9219-7732AE4BB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981C8D1-870D-4115-8E50-24E200C80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E8F0AE0-0E30-4EE8-8D2A-6ADCFF6B9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F4C75-2DA6-4D1F-A064-7DCD81400078}" type="datetimeFigureOut">
              <a:rPr lang="de-DE" smtClean="0"/>
              <a:t>27.03.2025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185C0D7-4D4A-455B-8A6C-816AD3B24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B384958-BEA8-4E8E-96DB-711B75003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C0035-8B4F-4F05-B26A-C3CCAE71E2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0759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A13B03-348D-475E-843B-08816B465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4EE488F-3DB6-4629-9AE4-65D9575475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3790084-520D-42AC-9E88-2D6AA46EED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C3A0B99-D69A-4EA0-9109-EE32354DD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F4C75-2DA6-4D1F-A064-7DCD81400078}" type="datetimeFigureOut">
              <a:rPr lang="de-DE" smtClean="0"/>
              <a:t>27.03.2025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A3FEAC1-484D-4015-B902-CFA7FCA3F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2C24622-2072-453E-A18D-EA9CC487F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C0035-8B4F-4F05-B26A-C3CCAE71E2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3602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7C5C82-2C15-4FBA-A437-6E138855D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7EC6B7F-57D6-47CB-B73C-4F5E2D0D7E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3EEBD1D-340B-4E32-ADE5-8D0D798923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1F1C2A2-8FA6-4A75-920C-CB3A5EECC7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C00E5EC-1C1C-4985-9F1C-687EA54784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21503AB-183E-4AD5-B062-81F16E000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F4C75-2DA6-4D1F-A064-7DCD81400078}" type="datetimeFigureOut">
              <a:rPr lang="de-DE" smtClean="0"/>
              <a:t>27.03.2025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AC2B0BA-4214-4B9B-91B7-7EF260F8B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3399347-B4D8-4936-ACEB-D07BEE302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C0035-8B4F-4F05-B26A-C3CCAE71E2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4718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BE478E-8A63-4334-BD1A-E3D456ECA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9EE6254-EC59-47F1-8F23-2A6A195ED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F4C75-2DA6-4D1F-A064-7DCD81400078}" type="datetimeFigureOut">
              <a:rPr lang="de-DE" smtClean="0"/>
              <a:t>27.03.2025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9D50D70-35A9-4530-8E7F-EA367BA7A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9EFEFF7-F33A-438A-8C87-2EFACB060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C0035-8B4F-4F05-B26A-C3CCAE71E2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8651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1166A1C-BCA4-48DA-88B8-730747FEC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F4C75-2DA6-4D1F-A064-7DCD81400078}" type="datetimeFigureOut">
              <a:rPr lang="de-DE" smtClean="0"/>
              <a:t>27.03.2025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C2ACBA3-3626-4C3A-A30A-CEDB62CCC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A712FE4-E6AB-4BA9-9921-6C4BCF28F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C0035-8B4F-4F05-B26A-C3CCAE71E2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4629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36526A-73F8-40F6-941C-3816CC6B7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1CB35A-7D62-4CBC-8443-84C83E9444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4580FAB-44C1-42D0-872F-C924817644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C5B2950-D2B9-4723-B859-46D78408B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F4C75-2DA6-4D1F-A064-7DCD81400078}" type="datetimeFigureOut">
              <a:rPr lang="de-DE" smtClean="0"/>
              <a:t>27.03.2025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A63E821-F4D8-4027-81BC-11C6A9949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2984C24-A9A4-48FD-8D5B-132B7B274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C0035-8B4F-4F05-B26A-C3CCAE71E2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5528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E6F899-62F4-4F41-9C80-72DF01BD1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DD0273D-95BD-44EA-A466-EA49A5ACA3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D21CB8F-DDEA-495C-91EA-BEAB433C79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685BA8C-FAEA-496C-8D11-E4A618EF5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F4C75-2DA6-4D1F-A064-7DCD81400078}" type="datetimeFigureOut">
              <a:rPr lang="de-DE" smtClean="0"/>
              <a:t>27.03.2025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D34FBDB-3F97-4E2B-A1E5-6C62FACBA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090D936-4845-47F4-AB73-3EA9CC903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C0035-8B4F-4F05-B26A-C3CCAE71E2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176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F6A812-35EA-4FAA-8C0B-68B8430C4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EF3E684-E59A-43EF-84E0-253F521EC0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FE57BFD-A1B4-47B9-8AE6-5EB1BD163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F4C75-2DA6-4D1F-A064-7DCD81400078}" type="datetimeFigureOut">
              <a:rPr lang="de-DE" smtClean="0"/>
              <a:t>27.03.2025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D028673-B7E5-43AA-A3D1-5BE07F9E7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70D671A-4102-4256-8508-7C28199F1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C0035-8B4F-4F05-B26A-C3CCAE71E2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6363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E734CC8-D32B-4608-8B9B-212D308681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50C2395-D3C8-462A-A8ED-88E931A400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EB6C436-9BA3-44E8-B70E-18CFC6A77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F4C75-2DA6-4D1F-A064-7DCD81400078}" type="datetimeFigureOut">
              <a:rPr lang="de-DE" smtClean="0"/>
              <a:t>27.03.2025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770C3C5-E72B-4309-88A0-056CF0243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7B24B13-8B53-47C1-85DA-C7BBEF0E3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C0035-8B4F-4F05-B26A-C3CCAE71E2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0101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74EA5E-A6F7-452B-BF88-018E4CCE2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EFDB251-3E38-49FF-A64A-F9AEB71E3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754CC07-4A56-427E-AD84-F337C36E10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6F4C75-2DA6-4D1F-A064-7DCD81400078}" type="datetimeFigureOut">
              <a:rPr lang="de-DE" smtClean="0"/>
              <a:t>27.03.2025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AC6ECBE-0EA3-455D-996F-D7A3A75E71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977E9E-B355-490E-B68F-F39FFF2F62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9C0035-8B4F-4F05-B26A-C3CCAE71E2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3733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ahmen 8">
            <a:extLst>
              <a:ext uri="{FF2B5EF4-FFF2-40B4-BE49-F238E27FC236}">
                <a16:creationId xmlns:a16="http://schemas.microsoft.com/office/drawing/2014/main" id="{5185592E-B8A2-409D-BC66-263D61D548E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4964"/>
            </a:avLst>
          </a:prstGeom>
          <a:solidFill>
            <a:srgbClr val="009F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4" name="Titel 2">
            <a:extLst>
              <a:ext uri="{FF2B5EF4-FFF2-40B4-BE49-F238E27FC236}">
                <a16:creationId xmlns:a16="http://schemas.microsoft.com/office/drawing/2014/main" id="{118B2F9A-660E-4C10-9F2E-01B189B0D338}"/>
              </a:ext>
            </a:extLst>
          </p:cNvPr>
          <p:cNvSpPr txBox="1">
            <a:spLocks/>
          </p:cNvSpPr>
          <p:nvPr/>
        </p:nvSpPr>
        <p:spPr bwMode="auto">
          <a:xfrm>
            <a:off x="623888" y="886969"/>
            <a:ext cx="10943704" cy="776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11" rIns="91420" bIns="45711" numCol="1" anchor="ctr" anchorCtr="0" compatLnSpc="1">
            <a:prstTxWarp prst="textNoShape">
              <a:avLst/>
            </a:prstTxWarp>
            <a:noAutofit/>
          </a:bodyPr>
          <a:lstStyle>
            <a:lvl1pPr marL="657954" indent="-657954"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00B0F0"/>
                </a:solidFill>
                <a:latin typeface="Liberation Serif" panose="02020603050405020304" pitchFamily="18" charset="0"/>
                <a:ea typeface="+mj-ea"/>
                <a:cs typeface="Liberation Serif" panose="02020603050405020304" pitchFamily="18" charset="0"/>
              </a:defRPr>
            </a:lvl1pPr>
          </a:lstStyle>
          <a:p>
            <a:pPr algn="ctr"/>
            <a:r>
              <a:rPr lang="de-DE" sz="4400" dirty="0">
                <a:solidFill>
                  <a:srgbClr val="009FE3"/>
                </a:solidFill>
              </a:rPr>
              <a:t>Daily </a:t>
            </a:r>
            <a:r>
              <a:rPr lang="de-DE" sz="4400" dirty="0" err="1">
                <a:solidFill>
                  <a:srgbClr val="009FE3"/>
                </a:solidFill>
              </a:rPr>
              <a:t>Reminder</a:t>
            </a:r>
            <a:endParaRPr lang="de-DE" sz="4400" dirty="0">
              <a:solidFill>
                <a:srgbClr val="009FE3"/>
              </a:solidFill>
            </a:endParaRPr>
          </a:p>
          <a:p>
            <a:pPr algn="ctr"/>
            <a:r>
              <a:rPr lang="de-DE" sz="2800" dirty="0">
                <a:solidFill>
                  <a:srgbClr val="009FE3"/>
                </a:solidFill>
              </a:rPr>
              <a:t>Die Big 5 der mentalen Gesundheit</a:t>
            </a:r>
            <a:endParaRPr lang="de-DE" sz="4000" dirty="0">
              <a:solidFill>
                <a:srgbClr val="009FE3"/>
              </a:solidFill>
            </a:endParaRP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6790E44E-2EF9-4C3A-AB26-023FF81C55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05" y="357179"/>
            <a:ext cx="940343" cy="964803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BB55C10F-2EF1-4015-B664-22E6B6FCED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0447" t="1240" r="2830" b="79912"/>
          <a:stretch/>
        </p:blipFill>
        <p:spPr>
          <a:xfrm>
            <a:off x="3861826" y="1942075"/>
            <a:ext cx="4441323" cy="4431186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565316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ahmen 8">
            <a:extLst>
              <a:ext uri="{FF2B5EF4-FFF2-40B4-BE49-F238E27FC236}">
                <a16:creationId xmlns:a16="http://schemas.microsoft.com/office/drawing/2014/main" id="{5185592E-B8A2-409D-BC66-263D61D548E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4964"/>
            </a:avLst>
          </a:prstGeom>
          <a:solidFill>
            <a:srgbClr val="C701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58CE594-0BCA-4F07-9522-23355C9B6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05" y="357179"/>
            <a:ext cx="940343" cy="964803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2ADBF7C1-49D4-4C3B-936E-A86F6260F19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829" t="20402" r="57448" b="60750"/>
          <a:stretch/>
        </p:blipFill>
        <p:spPr>
          <a:xfrm>
            <a:off x="3901582" y="1968579"/>
            <a:ext cx="4441323" cy="4431186"/>
          </a:xfrm>
          <a:prstGeom prst="ellipse">
            <a:avLst/>
          </a:prstGeom>
        </p:spPr>
      </p:pic>
      <p:sp>
        <p:nvSpPr>
          <p:cNvPr id="6" name="Titel 2">
            <a:extLst>
              <a:ext uri="{FF2B5EF4-FFF2-40B4-BE49-F238E27FC236}">
                <a16:creationId xmlns:a16="http://schemas.microsoft.com/office/drawing/2014/main" id="{E374F737-F085-4364-B871-23E0C8A70A3E}"/>
              </a:ext>
            </a:extLst>
          </p:cNvPr>
          <p:cNvSpPr txBox="1">
            <a:spLocks/>
          </p:cNvSpPr>
          <p:nvPr/>
        </p:nvSpPr>
        <p:spPr bwMode="auto">
          <a:xfrm>
            <a:off x="623888" y="886969"/>
            <a:ext cx="10943704" cy="776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11" rIns="91420" bIns="45711" numCol="1" anchor="ctr" anchorCtr="0" compatLnSpc="1">
            <a:prstTxWarp prst="textNoShape">
              <a:avLst/>
            </a:prstTxWarp>
            <a:noAutofit/>
          </a:bodyPr>
          <a:lstStyle>
            <a:lvl1pPr marL="657954" indent="-657954"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00B0F0"/>
                </a:solidFill>
                <a:latin typeface="Liberation Serif" panose="02020603050405020304" pitchFamily="18" charset="0"/>
                <a:ea typeface="+mj-ea"/>
                <a:cs typeface="Liberation Serif" panose="02020603050405020304" pitchFamily="18" charset="0"/>
              </a:defRPr>
            </a:lvl1pPr>
          </a:lstStyle>
          <a:p>
            <a:pPr algn="ctr"/>
            <a:r>
              <a:rPr lang="de-DE" sz="4400" dirty="0">
                <a:solidFill>
                  <a:srgbClr val="C80180"/>
                </a:solidFill>
              </a:rPr>
              <a:t>Daily </a:t>
            </a:r>
            <a:r>
              <a:rPr lang="de-DE" sz="4400" dirty="0" err="1">
                <a:solidFill>
                  <a:srgbClr val="C80180"/>
                </a:solidFill>
              </a:rPr>
              <a:t>Reminder</a:t>
            </a:r>
            <a:endParaRPr lang="de-DE" sz="4400" dirty="0">
              <a:solidFill>
                <a:srgbClr val="C80180"/>
              </a:solidFill>
            </a:endParaRPr>
          </a:p>
          <a:p>
            <a:pPr algn="ctr"/>
            <a:r>
              <a:rPr lang="de-DE" sz="2800" dirty="0">
                <a:solidFill>
                  <a:srgbClr val="C80180"/>
                </a:solidFill>
              </a:rPr>
              <a:t>Die Big 5 der mentalen Gesundheit</a:t>
            </a:r>
            <a:endParaRPr lang="de-DE" sz="4000" dirty="0">
              <a:solidFill>
                <a:srgbClr val="C801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9666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ahmen 8">
            <a:extLst>
              <a:ext uri="{FF2B5EF4-FFF2-40B4-BE49-F238E27FC236}">
                <a16:creationId xmlns:a16="http://schemas.microsoft.com/office/drawing/2014/main" id="{5185592E-B8A2-409D-BC66-263D61D548E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4964"/>
            </a:avLst>
          </a:prstGeom>
          <a:solidFill>
            <a:srgbClr val="A2C6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F318BBF0-58F5-4140-988E-403D462F6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05" y="357179"/>
            <a:ext cx="940343" cy="964803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53426F1D-893A-487A-8BE8-6CD7FB7DCE9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3338" t="20402" r="29939" b="60750"/>
          <a:stretch/>
        </p:blipFill>
        <p:spPr>
          <a:xfrm>
            <a:off x="3901582" y="1968579"/>
            <a:ext cx="4441323" cy="4431186"/>
          </a:xfrm>
          <a:prstGeom prst="ellipse">
            <a:avLst/>
          </a:prstGeom>
        </p:spPr>
      </p:pic>
      <p:sp>
        <p:nvSpPr>
          <p:cNvPr id="6" name="Titel 2">
            <a:extLst>
              <a:ext uri="{FF2B5EF4-FFF2-40B4-BE49-F238E27FC236}">
                <a16:creationId xmlns:a16="http://schemas.microsoft.com/office/drawing/2014/main" id="{E4232FD8-97EB-4007-AB82-62D55BF851DF}"/>
              </a:ext>
            </a:extLst>
          </p:cNvPr>
          <p:cNvSpPr txBox="1">
            <a:spLocks/>
          </p:cNvSpPr>
          <p:nvPr/>
        </p:nvSpPr>
        <p:spPr bwMode="auto">
          <a:xfrm>
            <a:off x="623888" y="886969"/>
            <a:ext cx="10943704" cy="776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11" rIns="91420" bIns="45711" numCol="1" anchor="ctr" anchorCtr="0" compatLnSpc="1">
            <a:prstTxWarp prst="textNoShape">
              <a:avLst/>
            </a:prstTxWarp>
            <a:noAutofit/>
          </a:bodyPr>
          <a:lstStyle>
            <a:lvl1pPr marL="657954" indent="-657954"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00B0F0"/>
                </a:solidFill>
                <a:latin typeface="Liberation Serif" panose="02020603050405020304" pitchFamily="18" charset="0"/>
                <a:ea typeface="+mj-ea"/>
                <a:cs typeface="Liberation Serif" panose="02020603050405020304" pitchFamily="18" charset="0"/>
              </a:defRPr>
            </a:lvl1pPr>
          </a:lstStyle>
          <a:p>
            <a:pPr algn="ctr"/>
            <a:r>
              <a:rPr lang="de-DE" sz="4400" dirty="0">
                <a:solidFill>
                  <a:srgbClr val="A1C617"/>
                </a:solidFill>
              </a:rPr>
              <a:t>Daily </a:t>
            </a:r>
            <a:r>
              <a:rPr lang="de-DE" sz="4400" dirty="0" err="1">
                <a:solidFill>
                  <a:srgbClr val="A1C617"/>
                </a:solidFill>
              </a:rPr>
              <a:t>Reminder</a:t>
            </a:r>
            <a:endParaRPr lang="de-DE" sz="4400" dirty="0">
              <a:solidFill>
                <a:srgbClr val="A1C617"/>
              </a:solidFill>
            </a:endParaRPr>
          </a:p>
          <a:p>
            <a:pPr algn="ctr"/>
            <a:r>
              <a:rPr lang="de-DE" sz="2800" dirty="0">
                <a:solidFill>
                  <a:srgbClr val="A1C617"/>
                </a:solidFill>
              </a:rPr>
              <a:t>Die Big 5 der mentalen Gesundheit</a:t>
            </a:r>
            <a:endParaRPr lang="de-DE" sz="4000" dirty="0">
              <a:solidFill>
                <a:srgbClr val="A1C61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05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ahmen 8">
            <a:extLst>
              <a:ext uri="{FF2B5EF4-FFF2-40B4-BE49-F238E27FC236}">
                <a16:creationId xmlns:a16="http://schemas.microsoft.com/office/drawing/2014/main" id="{5185592E-B8A2-409D-BC66-263D61D548E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4964"/>
            </a:avLst>
          </a:prstGeom>
          <a:solidFill>
            <a:srgbClr val="FBB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09FBA9D6-69F8-43A5-905A-7717BCB0A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05" y="357179"/>
            <a:ext cx="940343" cy="964803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1645CAA6-B060-4DFE-9064-E9F24342B71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3252" t="1240" r="30025" b="79912"/>
          <a:stretch/>
        </p:blipFill>
        <p:spPr>
          <a:xfrm>
            <a:off x="3888330" y="1955327"/>
            <a:ext cx="4441323" cy="4431186"/>
          </a:xfrm>
          <a:prstGeom prst="ellipse">
            <a:avLst/>
          </a:prstGeom>
        </p:spPr>
      </p:pic>
      <p:sp>
        <p:nvSpPr>
          <p:cNvPr id="6" name="Titel 2">
            <a:extLst>
              <a:ext uri="{FF2B5EF4-FFF2-40B4-BE49-F238E27FC236}">
                <a16:creationId xmlns:a16="http://schemas.microsoft.com/office/drawing/2014/main" id="{E2EE114B-10DB-4E26-A5A9-4FE232F5BE86}"/>
              </a:ext>
            </a:extLst>
          </p:cNvPr>
          <p:cNvSpPr txBox="1">
            <a:spLocks/>
          </p:cNvSpPr>
          <p:nvPr/>
        </p:nvSpPr>
        <p:spPr bwMode="auto">
          <a:xfrm>
            <a:off x="623888" y="886969"/>
            <a:ext cx="10943704" cy="776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11" rIns="91420" bIns="45711" numCol="1" anchor="ctr" anchorCtr="0" compatLnSpc="1">
            <a:prstTxWarp prst="textNoShape">
              <a:avLst/>
            </a:prstTxWarp>
            <a:noAutofit/>
          </a:bodyPr>
          <a:lstStyle>
            <a:lvl1pPr marL="657954" indent="-657954"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00B0F0"/>
                </a:solidFill>
                <a:latin typeface="Liberation Serif" panose="02020603050405020304" pitchFamily="18" charset="0"/>
                <a:ea typeface="+mj-ea"/>
                <a:cs typeface="Liberation Serif" panose="02020603050405020304" pitchFamily="18" charset="0"/>
              </a:defRPr>
            </a:lvl1pPr>
          </a:lstStyle>
          <a:p>
            <a:pPr algn="ctr"/>
            <a:r>
              <a:rPr lang="de-DE" sz="4400" dirty="0">
                <a:solidFill>
                  <a:srgbClr val="FBBA00"/>
                </a:solidFill>
              </a:rPr>
              <a:t>Daily </a:t>
            </a:r>
            <a:r>
              <a:rPr lang="de-DE" sz="4400" dirty="0" err="1">
                <a:solidFill>
                  <a:srgbClr val="FBBA00"/>
                </a:solidFill>
              </a:rPr>
              <a:t>Reminder</a:t>
            </a:r>
            <a:endParaRPr lang="de-DE" sz="4400" dirty="0">
              <a:solidFill>
                <a:srgbClr val="FBBA00"/>
              </a:solidFill>
            </a:endParaRPr>
          </a:p>
          <a:p>
            <a:pPr algn="ctr"/>
            <a:r>
              <a:rPr lang="de-DE" sz="2800" dirty="0">
                <a:solidFill>
                  <a:srgbClr val="FBBA00"/>
                </a:solidFill>
              </a:rPr>
              <a:t>Die Big 5 der mentalen Gesundheit</a:t>
            </a:r>
            <a:endParaRPr lang="de-DE" sz="4000" dirty="0">
              <a:solidFill>
                <a:srgbClr val="FBBA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9921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ahmen 8">
            <a:extLst>
              <a:ext uri="{FF2B5EF4-FFF2-40B4-BE49-F238E27FC236}">
                <a16:creationId xmlns:a16="http://schemas.microsoft.com/office/drawing/2014/main" id="{5185592E-B8A2-409D-BC66-263D61D548E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4964"/>
            </a:avLst>
          </a:prstGeom>
          <a:solidFill>
            <a:srgbClr val="35B6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D4430FA-346B-4479-85C8-F6DD5B924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05" y="357179"/>
            <a:ext cx="940343" cy="964803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FA97430B-21FB-4F81-AFB1-CAA2DD57787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743" t="1240" r="57534" b="79912"/>
          <a:stretch/>
        </p:blipFill>
        <p:spPr>
          <a:xfrm>
            <a:off x="3888330" y="1955327"/>
            <a:ext cx="4441323" cy="4431186"/>
          </a:xfrm>
          <a:prstGeom prst="ellipse">
            <a:avLst/>
          </a:prstGeom>
        </p:spPr>
      </p:pic>
      <p:sp>
        <p:nvSpPr>
          <p:cNvPr id="6" name="Titel 2">
            <a:extLst>
              <a:ext uri="{FF2B5EF4-FFF2-40B4-BE49-F238E27FC236}">
                <a16:creationId xmlns:a16="http://schemas.microsoft.com/office/drawing/2014/main" id="{8D7F68F4-798A-4499-8DB8-538C67492920}"/>
              </a:ext>
            </a:extLst>
          </p:cNvPr>
          <p:cNvSpPr txBox="1">
            <a:spLocks/>
          </p:cNvSpPr>
          <p:nvPr/>
        </p:nvSpPr>
        <p:spPr bwMode="auto">
          <a:xfrm>
            <a:off x="624148" y="877840"/>
            <a:ext cx="10943704" cy="776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11" rIns="91420" bIns="45711" numCol="1" anchor="ctr" anchorCtr="0" compatLnSpc="1">
            <a:prstTxWarp prst="textNoShape">
              <a:avLst/>
            </a:prstTxWarp>
            <a:noAutofit/>
          </a:bodyPr>
          <a:lstStyle>
            <a:lvl1pPr marL="657954" indent="-657954"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00B0F0"/>
                </a:solidFill>
                <a:latin typeface="Liberation Serif" panose="02020603050405020304" pitchFamily="18" charset="0"/>
                <a:ea typeface="+mj-ea"/>
                <a:cs typeface="Liberation Serif" panose="02020603050405020304" pitchFamily="18" charset="0"/>
              </a:defRPr>
            </a:lvl1pPr>
          </a:lstStyle>
          <a:p>
            <a:pPr algn="ctr"/>
            <a:r>
              <a:rPr lang="de-DE" sz="4400" dirty="0">
                <a:solidFill>
                  <a:srgbClr val="36B7B3"/>
                </a:solidFill>
              </a:rPr>
              <a:t>Daily </a:t>
            </a:r>
            <a:r>
              <a:rPr lang="de-DE" sz="4400" dirty="0" err="1">
                <a:solidFill>
                  <a:srgbClr val="36B7B3"/>
                </a:solidFill>
              </a:rPr>
              <a:t>Reminder</a:t>
            </a:r>
            <a:endParaRPr lang="de-DE" sz="4400" dirty="0">
              <a:solidFill>
                <a:srgbClr val="36B7B3"/>
              </a:solidFill>
            </a:endParaRPr>
          </a:p>
          <a:p>
            <a:pPr algn="ctr"/>
            <a:r>
              <a:rPr lang="de-DE" sz="2800" dirty="0">
                <a:solidFill>
                  <a:srgbClr val="36B7B3"/>
                </a:solidFill>
              </a:rPr>
              <a:t>Die Big 5 der mentalen Gesundheit</a:t>
            </a:r>
            <a:endParaRPr lang="de-DE" sz="4000" dirty="0">
              <a:solidFill>
                <a:srgbClr val="36B7B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4661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ahmen 8">
            <a:extLst>
              <a:ext uri="{FF2B5EF4-FFF2-40B4-BE49-F238E27FC236}">
                <a16:creationId xmlns:a16="http://schemas.microsoft.com/office/drawing/2014/main" id="{5185592E-B8A2-409D-BC66-263D61D548E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4964"/>
            </a:avLst>
          </a:prstGeom>
          <a:solidFill>
            <a:srgbClr val="35B6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D4430FA-346B-4479-85C8-F6DD5B924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05" y="357179"/>
            <a:ext cx="940343" cy="964803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FA97430B-21FB-4F81-AFB1-CAA2DD57787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0240" t="20366" r="3037" b="60786"/>
          <a:stretch/>
        </p:blipFill>
        <p:spPr>
          <a:xfrm>
            <a:off x="3822070" y="1955327"/>
            <a:ext cx="4441323" cy="4431186"/>
          </a:xfrm>
          <a:prstGeom prst="ellipse">
            <a:avLst/>
          </a:prstGeom>
        </p:spPr>
      </p:pic>
      <p:sp>
        <p:nvSpPr>
          <p:cNvPr id="6" name="Titel 2">
            <a:extLst>
              <a:ext uri="{FF2B5EF4-FFF2-40B4-BE49-F238E27FC236}">
                <a16:creationId xmlns:a16="http://schemas.microsoft.com/office/drawing/2014/main" id="{D9423D3F-DB63-41D8-B00D-88830D327FFE}"/>
              </a:ext>
            </a:extLst>
          </p:cNvPr>
          <p:cNvSpPr txBox="1">
            <a:spLocks/>
          </p:cNvSpPr>
          <p:nvPr/>
        </p:nvSpPr>
        <p:spPr bwMode="auto">
          <a:xfrm>
            <a:off x="624148" y="877840"/>
            <a:ext cx="10943704" cy="776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11" rIns="91420" bIns="45711" numCol="1" anchor="ctr" anchorCtr="0" compatLnSpc="1">
            <a:prstTxWarp prst="textNoShape">
              <a:avLst/>
            </a:prstTxWarp>
            <a:noAutofit/>
          </a:bodyPr>
          <a:lstStyle>
            <a:lvl1pPr marL="657954" indent="-657954"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00B0F0"/>
                </a:solidFill>
                <a:latin typeface="Liberation Serif" panose="02020603050405020304" pitchFamily="18" charset="0"/>
                <a:ea typeface="+mj-ea"/>
                <a:cs typeface="Liberation Serif" panose="02020603050405020304" pitchFamily="18" charset="0"/>
              </a:defRPr>
            </a:lvl1pPr>
          </a:lstStyle>
          <a:p>
            <a:pPr algn="ctr"/>
            <a:r>
              <a:rPr lang="de-DE" sz="4400" dirty="0">
                <a:solidFill>
                  <a:srgbClr val="36B7B3"/>
                </a:solidFill>
              </a:rPr>
              <a:t>Daily </a:t>
            </a:r>
            <a:r>
              <a:rPr lang="de-DE" sz="4400" dirty="0" err="1">
                <a:solidFill>
                  <a:srgbClr val="36B7B3"/>
                </a:solidFill>
              </a:rPr>
              <a:t>Reminder</a:t>
            </a:r>
            <a:endParaRPr lang="de-DE" sz="4400" dirty="0">
              <a:solidFill>
                <a:srgbClr val="36B7B3"/>
              </a:solidFill>
            </a:endParaRPr>
          </a:p>
          <a:p>
            <a:pPr algn="ctr"/>
            <a:r>
              <a:rPr lang="de-DE" sz="2800" dirty="0">
                <a:solidFill>
                  <a:srgbClr val="36B7B3"/>
                </a:solidFill>
              </a:rPr>
              <a:t>Die Big 5 der mentalen Gesundheit</a:t>
            </a:r>
            <a:endParaRPr lang="de-DE" sz="4000" dirty="0">
              <a:solidFill>
                <a:srgbClr val="36B7B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1708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ahmen 8">
            <a:extLst>
              <a:ext uri="{FF2B5EF4-FFF2-40B4-BE49-F238E27FC236}">
                <a16:creationId xmlns:a16="http://schemas.microsoft.com/office/drawing/2014/main" id="{5185592E-B8A2-409D-BC66-263D61D548E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4964"/>
            </a:avLst>
          </a:prstGeom>
          <a:solidFill>
            <a:srgbClr val="C40C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D4430FA-346B-4479-85C8-F6DD5B924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05" y="357179"/>
            <a:ext cx="940343" cy="964803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5ED3D7DF-33BF-4F18-BDDA-953750CDA32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9575" t="22596" r="3531" b="59144"/>
          <a:stretch/>
        </p:blipFill>
        <p:spPr>
          <a:xfrm>
            <a:off x="3856734" y="2057400"/>
            <a:ext cx="4469496" cy="4292600"/>
          </a:xfrm>
          <a:prstGeom prst="ellipse">
            <a:avLst/>
          </a:prstGeom>
        </p:spPr>
      </p:pic>
      <p:sp>
        <p:nvSpPr>
          <p:cNvPr id="6" name="Titel 2">
            <a:extLst>
              <a:ext uri="{FF2B5EF4-FFF2-40B4-BE49-F238E27FC236}">
                <a16:creationId xmlns:a16="http://schemas.microsoft.com/office/drawing/2014/main" id="{ECA54AFC-0BEC-449B-92D5-2CB1D975A3D5}"/>
              </a:ext>
            </a:extLst>
          </p:cNvPr>
          <p:cNvSpPr txBox="1">
            <a:spLocks/>
          </p:cNvSpPr>
          <p:nvPr/>
        </p:nvSpPr>
        <p:spPr bwMode="auto">
          <a:xfrm>
            <a:off x="624148" y="877840"/>
            <a:ext cx="10943704" cy="776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11" rIns="91420" bIns="45711" numCol="1" anchor="ctr" anchorCtr="0" compatLnSpc="1">
            <a:prstTxWarp prst="textNoShape">
              <a:avLst/>
            </a:prstTxWarp>
            <a:noAutofit/>
          </a:bodyPr>
          <a:lstStyle>
            <a:lvl1pPr marL="657954" indent="-657954"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00B0F0"/>
                </a:solidFill>
                <a:latin typeface="Liberation Serif" panose="02020603050405020304" pitchFamily="18" charset="0"/>
                <a:ea typeface="+mj-ea"/>
                <a:cs typeface="Liberation Serif" panose="02020603050405020304" pitchFamily="18" charset="0"/>
              </a:defRPr>
            </a:lvl1pPr>
          </a:lstStyle>
          <a:p>
            <a:pPr algn="ctr"/>
            <a:r>
              <a:rPr lang="de-DE" sz="4400" dirty="0">
                <a:solidFill>
                  <a:srgbClr val="C51343"/>
                </a:solidFill>
              </a:rPr>
              <a:t>Daily </a:t>
            </a:r>
            <a:r>
              <a:rPr lang="de-DE" sz="4400" dirty="0" err="1">
                <a:solidFill>
                  <a:srgbClr val="C51343"/>
                </a:solidFill>
              </a:rPr>
              <a:t>Reminder</a:t>
            </a:r>
            <a:endParaRPr lang="de-DE" sz="4400" dirty="0">
              <a:solidFill>
                <a:srgbClr val="C51343"/>
              </a:solidFill>
            </a:endParaRPr>
          </a:p>
          <a:p>
            <a:pPr algn="ctr"/>
            <a:r>
              <a:rPr lang="de-DE" sz="2800" dirty="0">
                <a:solidFill>
                  <a:srgbClr val="C51343"/>
                </a:solidFill>
              </a:rPr>
              <a:t>Die Big 5 der mentalen Gesundheit</a:t>
            </a:r>
            <a:endParaRPr lang="de-DE" sz="4000" dirty="0">
              <a:solidFill>
                <a:srgbClr val="C5134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8861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</Words>
  <Application>Microsoft Office PowerPoint</Application>
  <PresentationFormat>Breitbild</PresentationFormat>
  <Paragraphs>15</Paragraphs>
  <Slides>7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Liberation Serif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Graf, Maike</dc:creator>
  <cp:lastModifiedBy>Graf, Maike</cp:lastModifiedBy>
  <cp:revision>3</cp:revision>
  <dcterms:created xsi:type="dcterms:W3CDTF">2025-03-27T09:58:29Z</dcterms:created>
  <dcterms:modified xsi:type="dcterms:W3CDTF">2025-03-27T10:16:35Z</dcterms:modified>
</cp:coreProperties>
</file>