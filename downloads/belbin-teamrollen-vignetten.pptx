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B6B4"/>
    <a:srgbClr val="FBBA00"/>
    <a:srgbClr val="A2C617"/>
    <a:srgbClr val="DC94C0"/>
    <a:srgbClr val="FEC54D"/>
    <a:srgbClr val="B7D876"/>
    <a:srgbClr val="8DCECA"/>
    <a:srgbClr val="00AEEF"/>
    <a:srgbClr val="C40C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2429C-A70A-4032-B788-64690A6FD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753652-F344-449A-9115-37DAEC7AA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3F3FC8-A6FE-4624-920B-7DDA64CB1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029E3D-0AA4-44F1-826A-8DBA6B1F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BF19AC-F726-4CF2-9A74-10909C86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570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A3627C-7A40-4F33-B1C3-E6FC7625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4A4B2A-CCF3-4B42-9782-44A59B8D8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70A7CC-613A-4EE4-9B4D-5840ABBE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10EF5B-5100-423E-B428-5BCEF271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3783E9-DF93-43F0-8872-50BA3434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820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FBE93E-B272-46F3-9979-67650E6B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682B72-902A-42D8-9EA0-F8B3828DC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C57DBD-5D8F-4ED7-A70D-ACA2654C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2A871F-060E-4CE0-98E7-706EFDF8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3BEACB-A04E-4DD0-BF9D-BD3841A2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969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B923F8-2C64-4675-9BF9-8515B390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144C64-457B-416A-8414-AFBB83A81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2E0ECE-9F54-43E6-90AF-9FB4C4D2B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F851E0-7422-475B-93FA-A1FEB141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9D765C-AA06-45FB-A183-4AB8698B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209C2A-6DC7-4A96-8131-316C0D96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61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229B8-D7E6-4AE9-84FF-FCABD17C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FBD517-4F66-4E38-9B30-C5215077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D71F5BC-7583-4AE3-A5C9-CA4E3E814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0644A2-0EF9-475B-AC09-081980371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97534D5-ED1D-4A21-B3EA-709F6DE7E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C4CAB02-62EE-4C3F-A7DA-9CC3417D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7F280D6-78A8-45E7-BD21-A2F2FE5C1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081D4CF-5761-4AE3-962A-FC707F64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1450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C1D7EE-7270-4C2F-864D-0BCF68F2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EFFC570-AE97-491E-B0A8-858F1646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1EAD05-6C45-48D7-8292-4C8701B64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34B291-434F-4988-B880-B010B9C2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063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85BFE1F-5132-4876-8D33-EE65E620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55F5070-D5E7-4B50-974A-598C9CB1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F381DC-D4E0-42C8-B20D-AF36F2C4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785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AC7C7-0736-4598-BCD4-385E02054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11F859-8027-4E3B-BF53-86ED98414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78F97C-CCA3-44C2-AD11-45028B2F2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460E3F-191F-432E-BC64-F0004CC7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F962AA-1008-4D0F-9D42-CA6B0413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EBF777-AD6D-4336-BA8B-C902E069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86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2A99F-55C6-4F16-A3B8-4B1B76C36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EF85AC-4F01-42A1-8FB4-1E28786E2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753537-01F1-42A3-B4D9-BB6E5BF97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02ABC8-A23B-4078-9810-E24DC1C3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85A036-37AD-4EE0-AB28-6EE00387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0FE5B0-4155-4502-A3AA-D20E438A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3B266-5630-4AA1-BDE6-6F2D9CF7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C54510E-B854-43E7-92B2-3B3B9EBD0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803547-A325-4B73-9745-5C7D6BAB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91BA81-C16A-406E-A718-586D2818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3686B0-9500-45D5-B341-100015B8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481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F9302F4-C2DE-49A4-9DC3-0700E4250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917B79-A9F7-4479-8A0D-7E4545D1A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58866A-ECA3-48F4-92DD-8EF4EC1A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880020-8DC4-4051-86FE-EA0ACFC0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7B6A99-B7ED-4E05-AF19-9CB3F57C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937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1C5B100-BBC3-426A-8824-6A21AD09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F928E5-ED11-4799-902D-535E4E210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861AE8-7154-4C0E-A4B9-34D151C60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9547F-2545-42C8-A187-6CBAA886342C}" type="datetimeFigureOut">
              <a:rPr lang="de-DE" smtClean="0"/>
              <a:t>30.03.2025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E7055C-FED8-4C08-B997-A735293EB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BA6E49-CE15-4770-A907-0A95DE3E6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D2037-2FD9-4076-BEE7-B88B99C7BD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08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ADDD0D6-5FEA-4C1C-B127-50CC5150742B}"/>
              </a:ext>
            </a:extLst>
          </p:cNvPr>
          <p:cNvSpPr txBox="1"/>
          <p:nvPr/>
        </p:nvSpPr>
        <p:spPr>
          <a:xfrm>
            <a:off x="856648" y="423512"/>
            <a:ext cx="10462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Liberation Serif" panose="02020603050405020304" pitchFamily="18" charset="0"/>
              </a:rPr>
              <a:t>Kategorie 1: Kommunikationsorientierte Rollen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946481B-A0D6-4620-98DA-D6C162B6FF29}"/>
              </a:ext>
            </a:extLst>
          </p:cNvPr>
          <p:cNvSpPr/>
          <p:nvPr/>
        </p:nvSpPr>
        <p:spPr>
          <a:xfrm>
            <a:off x="521537" y="1468133"/>
            <a:ext cx="3542097" cy="4523874"/>
          </a:xfrm>
          <a:prstGeom prst="rect">
            <a:avLst/>
          </a:prstGeom>
          <a:solidFill>
            <a:srgbClr val="A2C6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FC8084E2-5F2C-4780-8213-793176DE9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794" y="1468133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BD7AE384-B9EA-4F56-9757-CEDA72A22FE3}"/>
              </a:ext>
            </a:extLst>
          </p:cNvPr>
          <p:cNvSpPr txBox="1"/>
          <p:nvPr/>
        </p:nvSpPr>
        <p:spPr>
          <a:xfrm>
            <a:off x="596766" y="3299739"/>
            <a:ext cx="33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 err="1">
                <a:latin typeface="Liberation Serif" panose="02020603050405020304" pitchFamily="18" charset="0"/>
              </a:rPr>
              <a:t>Teamarbeiter:in</a:t>
            </a:r>
            <a:endParaRPr lang="de-DE" sz="1800" dirty="0">
              <a:latin typeface="Liberation Serif" panose="02020603050405020304" pitchFamily="18" charset="0"/>
            </a:endParaRPr>
          </a:p>
          <a:p>
            <a:pPr algn="ctr"/>
            <a:r>
              <a:rPr lang="de-DE" dirty="0">
                <a:latin typeface="Liberation Serif" panose="02020603050405020304" pitchFamily="18" charset="0"/>
              </a:rPr>
              <a:t>(Kategorie Kommunikation)</a:t>
            </a:r>
            <a:endParaRPr lang="de-DE" sz="1800" dirty="0">
              <a:latin typeface="Liberation Serif" panose="02020603050405020304" pitchFamily="18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DD6D0D8-9C2F-458B-8E14-A183E9A53E7F}"/>
              </a:ext>
            </a:extLst>
          </p:cNvPr>
          <p:cNvSpPr txBox="1"/>
          <p:nvPr/>
        </p:nvSpPr>
        <p:spPr>
          <a:xfrm>
            <a:off x="772326" y="5185137"/>
            <a:ext cx="302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… </a:t>
            </a: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hört zu und fördert Zusammenarbeit.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77C678B-601D-4552-AD64-665F426FA525}"/>
              </a:ext>
            </a:extLst>
          </p:cNvPr>
          <p:cNvSpPr txBox="1"/>
          <p:nvPr/>
        </p:nvSpPr>
        <p:spPr>
          <a:xfrm>
            <a:off x="1340518" y="4088698"/>
            <a:ext cx="18871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Umgänglich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Einsichtig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Diplomatisch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6A17982-EE6F-41A1-BD27-D691E5B9589E}"/>
              </a:ext>
            </a:extLst>
          </p:cNvPr>
          <p:cNvSpPr/>
          <p:nvPr/>
        </p:nvSpPr>
        <p:spPr>
          <a:xfrm>
            <a:off x="4314423" y="1468133"/>
            <a:ext cx="3542097" cy="4523874"/>
          </a:xfrm>
          <a:prstGeom prst="rect">
            <a:avLst/>
          </a:prstGeom>
          <a:solidFill>
            <a:srgbClr val="A2C6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F4DF56D-0D5F-48E5-BB8E-E1DAC73E1DF9}"/>
              </a:ext>
            </a:extLst>
          </p:cNvPr>
          <p:cNvSpPr txBox="1"/>
          <p:nvPr/>
        </p:nvSpPr>
        <p:spPr>
          <a:xfrm>
            <a:off x="4398142" y="3292119"/>
            <a:ext cx="33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 err="1">
                <a:latin typeface="Liberation Serif" panose="02020603050405020304" pitchFamily="18" charset="0"/>
              </a:rPr>
              <a:t>Wegbereiter:in</a:t>
            </a:r>
            <a:endParaRPr lang="de-DE" sz="1800" dirty="0">
              <a:latin typeface="Liberation Serif" panose="02020603050405020304" pitchFamily="18" charset="0"/>
            </a:endParaRPr>
          </a:p>
          <a:p>
            <a:pPr algn="ctr"/>
            <a:r>
              <a:rPr lang="de-DE" dirty="0">
                <a:latin typeface="Liberation Serif" panose="02020603050405020304" pitchFamily="18" charset="0"/>
              </a:rPr>
              <a:t>(Kategorie Kommunikation)</a:t>
            </a:r>
            <a:endParaRPr lang="de-DE" sz="1800" dirty="0">
              <a:latin typeface="Liberation Serif" panose="02020603050405020304" pitchFamily="18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CBFE6DEB-D614-4288-BA01-666C387419F1}"/>
              </a:ext>
            </a:extLst>
          </p:cNvPr>
          <p:cNvSpPr txBox="1"/>
          <p:nvPr/>
        </p:nvSpPr>
        <p:spPr>
          <a:xfrm>
            <a:off x="4398142" y="5178852"/>
            <a:ext cx="3265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… erforscht Möglichkeiten</a:t>
            </a: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 </a:t>
            </a: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und entwickelt Kontakte.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3632C4E-6637-4529-B0D1-4954D78294EC}"/>
              </a:ext>
            </a:extLst>
          </p:cNvPr>
          <p:cNvSpPr txBox="1"/>
          <p:nvPr/>
        </p:nvSpPr>
        <p:spPr>
          <a:xfrm>
            <a:off x="4882615" y="4088698"/>
            <a:ext cx="27146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Kommunikativ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Enthusiastisch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Nach außen orientiert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5E4DE61-76A9-49FB-8879-62D2C043FB30}"/>
              </a:ext>
            </a:extLst>
          </p:cNvPr>
          <p:cNvSpPr/>
          <p:nvPr/>
        </p:nvSpPr>
        <p:spPr>
          <a:xfrm>
            <a:off x="8128366" y="1460513"/>
            <a:ext cx="3542097" cy="4523874"/>
          </a:xfrm>
          <a:prstGeom prst="rect">
            <a:avLst/>
          </a:prstGeom>
          <a:solidFill>
            <a:srgbClr val="A2C6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2F91265-AD7F-45EF-85C7-AA0FC1C75740}"/>
              </a:ext>
            </a:extLst>
          </p:cNvPr>
          <p:cNvSpPr txBox="1"/>
          <p:nvPr/>
        </p:nvSpPr>
        <p:spPr>
          <a:xfrm>
            <a:off x="8212085" y="3284499"/>
            <a:ext cx="33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 err="1">
                <a:latin typeface="Liberation Serif" panose="02020603050405020304" pitchFamily="18" charset="0"/>
              </a:rPr>
              <a:t>Koordinator:in</a:t>
            </a:r>
            <a:endParaRPr lang="de-DE" sz="1800" dirty="0">
              <a:latin typeface="Liberation Serif" panose="02020603050405020304" pitchFamily="18" charset="0"/>
            </a:endParaRPr>
          </a:p>
          <a:p>
            <a:pPr algn="ctr"/>
            <a:r>
              <a:rPr lang="de-DE" dirty="0">
                <a:latin typeface="Liberation Serif" panose="02020603050405020304" pitchFamily="18" charset="0"/>
              </a:rPr>
              <a:t>(Kategorie Kommunikation)</a:t>
            </a:r>
            <a:endParaRPr lang="de-DE" sz="1800" dirty="0">
              <a:latin typeface="Liberation Serif" panose="02020603050405020304" pitchFamily="18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04376F85-A3AE-41F6-8EF7-C4AB60E9DFD1}"/>
              </a:ext>
            </a:extLst>
          </p:cNvPr>
          <p:cNvSpPr txBox="1"/>
          <p:nvPr/>
        </p:nvSpPr>
        <p:spPr>
          <a:xfrm>
            <a:off x="8387645" y="5169897"/>
            <a:ext cx="302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… erklärt Ziele und delegiert wirksam.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6085E30-27FD-4253-AAF4-689ACDCCD8A8}"/>
              </a:ext>
            </a:extLst>
          </p:cNvPr>
          <p:cNvSpPr txBox="1"/>
          <p:nvPr/>
        </p:nvSpPr>
        <p:spPr>
          <a:xfrm>
            <a:off x="8808965" y="4088698"/>
            <a:ext cx="21808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Zuversichtlich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Reif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Erkennt Talente</a:t>
            </a:r>
            <a:endParaRPr lang="de-DE" dirty="0">
              <a:latin typeface="Liberation Serif" panose="02020603050405020304" pitchFamily="18" charset="0"/>
            </a:endParaRPr>
          </a:p>
        </p:txBody>
      </p:sp>
      <p:pic>
        <p:nvPicPr>
          <p:cNvPr id="39" name="Picture 6">
            <a:extLst>
              <a:ext uri="{FF2B5EF4-FFF2-40B4-BE49-F238E27FC236}">
                <a16:creationId xmlns:a16="http://schemas.microsoft.com/office/drawing/2014/main" id="{9F5E45A2-A40E-4C62-8F00-6CB55C7EC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169" y="1452893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>
            <a:extLst>
              <a:ext uri="{FF2B5EF4-FFF2-40B4-BE49-F238E27FC236}">
                <a16:creationId xmlns:a16="http://schemas.microsoft.com/office/drawing/2014/main" id="{B821B970-D044-4A58-AD4E-E37E1610E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117" y="1452893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5F626F0D-A3E1-4E03-BB90-CB8979F0A87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165"/>
          <a:stretch/>
        </p:blipFill>
        <p:spPr>
          <a:xfrm>
            <a:off x="10820935" y="9625"/>
            <a:ext cx="1364918" cy="127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8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ADDD0D6-5FEA-4C1C-B127-50CC5150742B}"/>
              </a:ext>
            </a:extLst>
          </p:cNvPr>
          <p:cNvSpPr txBox="1"/>
          <p:nvPr/>
        </p:nvSpPr>
        <p:spPr>
          <a:xfrm>
            <a:off x="856648" y="423512"/>
            <a:ext cx="10462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Liberation Serif" panose="02020603050405020304" pitchFamily="18" charset="0"/>
              </a:rPr>
              <a:t>Kategorie 2: Wissensorientierte Rollen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FBD2AE47-4282-4CF0-B04A-02E8A22416EB}"/>
              </a:ext>
            </a:extLst>
          </p:cNvPr>
          <p:cNvSpPr/>
          <p:nvPr/>
        </p:nvSpPr>
        <p:spPr>
          <a:xfrm>
            <a:off x="522670" y="1482291"/>
            <a:ext cx="3542097" cy="452387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E04079A-AA33-4695-BE3E-7550ECF94C87}"/>
              </a:ext>
            </a:extLst>
          </p:cNvPr>
          <p:cNvSpPr txBox="1"/>
          <p:nvPr/>
        </p:nvSpPr>
        <p:spPr>
          <a:xfrm>
            <a:off x="606391" y="3329137"/>
            <a:ext cx="33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 err="1">
                <a:latin typeface="Liberation Serif" panose="02020603050405020304" pitchFamily="18" charset="0"/>
              </a:rPr>
              <a:t>Beobachter:in</a:t>
            </a:r>
            <a:endParaRPr lang="de-DE" sz="1800" dirty="0">
              <a:latin typeface="Liberation Serif" panose="02020603050405020304" pitchFamily="18" charset="0"/>
            </a:endParaRPr>
          </a:p>
          <a:p>
            <a:pPr algn="ctr"/>
            <a:r>
              <a:rPr lang="de-DE" dirty="0">
                <a:latin typeface="Liberation Serif" panose="02020603050405020304" pitchFamily="18" charset="0"/>
              </a:rPr>
              <a:t>(Kategorie Wissen)</a:t>
            </a:r>
            <a:endParaRPr lang="de-DE" sz="1800" dirty="0">
              <a:latin typeface="Liberation Serif" panose="02020603050405020304" pitchFamily="18" charset="0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03DCC5C-4189-47D4-A114-8ACD9265FF04}"/>
              </a:ext>
            </a:extLst>
          </p:cNvPr>
          <p:cNvSpPr txBox="1"/>
          <p:nvPr/>
        </p:nvSpPr>
        <p:spPr>
          <a:xfrm>
            <a:off x="781951" y="5214535"/>
            <a:ext cx="302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… sieht alle Möglichkeiten und urteilt genau.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9CFA5C9B-0B87-40F5-BE23-57140041CA08}"/>
              </a:ext>
            </a:extLst>
          </p:cNvPr>
          <p:cNvSpPr txBox="1"/>
          <p:nvPr/>
        </p:nvSpPr>
        <p:spPr>
          <a:xfrm>
            <a:off x="1350143" y="4133336"/>
            <a:ext cx="18871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Strategisch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Meint es ernst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Urteilsfähig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159F5D1-A31A-4ADB-B355-8EE698E7BFB7}"/>
              </a:ext>
            </a:extLst>
          </p:cNvPr>
          <p:cNvSpPr/>
          <p:nvPr/>
        </p:nvSpPr>
        <p:spPr>
          <a:xfrm>
            <a:off x="4324048" y="1497531"/>
            <a:ext cx="3542097" cy="452387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C4EDA35D-4F23-4F94-89EF-37380B7F5E0D}"/>
              </a:ext>
            </a:extLst>
          </p:cNvPr>
          <p:cNvSpPr txBox="1"/>
          <p:nvPr/>
        </p:nvSpPr>
        <p:spPr>
          <a:xfrm>
            <a:off x="4407767" y="3321517"/>
            <a:ext cx="33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 err="1">
                <a:latin typeface="Liberation Serif" panose="02020603050405020304" pitchFamily="18" charset="0"/>
              </a:rPr>
              <a:t>Spezialist:in</a:t>
            </a:r>
            <a:endParaRPr lang="de-DE" sz="1800" dirty="0">
              <a:latin typeface="Liberation Serif" panose="02020603050405020304" pitchFamily="18" charset="0"/>
            </a:endParaRPr>
          </a:p>
          <a:p>
            <a:pPr algn="ctr"/>
            <a:r>
              <a:rPr lang="de-DE" dirty="0">
                <a:latin typeface="Liberation Serif" panose="02020603050405020304" pitchFamily="18" charset="0"/>
              </a:rPr>
              <a:t>(Kategorie Wissen)</a:t>
            </a:r>
            <a:endParaRPr lang="de-DE" sz="1800" dirty="0">
              <a:latin typeface="Liberation Serif" panose="02020603050405020304" pitchFamily="18" charset="0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DADA7593-32EE-4970-833A-BEE850B8C5F3}"/>
              </a:ext>
            </a:extLst>
          </p:cNvPr>
          <p:cNvSpPr txBox="1"/>
          <p:nvPr/>
        </p:nvSpPr>
        <p:spPr>
          <a:xfrm>
            <a:off x="4236263" y="5219632"/>
            <a:ext cx="37176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… liefert Informationen und Wissen, das sonst kaum verfügbar ist.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D8707F5F-A4B9-4A9C-87C4-2BE5B570EA81}"/>
              </a:ext>
            </a:extLst>
          </p:cNvPr>
          <p:cNvSpPr txBox="1"/>
          <p:nvPr/>
        </p:nvSpPr>
        <p:spPr>
          <a:xfrm>
            <a:off x="4731499" y="4115426"/>
            <a:ext cx="27271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Selbstbezogen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Engagiert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Fachwissen zugewandt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52F63FCF-48E6-4542-9888-E0F100937FCB}"/>
              </a:ext>
            </a:extLst>
          </p:cNvPr>
          <p:cNvSpPr/>
          <p:nvPr/>
        </p:nvSpPr>
        <p:spPr>
          <a:xfrm>
            <a:off x="8137991" y="1489911"/>
            <a:ext cx="3542097" cy="452387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7EBF5D68-1A85-4660-8D60-42062E683A25}"/>
              </a:ext>
            </a:extLst>
          </p:cNvPr>
          <p:cNvSpPr txBox="1"/>
          <p:nvPr/>
        </p:nvSpPr>
        <p:spPr>
          <a:xfrm>
            <a:off x="8221710" y="3313897"/>
            <a:ext cx="33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 err="1">
                <a:latin typeface="Liberation Serif" panose="02020603050405020304" pitchFamily="18" charset="0"/>
              </a:rPr>
              <a:t>Erfinder:in</a:t>
            </a:r>
            <a:endParaRPr lang="de-DE" sz="1800" dirty="0">
              <a:latin typeface="Liberation Serif" panose="02020603050405020304" pitchFamily="18" charset="0"/>
            </a:endParaRPr>
          </a:p>
          <a:p>
            <a:pPr algn="ctr"/>
            <a:r>
              <a:rPr lang="de-DE" dirty="0">
                <a:latin typeface="Liberation Serif" panose="02020603050405020304" pitchFamily="18" charset="0"/>
              </a:rPr>
              <a:t>(Kategorie Wissen)</a:t>
            </a:r>
            <a:endParaRPr lang="de-DE" sz="1800" dirty="0">
              <a:latin typeface="Liberation Serif" panose="02020603050405020304" pitchFamily="18" charset="0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D2F43E9-B517-44A0-833B-D190ED46181A}"/>
              </a:ext>
            </a:extLst>
          </p:cNvPr>
          <p:cNvSpPr txBox="1"/>
          <p:nvPr/>
        </p:nvSpPr>
        <p:spPr>
          <a:xfrm>
            <a:off x="8397270" y="5199295"/>
            <a:ext cx="302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… generiert Ideen und löst schwierige Probleme.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29CACA0-9F95-4044-8DE4-903CC0847E72}"/>
              </a:ext>
            </a:extLst>
          </p:cNvPr>
          <p:cNvSpPr txBox="1"/>
          <p:nvPr/>
        </p:nvSpPr>
        <p:spPr>
          <a:xfrm>
            <a:off x="8965462" y="4118096"/>
            <a:ext cx="18871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Kreativ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Phantasievoll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Zielgerichtet</a:t>
            </a:r>
            <a:endParaRPr lang="de-DE" dirty="0">
              <a:latin typeface="Liberation Serif" panose="02020603050405020304" pitchFamily="18" charset="0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40F8FB3F-4964-4D98-BA11-8AFBAFBEE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419" y="1482291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4">
            <a:extLst>
              <a:ext uri="{FF2B5EF4-FFF2-40B4-BE49-F238E27FC236}">
                <a16:creationId xmlns:a16="http://schemas.microsoft.com/office/drawing/2014/main" id="{3B4AAD09-F4E2-4D92-BBB0-C8CC343EF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793" y="1509162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6">
            <a:extLst>
              <a:ext uri="{FF2B5EF4-FFF2-40B4-BE49-F238E27FC236}">
                <a16:creationId xmlns:a16="http://schemas.microsoft.com/office/drawing/2014/main" id="{450188B6-D384-47B5-876A-EE1606816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739" y="1482291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5A2E242D-F2A5-481E-A130-729CD15AC7A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165"/>
          <a:stretch/>
        </p:blipFill>
        <p:spPr>
          <a:xfrm>
            <a:off x="10820935" y="9625"/>
            <a:ext cx="1364918" cy="127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4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1A16C2F-1713-4B0E-8DA6-F3BCACB5942D}"/>
              </a:ext>
            </a:extLst>
          </p:cNvPr>
          <p:cNvSpPr/>
          <p:nvPr/>
        </p:nvSpPr>
        <p:spPr>
          <a:xfrm>
            <a:off x="529390" y="1469056"/>
            <a:ext cx="3542097" cy="4546734"/>
          </a:xfrm>
          <a:prstGeom prst="rect">
            <a:avLst/>
          </a:prstGeom>
          <a:solidFill>
            <a:srgbClr val="35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ADDD0D6-5FEA-4C1C-B127-50CC5150742B}"/>
              </a:ext>
            </a:extLst>
          </p:cNvPr>
          <p:cNvSpPr txBox="1"/>
          <p:nvPr/>
        </p:nvSpPr>
        <p:spPr>
          <a:xfrm>
            <a:off x="856648" y="423512"/>
            <a:ext cx="10462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Liberation Serif" panose="02020603050405020304" pitchFamily="18" charset="0"/>
              </a:rPr>
              <a:t>Kategorie 3: Handlungsorientierte Rollen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4FC3E03-F6BC-4C52-8B46-577332C8891F}"/>
              </a:ext>
            </a:extLst>
          </p:cNvPr>
          <p:cNvSpPr txBox="1"/>
          <p:nvPr/>
        </p:nvSpPr>
        <p:spPr>
          <a:xfrm>
            <a:off x="613109" y="3328602"/>
            <a:ext cx="33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 err="1">
                <a:latin typeface="Liberation Serif" panose="02020603050405020304" pitchFamily="18" charset="0"/>
              </a:rPr>
              <a:t>Umsetzer:in</a:t>
            </a:r>
            <a:endParaRPr lang="de-DE" sz="1800" dirty="0">
              <a:latin typeface="Liberation Serif" panose="02020603050405020304" pitchFamily="18" charset="0"/>
            </a:endParaRPr>
          </a:p>
          <a:p>
            <a:pPr algn="ctr"/>
            <a:r>
              <a:rPr lang="de-DE" dirty="0">
                <a:latin typeface="Liberation Serif" panose="02020603050405020304" pitchFamily="18" charset="0"/>
              </a:rPr>
              <a:t>(Kategorie Handlung)</a:t>
            </a:r>
            <a:endParaRPr lang="de-DE" sz="1800" dirty="0">
              <a:latin typeface="Liberation Serif" panose="02020603050405020304" pitchFamily="18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AF9C3D1-08AA-40D6-9944-09C14CD57149}"/>
              </a:ext>
            </a:extLst>
          </p:cNvPr>
          <p:cNvSpPr txBox="1"/>
          <p:nvPr/>
        </p:nvSpPr>
        <p:spPr>
          <a:xfrm>
            <a:off x="598738" y="5186059"/>
            <a:ext cx="3374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… setzt Ideen in Aktionen um und organisiert die anstehende Arbeit.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8025D13-CB74-4DC9-9BA9-94EDF90DA7EF}"/>
              </a:ext>
            </a:extLst>
          </p:cNvPr>
          <p:cNvSpPr txBox="1"/>
          <p:nvPr/>
        </p:nvSpPr>
        <p:spPr>
          <a:xfrm>
            <a:off x="1356861" y="4120101"/>
            <a:ext cx="18871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Praktisch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Effizient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Zuverlässig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82FC2D0-C7CF-47DD-B4D1-A271C02A9978}"/>
              </a:ext>
            </a:extLst>
          </p:cNvPr>
          <p:cNvSpPr/>
          <p:nvPr/>
        </p:nvSpPr>
        <p:spPr>
          <a:xfrm>
            <a:off x="4330766" y="1484296"/>
            <a:ext cx="3542097" cy="4523874"/>
          </a:xfrm>
          <a:prstGeom prst="rect">
            <a:avLst/>
          </a:prstGeom>
          <a:solidFill>
            <a:srgbClr val="35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4220C41-9AAE-4501-8F48-390FB51827E0}"/>
              </a:ext>
            </a:extLst>
          </p:cNvPr>
          <p:cNvSpPr txBox="1"/>
          <p:nvPr/>
        </p:nvSpPr>
        <p:spPr>
          <a:xfrm>
            <a:off x="4414485" y="3308282"/>
            <a:ext cx="33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 err="1">
                <a:latin typeface="Liberation Serif" panose="02020603050405020304" pitchFamily="18" charset="0"/>
              </a:rPr>
              <a:t>Perfektionist:in</a:t>
            </a:r>
            <a:endParaRPr lang="de-DE" sz="1800" dirty="0">
              <a:latin typeface="Liberation Serif" panose="02020603050405020304" pitchFamily="18" charset="0"/>
            </a:endParaRPr>
          </a:p>
          <a:p>
            <a:pPr algn="ctr"/>
            <a:r>
              <a:rPr lang="de-DE" dirty="0">
                <a:latin typeface="Liberation Serif" panose="02020603050405020304" pitchFamily="18" charset="0"/>
              </a:rPr>
              <a:t>(Kategorie Handlung)</a:t>
            </a:r>
            <a:endParaRPr lang="de-DE" sz="1800" dirty="0">
              <a:latin typeface="Liberation Serif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9F3AF51-1152-4770-8050-A5452513D4A7}"/>
              </a:ext>
            </a:extLst>
          </p:cNvPr>
          <p:cNvSpPr txBox="1"/>
          <p:nvPr/>
        </p:nvSpPr>
        <p:spPr>
          <a:xfrm>
            <a:off x="4224887" y="5186058"/>
            <a:ext cx="3753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… deckt Fehler auf und liefert pünktlich.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01CEC11-429D-4B48-9718-FD60B50E842E}"/>
              </a:ext>
            </a:extLst>
          </p:cNvPr>
          <p:cNvSpPr txBox="1"/>
          <p:nvPr/>
        </p:nvSpPr>
        <p:spPr>
          <a:xfrm>
            <a:off x="5158237" y="4112481"/>
            <a:ext cx="18871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Gewissenhaft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Zuverlässig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Ängstlich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A8BCE9E-248D-42E7-BE5C-BB5C75CC1413}"/>
              </a:ext>
            </a:extLst>
          </p:cNvPr>
          <p:cNvSpPr/>
          <p:nvPr/>
        </p:nvSpPr>
        <p:spPr>
          <a:xfrm>
            <a:off x="8144709" y="1476676"/>
            <a:ext cx="3542097" cy="4523874"/>
          </a:xfrm>
          <a:prstGeom prst="rect">
            <a:avLst/>
          </a:prstGeom>
          <a:solidFill>
            <a:srgbClr val="35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D689A26-1C57-4075-83AB-9C0983754B5B}"/>
              </a:ext>
            </a:extLst>
          </p:cNvPr>
          <p:cNvSpPr txBox="1"/>
          <p:nvPr/>
        </p:nvSpPr>
        <p:spPr>
          <a:xfrm>
            <a:off x="8228428" y="3300662"/>
            <a:ext cx="33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 err="1">
                <a:latin typeface="Liberation Serif" panose="02020603050405020304" pitchFamily="18" charset="0"/>
              </a:rPr>
              <a:t>Macher:in</a:t>
            </a:r>
            <a:endParaRPr lang="de-DE" sz="1800" dirty="0">
              <a:latin typeface="Liberation Serif" panose="02020603050405020304" pitchFamily="18" charset="0"/>
            </a:endParaRPr>
          </a:p>
          <a:p>
            <a:pPr algn="ctr"/>
            <a:r>
              <a:rPr lang="de-DE" dirty="0">
                <a:latin typeface="Liberation Serif" panose="02020603050405020304" pitchFamily="18" charset="0"/>
              </a:rPr>
              <a:t>(Kategorie Handlung)</a:t>
            </a:r>
            <a:endParaRPr lang="de-DE" sz="1800" dirty="0">
              <a:latin typeface="Liberation Serif" panose="02020603050405020304" pitchFamily="18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EA9C4DD-1E48-47EB-8C75-5421FD5248EE}"/>
              </a:ext>
            </a:extLst>
          </p:cNvPr>
          <p:cNvSpPr txBox="1"/>
          <p:nvPr/>
        </p:nvSpPr>
        <p:spPr>
          <a:xfrm>
            <a:off x="8403988" y="5186060"/>
            <a:ext cx="302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… hat den Antrieb und Mut, Hindernisse zu überwinden.</a:t>
            </a:r>
            <a:endParaRPr lang="de-DE" dirty="0">
              <a:latin typeface="Liberation Serif" panose="02020603050405020304" pitchFamily="18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64E9DFA9-A69E-4BFD-8AB7-84D346124179}"/>
              </a:ext>
            </a:extLst>
          </p:cNvPr>
          <p:cNvSpPr txBox="1"/>
          <p:nvPr/>
        </p:nvSpPr>
        <p:spPr>
          <a:xfrm>
            <a:off x="8901008" y="4104861"/>
            <a:ext cx="20294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effectLst/>
                <a:latin typeface="Liberation Serif" panose="02020603050405020304" pitchFamily="18" charset="0"/>
              </a:rPr>
              <a:t>Dynamisch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Macht Druck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Liberation Serif" panose="02020603050405020304" pitchFamily="18" charset="0"/>
              </a:rPr>
              <a:t>Herausfordernd</a:t>
            </a:r>
            <a:endParaRPr lang="de-DE" dirty="0">
              <a:latin typeface="Liberation Serif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16142DC-5374-4210-8CC6-7F1CCD015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099" y="1512918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0F5CAA8-73CD-4AA4-A1E4-34F3AB48C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513" y="1484296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6187012-AA3D-47CB-A980-F31EE4678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459" y="1469056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EB005EC4-9101-43D1-B375-543A8BCB9C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165"/>
          <a:stretch/>
        </p:blipFill>
        <p:spPr>
          <a:xfrm>
            <a:off x="10820935" y="9625"/>
            <a:ext cx="1364918" cy="127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7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Breitbild</PresentationFormat>
  <Paragraphs>57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Liberation Serif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Graf, Maike</dc:creator>
  <cp:lastModifiedBy>Graf, Maike</cp:lastModifiedBy>
  <cp:revision>12</cp:revision>
  <dcterms:created xsi:type="dcterms:W3CDTF">2025-03-07T18:16:05Z</dcterms:created>
  <dcterms:modified xsi:type="dcterms:W3CDTF">2025-03-30T19:12:32Z</dcterms:modified>
</cp:coreProperties>
</file>