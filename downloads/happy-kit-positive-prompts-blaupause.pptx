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Lst>
  <p:notesMasterIdLst>
    <p:notesMasterId r:id="rId6"/>
  </p:notesMasterIdLst>
  <p:sldIdLst>
    <p:sldId id="534" r:id="rId2"/>
    <p:sldId id="543" r:id="rId3"/>
    <p:sldId id="544" r:id="rId4"/>
    <p:sldId id="545" r:id="rId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5309" autoAdjust="0"/>
  </p:normalViewPr>
  <p:slideViewPr>
    <p:cSldViewPr snapToGrid="0">
      <p:cViewPr varScale="1">
        <p:scale>
          <a:sx n="49" d="100"/>
          <a:sy n="49" d="100"/>
        </p:scale>
        <p:origin x="133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EF4C1A-8E01-4659-940C-83D602FC1074}" type="datetimeFigureOut">
              <a:rPr lang="de-DE" smtClean="0"/>
              <a:t>27.08.2026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3475B3-5F18-4D37-8BCB-586A3568F77D}" type="slidenum">
              <a:rPr lang="de-DE" smtClean="0"/>
              <a:t>‹Nr.›</a:t>
            </a:fld>
            <a:endParaRPr lang="de-DE"/>
          </a:p>
        </p:txBody>
      </p:sp>
    </p:spTree>
    <p:extLst>
      <p:ext uri="{BB962C8B-B14F-4D97-AF65-F5344CB8AC3E}">
        <p14:creationId xmlns:p14="http://schemas.microsoft.com/office/powerpoint/2010/main" val="3084096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indent="0">
              <a:lnSpc>
                <a:spcPct val="107000"/>
              </a:lnSpc>
              <a:spcAft>
                <a:spcPts val="800"/>
              </a:spcAft>
              <a:buFont typeface="+mj-lt"/>
              <a:buNone/>
            </a:pPr>
            <a:r>
              <a:rPr lang="de-DE" sz="1400" dirty="0">
                <a:effectLst/>
                <a:latin typeface="Liberation Serif" panose="02020603050405020304" pitchFamily="18" charset="0"/>
                <a:ea typeface="Calibri" panose="020F0502020204030204" pitchFamily="34" charset="0"/>
                <a:cs typeface="Times New Roman" panose="02020603050405020304" pitchFamily="18" charset="0"/>
              </a:rPr>
              <a:t>BEISPIEL</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26E26A-C4B5-432D-957A-EDE7989EE617}"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9966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indent="0">
              <a:lnSpc>
                <a:spcPct val="107000"/>
              </a:lnSpc>
              <a:spcAft>
                <a:spcPts val="800"/>
              </a:spcAft>
              <a:buFont typeface="+mj-lt"/>
              <a:buNone/>
            </a:pPr>
            <a:r>
              <a:rPr lang="de-DE" sz="1400" dirty="0">
                <a:effectLst/>
                <a:latin typeface="Liberation Serif" panose="02020603050405020304" pitchFamily="18" charset="0"/>
                <a:ea typeface="Calibri" panose="020F0502020204030204" pitchFamily="34" charset="0"/>
                <a:cs typeface="Times New Roman" panose="02020603050405020304" pitchFamily="18" charset="0"/>
              </a:rPr>
              <a:t>BEISPIEL</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26E26A-C4B5-432D-957A-EDE7989EE617}"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25326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indent="0">
              <a:lnSpc>
                <a:spcPct val="107000"/>
              </a:lnSpc>
              <a:spcAft>
                <a:spcPts val="800"/>
              </a:spcAft>
              <a:buFont typeface="+mj-lt"/>
              <a:buNone/>
            </a:pPr>
            <a:r>
              <a:rPr lang="de-DE" sz="1400" dirty="0">
                <a:effectLst/>
                <a:latin typeface="Liberation Serif" panose="02020603050405020304" pitchFamily="18" charset="0"/>
                <a:ea typeface="Calibri" panose="020F0502020204030204" pitchFamily="34" charset="0"/>
                <a:cs typeface="Times New Roman" panose="02020603050405020304" pitchFamily="18" charset="0"/>
              </a:rPr>
              <a:t>„Ich möchte heute etwas anders mit Ihnen in die Veranstaltung starten und mithilfe des Tools „Positive Prompts“ aus dem Happy Kit </a:t>
            </a:r>
            <a:br>
              <a:rPr lang="de-DE" sz="1400" dirty="0">
                <a:effectLst/>
                <a:latin typeface="Liberation Serif" panose="02020603050405020304" pitchFamily="18" charset="0"/>
                <a:ea typeface="Calibri" panose="020F0502020204030204" pitchFamily="34" charset="0"/>
                <a:cs typeface="Times New Roman" panose="02020603050405020304" pitchFamily="18" charset="0"/>
              </a:rPr>
            </a:br>
            <a:r>
              <a:rPr lang="de-DE" sz="1400" dirty="0">
                <a:effectLst/>
                <a:latin typeface="Liberation Serif" panose="02020603050405020304" pitchFamily="18" charset="0"/>
                <a:ea typeface="Calibri" panose="020F0502020204030204" pitchFamily="34" charset="0"/>
                <a:cs typeface="Times New Roman" panose="02020603050405020304" pitchFamily="18" charset="0"/>
              </a:rPr>
              <a:t>zunächst einen Fokus auf positive Ereignisse oder Momente im Rahmen dieser Lehrveranstaltung legen. Dazu habe ich den folgenden Positive</a:t>
            </a:r>
            <a:br>
              <a:rPr lang="de-DE" sz="1400" dirty="0">
                <a:effectLst/>
                <a:latin typeface="Liberation Serif" panose="02020603050405020304" pitchFamily="18" charset="0"/>
                <a:ea typeface="Calibri" panose="020F0502020204030204" pitchFamily="34" charset="0"/>
                <a:cs typeface="Times New Roman" panose="02020603050405020304" pitchFamily="18" charset="0"/>
              </a:rPr>
            </a:br>
            <a:r>
              <a:rPr lang="de-DE" sz="1400" dirty="0">
                <a:effectLst/>
                <a:latin typeface="Liberation Serif" panose="02020603050405020304" pitchFamily="18" charset="0"/>
                <a:ea typeface="Calibri" panose="020F0502020204030204" pitchFamily="34" charset="0"/>
                <a:cs typeface="Times New Roman" panose="02020603050405020304" pitchFamily="18" charset="0"/>
              </a:rPr>
              <a:t>Prompt mitgebracht: (siehe oben).</a:t>
            </a:r>
            <a:br>
              <a:rPr lang="de-DE" sz="1400" dirty="0">
                <a:effectLst/>
                <a:latin typeface="Liberation Serif" panose="02020603050405020304" pitchFamily="18" charset="0"/>
                <a:ea typeface="Calibri" panose="020F0502020204030204" pitchFamily="34" charset="0"/>
                <a:cs typeface="Times New Roman" panose="02020603050405020304" pitchFamily="18" charset="0"/>
              </a:rPr>
            </a:br>
            <a:r>
              <a:rPr lang="de-DE" sz="1400" dirty="0">
                <a:effectLst/>
                <a:latin typeface="Liberation Serif" panose="02020603050405020304" pitchFamily="18" charset="0"/>
                <a:ea typeface="Calibri" panose="020F0502020204030204" pitchFamily="34" charset="0"/>
                <a:cs typeface="Times New Roman" panose="02020603050405020304" pitchFamily="18" charset="0"/>
              </a:rPr>
              <a:t>Ich möchte Sie bitten, dass Sie sich nun 5 Minuten Zeit nehmen, um sich über diesen Prompt Gedanken zu machen und ihn schriftlich zu beantworten.</a:t>
            </a:r>
            <a:br>
              <a:rPr lang="de-DE" sz="1400" dirty="0">
                <a:effectLst/>
                <a:latin typeface="Liberation Serif" panose="02020603050405020304" pitchFamily="18" charset="0"/>
                <a:ea typeface="Calibri" panose="020F0502020204030204" pitchFamily="34" charset="0"/>
                <a:cs typeface="Times New Roman" panose="02020603050405020304" pitchFamily="18" charset="0"/>
              </a:rPr>
            </a:br>
            <a:r>
              <a:rPr lang="de-DE" sz="1400" dirty="0">
                <a:effectLst/>
                <a:latin typeface="Liberation Serif" panose="02020603050405020304" pitchFamily="18" charset="0"/>
                <a:ea typeface="Calibri" panose="020F0502020204030204" pitchFamily="34" charset="0"/>
                <a:cs typeface="Times New Roman" panose="02020603050405020304" pitchFamily="18" charset="0"/>
              </a:rPr>
              <a:t>Das kann handschriftlich sein oder auf Ihrem Laptop erfolgen, Sie können es auch als Teil Ihrer Vorlesungsnotizen speichern. Wichtig ist, dass ich </a:t>
            </a:r>
            <a:br>
              <a:rPr lang="de-DE" sz="1400" dirty="0">
                <a:effectLst/>
                <a:latin typeface="Liberation Serif" panose="02020603050405020304" pitchFamily="18" charset="0"/>
                <a:ea typeface="Calibri" panose="020F0502020204030204" pitchFamily="34" charset="0"/>
                <a:cs typeface="Times New Roman" panose="02020603050405020304" pitchFamily="18" charset="0"/>
              </a:rPr>
            </a:br>
            <a:r>
              <a:rPr lang="de-DE" sz="1400" dirty="0">
                <a:effectLst/>
                <a:latin typeface="Liberation Serif" panose="02020603050405020304" pitchFamily="18" charset="0"/>
                <a:ea typeface="Calibri" panose="020F0502020204030204" pitchFamily="34" charset="0"/>
                <a:cs typeface="Times New Roman" panose="02020603050405020304" pitchFamily="18" charset="0"/>
              </a:rPr>
              <a:t>Ihre Antworten danach nicht einsammle oder wir diese in irgendeiner Form besprechen, Sie bearbeiten diesen Prompt nur für sich. Die Leitfragen auf der nächsten Folie können Ihre Reflexion unterstützen.“</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26E26A-C4B5-432D-957A-EDE7989EE617}"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4064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indent="0">
              <a:lnSpc>
                <a:spcPct val="107000"/>
              </a:lnSpc>
              <a:spcAft>
                <a:spcPts val="800"/>
              </a:spcAft>
              <a:buFont typeface="+mj-lt"/>
              <a:buNone/>
            </a:pPr>
            <a:r>
              <a:rPr lang="de-DE" sz="1400" dirty="0">
                <a:effectLst/>
                <a:latin typeface="Liberation Serif" panose="02020603050405020304" pitchFamily="18" charset="0"/>
                <a:ea typeface="Calibri" panose="020F0502020204030204" pitchFamily="34" charset="0"/>
                <a:cs typeface="Times New Roman" panose="02020603050405020304" pitchFamily="18" charset="0"/>
              </a:rPr>
              <a:t>„Versuchen Sie, sich in die jeweilige Situation zurückzuversetzen: [Leitfragen vorlesen]</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26E26A-C4B5-432D-957A-EDE7989EE617}"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58609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emf"/><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bg>
      <p:bgPr>
        <a:solidFill>
          <a:schemeClr val="bg1"/>
        </a:solidFill>
        <a:effectLst/>
      </p:bgPr>
    </p:bg>
    <p:spTree>
      <p:nvGrpSpPr>
        <p:cNvPr id="1" name=""/>
        <p:cNvGrpSpPr/>
        <p:nvPr/>
      </p:nvGrpSpPr>
      <p:grpSpPr>
        <a:xfrm>
          <a:off x="0" y="0"/>
          <a:ext cx="0" cy="0"/>
          <a:chOff x="0" y="0"/>
          <a:chExt cx="0" cy="0"/>
        </a:xfrm>
      </p:grpSpPr>
      <p:sp>
        <p:nvSpPr>
          <p:cNvPr id="15" name="Rechteck 14">
            <a:extLst>
              <a:ext uri="{FF2B5EF4-FFF2-40B4-BE49-F238E27FC236}">
                <a16:creationId xmlns:a16="http://schemas.microsoft.com/office/drawing/2014/main" id="{2F209691-7882-4238-801F-B63FAA938076}"/>
              </a:ext>
            </a:extLst>
          </p:cNvPr>
          <p:cNvSpPr/>
          <p:nvPr userDrawn="1"/>
        </p:nvSpPr>
        <p:spPr>
          <a:xfrm>
            <a:off x="0" y="1172225"/>
            <a:ext cx="12192000" cy="46894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a:p>
        </p:txBody>
      </p:sp>
      <p:pic>
        <p:nvPicPr>
          <p:cNvPr id="16" name="HRW_Logo_transparent.png">
            <a:extLst>
              <a:ext uri="{FF2B5EF4-FFF2-40B4-BE49-F238E27FC236}">
                <a16:creationId xmlns:a16="http://schemas.microsoft.com/office/drawing/2014/main" id="{251BAA7E-DF9D-401E-A509-46C3FA0949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7504" y="-5965"/>
            <a:ext cx="2592288" cy="1150806"/>
          </a:xfrm>
          <a:prstGeom prst="rect">
            <a:avLst/>
          </a:prstGeom>
        </p:spPr>
      </p:pic>
      <p:sp>
        <p:nvSpPr>
          <p:cNvPr id="18" name="Titel 1">
            <a:extLst>
              <a:ext uri="{FF2B5EF4-FFF2-40B4-BE49-F238E27FC236}">
                <a16:creationId xmlns:a16="http://schemas.microsoft.com/office/drawing/2014/main" id="{4D750284-B646-407C-B6B0-35BD96F7D486}"/>
              </a:ext>
            </a:extLst>
          </p:cNvPr>
          <p:cNvSpPr>
            <a:spLocks noGrp="1"/>
          </p:cNvSpPr>
          <p:nvPr>
            <p:ph type="ctrTitle" hasCustomPrompt="1"/>
          </p:nvPr>
        </p:nvSpPr>
        <p:spPr>
          <a:xfrm>
            <a:off x="623392" y="1412777"/>
            <a:ext cx="10944721" cy="612692"/>
          </a:xfrm>
          <a:prstGeom prst="rect">
            <a:avLst/>
          </a:prstGeom>
        </p:spPr>
        <p:txBody>
          <a:bodyPr vert="horz" lIns="0" tIns="0" rIns="0" bIns="0" anchor="t" anchorCtr="0">
            <a:noAutofit/>
          </a:bodyPr>
          <a:lstStyle>
            <a:lvl1pPr>
              <a:defRPr sz="4000">
                <a:solidFill>
                  <a:schemeClr val="bg1"/>
                </a:solidFill>
                <a:latin typeface="Liberation Serif" pitchFamily="18" charset="0"/>
              </a:defRPr>
            </a:lvl1pPr>
          </a:lstStyle>
          <a:p>
            <a:r>
              <a:rPr lang="de-DE" dirty="0"/>
              <a:t>Titelmasterformat durch Klicken bearbeiten</a:t>
            </a:r>
          </a:p>
        </p:txBody>
      </p:sp>
      <p:sp>
        <p:nvSpPr>
          <p:cNvPr id="20" name="Untertitel 2">
            <a:extLst>
              <a:ext uri="{FF2B5EF4-FFF2-40B4-BE49-F238E27FC236}">
                <a16:creationId xmlns:a16="http://schemas.microsoft.com/office/drawing/2014/main" id="{643E9BF6-7747-4652-AD2E-2DECF8D0135C}"/>
              </a:ext>
            </a:extLst>
          </p:cNvPr>
          <p:cNvSpPr>
            <a:spLocks noGrp="1"/>
          </p:cNvSpPr>
          <p:nvPr>
            <p:ph type="subTitle" idx="1" hasCustomPrompt="1"/>
          </p:nvPr>
        </p:nvSpPr>
        <p:spPr>
          <a:xfrm>
            <a:off x="623393" y="2099447"/>
            <a:ext cx="10944200" cy="538498"/>
          </a:xfrm>
          <a:prstGeom prst="rect">
            <a:avLst/>
          </a:prstGeom>
        </p:spPr>
        <p:txBody>
          <a:bodyPr>
            <a:noAutofit/>
          </a:bodyPr>
          <a:lstStyle>
            <a:lvl1pPr marL="0" indent="0" algn="l">
              <a:buNone/>
              <a:defRPr sz="2800">
                <a:solidFill>
                  <a:schemeClr val="bg1"/>
                </a:solidFill>
                <a:latin typeface="Liberation Serif" pitchFamily="18" charset="0"/>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de-DE" dirty="0"/>
              <a:t>Formatvorlage des Untertitelmasters durch Klicken bearbeiten</a:t>
            </a:r>
          </a:p>
        </p:txBody>
      </p:sp>
      <p:sp>
        <p:nvSpPr>
          <p:cNvPr id="21" name="Inhaltsplatzhalter 18">
            <a:extLst>
              <a:ext uri="{FF2B5EF4-FFF2-40B4-BE49-F238E27FC236}">
                <a16:creationId xmlns:a16="http://schemas.microsoft.com/office/drawing/2014/main" id="{0AFA74AB-D6FF-41EA-A6B1-3CA8CABE7881}"/>
              </a:ext>
            </a:extLst>
          </p:cNvPr>
          <p:cNvSpPr>
            <a:spLocks noGrp="1"/>
          </p:cNvSpPr>
          <p:nvPr>
            <p:ph sz="quarter" idx="11" hasCustomPrompt="1"/>
          </p:nvPr>
        </p:nvSpPr>
        <p:spPr>
          <a:xfrm>
            <a:off x="6737702" y="6102708"/>
            <a:ext cx="4838179" cy="476250"/>
          </a:xfrm>
          <a:prstGeom prst="rect">
            <a:avLst/>
          </a:prstGeom>
        </p:spPr>
        <p:txBody>
          <a:bodyPr lIns="0" rIns="0"/>
          <a:lstStyle>
            <a:lvl1pPr algn="r">
              <a:defRPr sz="2800">
                <a:solidFill>
                  <a:schemeClr val="tx2"/>
                </a:solidFill>
              </a:defRPr>
            </a:lvl1pPr>
          </a:lstStyle>
          <a:p>
            <a:pPr lvl="0"/>
            <a:r>
              <a:rPr lang="de-DE" dirty="0"/>
              <a:t>Fachbereich, Institut o.ä.</a:t>
            </a:r>
          </a:p>
        </p:txBody>
      </p:sp>
      <p:pic>
        <p:nvPicPr>
          <p:cNvPr id="22" name="Grafik 21">
            <a:extLst>
              <a:ext uri="{FF2B5EF4-FFF2-40B4-BE49-F238E27FC236}">
                <a16:creationId xmlns:a16="http://schemas.microsoft.com/office/drawing/2014/main" id="{A1FD8DD9-AF25-4C65-ADCD-63CDAF5EF2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7345" y="5949280"/>
            <a:ext cx="2378295" cy="783106"/>
          </a:xfrm>
          <a:prstGeom prst="rect">
            <a:avLst/>
          </a:prstGeom>
        </p:spPr>
      </p:pic>
    </p:spTree>
    <p:extLst>
      <p:ext uri="{BB962C8B-B14F-4D97-AF65-F5344CB8AC3E}">
        <p14:creationId xmlns:p14="http://schemas.microsoft.com/office/powerpoint/2010/main" val="2184630105"/>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F321E5D4-90C5-490B-B502-E568CC1AA46E}"/>
              </a:ext>
            </a:extLst>
          </p:cNvPr>
          <p:cNvSpPr txBox="1"/>
          <p:nvPr userDrawn="1"/>
        </p:nvSpPr>
        <p:spPr>
          <a:xfrm>
            <a:off x="10494069" y="6349346"/>
            <a:ext cx="646047" cy="307777"/>
          </a:xfrm>
          <a:prstGeom prst="rect">
            <a:avLst/>
          </a:prstGeom>
          <a:noFill/>
        </p:spPr>
        <p:txBody>
          <a:bodyPr wrap="square" rtlCol="0">
            <a:spAutoFit/>
          </a:bodyPr>
          <a:lstStyle/>
          <a:p>
            <a:pPr algn="r"/>
            <a:fld id="{3679B97E-2F6E-4600-A1D4-CAD9FE23913C}" type="slidenum">
              <a:rPr lang="de-DE" sz="1400" smtClean="0">
                <a:latin typeface="Liberation Serif" panose="02020603050405020304" pitchFamily="18" charset="0"/>
              </a:rPr>
              <a:pPr algn="r"/>
              <a:t>‹Nr.›</a:t>
            </a:fld>
            <a:endParaRPr lang="de-DE" sz="1400" dirty="0">
              <a:latin typeface="Liberation Serif" panose="02020603050405020304" pitchFamily="18" charset="0"/>
            </a:endParaRPr>
          </a:p>
        </p:txBody>
      </p:sp>
      <p:sp>
        <p:nvSpPr>
          <p:cNvPr id="7" name="Textplatzhalter 2">
            <a:extLst>
              <a:ext uri="{FF2B5EF4-FFF2-40B4-BE49-F238E27FC236}">
                <a16:creationId xmlns:a16="http://schemas.microsoft.com/office/drawing/2014/main" id="{506B2031-0944-472D-9758-0DCDA86D1772}"/>
              </a:ext>
            </a:extLst>
          </p:cNvPr>
          <p:cNvSpPr>
            <a:spLocks noGrp="1"/>
          </p:cNvSpPr>
          <p:nvPr>
            <p:ph idx="1" hasCustomPrompt="1"/>
          </p:nvPr>
        </p:nvSpPr>
        <p:spPr bwMode="auto">
          <a:xfrm>
            <a:off x="623886" y="1685924"/>
            <a:ext cx="10943704" cy="4181553"/>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a:buNone/>
              <a:tabLst>
                <a:tab pos="322498" algn="l"/>
                <a:tab pos="657954" algn="l"/>
                <a:tab pos="977572" algn="l"/>
                <a:tab pos="1301509" algn="l"/>
                <a:tab pos="1621128" algn="l"/>
                <a:tab pos="1959463" algn="l"/>
                <a:tab pos="2601579" algn="l"/>
                <a:tab pos="3259532" algn="l"/>
                <a:tab pos="3903088" algn="l"/>
                <a:tab pos="4561041" algn="l"/>
              </a:tabLst>
              <a:defRPr sz="2400" b="1">
                <a:solidFill>
                  <a:schemeClr val="tx1"/>
                </a:solidFill>
                <a:latin typeface="Liberation Serif" panose="02020603050405020304" pitchFamily="18" charset="0"/>
                <a:cs typeface="Liberation Serif" panose="02020603050405020304" pitchFamily="18" charset="0"/>
              </a:defRPr>
            </a:lvl1pPr>
            <a:lvl2pPr marL="0" indent="0" algn="l">
              <a:buNone/>
              <a:tabLst>
                <a:tab pos="322498" algn="l"/>
                <a:tab pos="646436" algn="l"/>
                <a:tab pos="977572" algn="l"/>
                <a:tab pos="1304389" algn="l"/>
                <a:tab pos="1621128" algn="l"/>
                <a:tab pos="1955144"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2pPr>
            <a:lvl3pPr marL="0" indent="0" algn="l" defTabSz="407442">
              <a:buNone/>
              <a:tabLst>
                <a:tab pos="322498" algn="l"/>
                <a:tab pos="646436" algn="l"/>
                <a:tab pos="977572" algn="l"/>
                <a:tab pos="1304389" algn="l"/>
                <a:tab pos="1621128" algn="l"/>
                <a:tab pos="1950825"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3pPr>
            <a:lvl4pPr marL="322498" indent="-322498" algn="l">
              <a:buFont typeface="+mj-lt"/>
              <a:buNone/>
              <a:tabLst>
                <a:tab pos="646436" algn="l"/>
                <a:tab pos="977572" algn="l"/>
                <a:tab pos="1304389" algn="l"/>
                <a:tab pos="1621128" algn="l"/>
                <a:tab pos="1950825"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4pPr>
            <a:lvl5pPr marL="322498" indent="-322498" algn="l">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Titelplatzhalter 1">
            <a:extLst>
              <a:ext uri="{FF2B5EF4-FFF2-40B4-BE49-F238E27FC236}">
                <a16:creationId xmlns:a16="http://schemas.microsoft.com/office/drawing/2014/main" id="{38CB67B9-68E6-4B38-8C0A-390C5C83192D}"/>
              </a:ext>
            </a:extLst>
          </p:cNvPr>
          <p:cNvSpPr>
            <a:spLocks noGrp="1"/>
          </p:cNvSpPr>
          <p:nvPr>
            <p:ph type="title"/>
          </p:nvPr>
        </p:nvSpPr>
        <p:spPr bwMode="auto">
          <a:xfrm>
            <a:off x="623888" y="489404"/>
            <a:ext cx="10943704" cy="776810"/>
          </a:xfrm>
          <a:prstGeom prst="rect">
            <a:avLst/>
          </a:prstGeom>
          <a:noFill/>
          <a:ln w="9525">
            <a:noFill/>
            <a:miter lim="800000"/>
            <a:headEnd/>
            <a:tailEnd/>
          </a:ln>
        </p:spPr>
        <p:txBody>
          <a:bodyPr vert="horz" wrap="square" lIns="0" tIns="45711" rIns="91420" bIns="45711" numCol="1" anchor="ctr" anchorCtr="0" compatLnSpc="1">
            <a:prstTxWarp prst="textNoShape">
              <a:avLst/>
            </a:prstTxWarp>
            <a:noAutofit/>
          </a:bodyPr>
          <a:lstStyle>
            <a:lvl1pPr marL="657954" indent="-657954" algn="l">
              <a:defRPr sz="3600" b="1">
                <a:solidFill>
                  <a:srgbClr val="00B0F0"/>
                </a:solidFill>
                <a:latin typeface="Liberation Serif" panose="02020603050405020304" pitchFamily="18" charset="0"/>
                <a:cs typeface="Liberation Serif" panose="02020603050405020304" pitchFamily="18" charset="0"/>
              </a:defRPr>
            </a:lvl1pPr>
          </a:lstStyle>
          <a:p>
            <a:pPr lvl="0"/>
            <a:endParaRPr lang="de-DE" dirty="0"/>
          </a:p>
        </p:txBody>
      </p:sp>
    </p:spTree>
    <p:extLst>
      <p:ext uri="{BB962C8B-B14F-4D97-AF65-F5344CB8AC3E}">
        <p14:creationId xmlns:p14="http://schemas.microsoft.com/office/powerpoint/2010/main" val="89657279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el und Inhalt">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54C57E92-D1F3-45D1-9948-450440153DE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11140116" y="6009914"/>
            <a:ext cx="517652" cy="51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feld 4">
            <a:extLst>
              <a:ext uri="{FF2B5EF4-FFF2-40B4-BE49-F238E27FC236}">
                <a16:creationId xmlns:a16="http://schemas.microsoft.com/office/drawing/2014/main" id="{487D9650-9A7A-4B37-8FFC-2B4B6FD27DC6}"/>
              </a:ext>
            </a:extLst>
          </p:cNvPr>
          <p:cNvSpPr txBox="1"/>
          <p:nvPr userDrawn="1"/>
        </p:nvSpPr>
        <p:spPr>
          <a:xfrm>
            <a:off x="10494069" y="6140394"/>
            <a:ext cx="646047" cy="307777"/>
          </a:xfrm>
          <a:prstGeom prst="rect">
            <a:avLst/>
          </a:prstGeom>
          <a:noFill/>
        </p:spPr>
        <p:txBody>
          <a:bodyPr wrap="square" rtlCol="0">
            <a:spAutoFit/>
          </a:bodyPr>
          <a:lstStyle/>
          <a:p>
            <a:pPr algn="r"/>
            <a:fld id="{3679B97E-2F6E-4600-A1D4-CAD9FE23913C}" type="slidenum">
              <a:rPr lang="de-DE" sz="1400" smtClean="0">
                <a:latin typeface="Liberation Serif" panose="02020603050405020304" pitchFamily="18" charset="0"/>
              </a:rPr>
              <a:pPr algn="r"/>
              <a:t>‹Nr.›</a:t>
            </a:fld>
            <a:endParaRPr lang="de-DE" sz="1400" dirty="0">
              <a:latin typeface="Liberation Serif" panose="02020603050405020304" pitchFamily="18" charset="0"/>
            </a:endParaRPr>
          </a:p>
        </p:txBody>
      </p:sp>
      <p:sp>
        <p:nvSpPr>
          <p:cNvPr id="6" name="Textplatzhalter 2">
            <a:extLst>
              <a:ext uri="{FF2B5EF4-FFF2-40B4-BE49-F238E27FC236}">
                <a16:creationId xmlns:a16="http://schemas.microsoft.com/office/drawing/2014/main" id="{1D2B3BB5-5D99-4B39-B9A1-92A21DA09056}"/>
              </a:ext>
            </a:extLst>
          </p:cNvPr>
          <p:cNvSpPr>
            <a:spLocks noGrp="1"/>
          </p:cNvSpPr>
          <p:nvPr>
            <p:ph idx="1" hasCustomPrompt="1"/>
          </p:nvPr>
        </p:nvSpPr>
        <p:spPr bwMode="auto">
          <a:xfrm>
            <a:off x="623886" y="1268760"/>
            <a:ext cx="10943704" cy="4598718"/>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a:buNone/>
              <a:tabLst>
                <a:tab pos="322498" algn="l"/>
                <a:tab pos="657954" algn="l"/>
                <a:tab pos="977572" algn="l"/>
                <a:tab pos="1301509" algn="l"/>
                <a:tab pos="1621128" algn="l"/>
                <a:tab pos="1959463" algn="l"/>
                <a:tab pos="2601579" algn="l"/>
                <a:tab pos="3259532" algn="l"/>
                <a:tab pos="3903088" algn="l"/>
                <a:tab pos="4561041" algn="l"/>
              </a:tabLst>
              <a:defRPr sz="1400" b="1">
                <a:solidFill>
                  <a:schemeClr val="tx1"/>
                </a:solidFill>
                <a:latin typeface="Liberation Serif" panose="02020603050405020304" pitchFamily="18" charset="0"/>
                <a:cs typeface="Liberation Serif" panose="02020603050405020304" pitchFamily="18" charset="0"/>
              </a:defRPr>
            </a:lvl1pPr>
            <a:lvl2pPr marL="0" indent="0" algn="l">
              <a:buNone/>
              <a:tabLst>
                <a:tab pos="322498" algn="l"/>
                <a:tab pos="646436"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2pPr>
            <a:lvl3pPr marL="0" indent="0" algn="l" defTabSz="407442">
              <a:buNone/>
              <a:tabLst>
                <a:tab pos="322498" algn="l"/>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3pPr>
            <a:lvl4pPr marL="322498" indent="-322498" algn="l">
              <a:buFont typeface="+mj-lt"/>
              <a:buNone/>
              <a:tabLst>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4pPr>
            <a:lvl5pPr marL="322498" indent="-322498" algn="l">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Titelplatzhalter 1">
            <a:extLst>
              <a:ext uri="{FF2B5EF4-FFF2-40B4-BE49-F238E27FC236}">
                <a16:creationId xmlns:a16="http://schemas.microsoft.com/office/drawing/2014/main" id="{E2AD25A9-78B7-4D5C-B726-25F0ADE2C06B}"/>
              </a:ext>
            </a:extLst>
          </p:cNvPr>
          <p:cNvSpPr>
            <a:spLocks noGrp="1"/>
          </p:cNvSpPr>
          <p:nvPr>
            <p:ph type="title"/>
          </p:nvPr>
        </p:nvSpPr>
        <p:spPr bwMode="auto">
          <a:xfrm>
            <a:off x="623888" y="489404"/>
            <a:ext cx="10943704" cy="776810"/>
          </a:xfrm>
          <a:prstGeom prst="rect">
            <a:avLst/>
          </a:prstGeom>
          <a:noFill/>
          <a:ln w="9525">
            <a:noFill/>
            <a:miter lim="800000"/>
            <a:headEnd/>
            <a:tailEnd/>
          </a:ln>
        </p:spPr>
        <p:txBody>
          <a:bodyPr vert="horz" wrap="square" lIns="0" tIns="45711" rIns="91420" bIns="45711" numCol="1" anchor="ctr" anchorCtr="0" compatLnSpc="1">
            <a:prstTxWarp prst="textNoShape">
              <a:avLst/>
            </a:prstTxWarp>
            <a:noAutofit/>
          </a:bodyPr>
          <a:lstStyle>
            <a:lvl1pPr marL="657954" indent="-657954" algn="l">
              <a:defRPr sz="2800">
                <a:solidFill>
                  <a:srgbClr val="00B0F0"/>
                </a:solidFill>
                <a:latin typeface="Liberation Serif" panose="02020603050405020304" pitchFamily="18" charset="0"/>
                <a:cs typeface="Liberation Serif" panose="02020603050405020304" pitchFamily="18" charset="0"/>
              </a:defRPr>
            </a:lvl1pPr>
          </a:lstStyle>
          <a:p>
            <a:pPr lvl="0"/>
            <a:endParaRPr lang="de-DE" dirty="0"/>
          </a:p>
        </p:txBody>
      </p:sp>
    </p:spTree>
    <p:extLst>
      <p:ext uri="{BB962C8B-B14F-4D97-AF65-F5344CB8AC3E}">
        <p14:creationId xmlns:p14="http://schemas.microsoft.com/office/powerpoint/2010/main" val="1808286653"/>
      </p:ext>
    </p:extLst>
  </p:cSld>
  <p:clrMapOvr>
    <a:masterClrMapping/>
  </p:clrMapOvr>
  <p:extLst>
    <p:ext uri="{DCECCB84-F9BA-43D5-87BE-67443E8EF086}">
      <p15:sldGuideLst xmlns:p15="http://schemas.microsoft.com/office/powerpoint/2012/main">
        <p15:guide id="1" pos="393">
          <p15:clr>
            <a:srgbClr val="FBAE40"/>
          </p15:clr>
        </p15:guide>
        <p15:guide id="2" orient="horz" pos="300">
          <p15:clr>
            <a:srgbClr val="FBAE40"/>
          </p15:clr>
        </p15:guide>
        <p15:guide id="3" orient="horz" pos="70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6" name="Textplatzhalter 2">
            <a:extLst>
              <a:ext uri="{FF2B5EF4-FFF2-40B4-BE49-F238E27FC236}">
                <a16:creationId xmlns:a16="http://schemas.microsoft.com/office/drawing/2014/main" id="{1D2B3BB5-5D99-4B39-B9A1-92A21DA09056}"/>
              </a:ext>
            </a:extLst>
          </p:cNvPr>
          <p:cNvSpPr>
            <a:spLocks noGrp="1"/>
          </p:cNvSpPr>
          <p:nvPr>
            <p:ph idx="1" hasCustomPrompt="1"/>
          </p:nvPr>
        </p:nvSpPr>
        <p:spPr bwMode="auto">
          <a:xfrm>
            <a:off x="623886" y="1268760"/>
            <a:ext cx="10943704" cy="4598718"/>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a:buNone/>
              <a:tabLst>
                <a:tab pos="322498" algn="l"/>
                <a:tab pos="657954" algn="l"/>
                <a:tab pos="977572" algn="l"/>
                <a:tab pos="1301509" algn="l"/>
                <a:tab pos="1621128" algn="l"/>
                <a:tab pos="1959463" algn="l"/>
                <a:tab pos="2601579" algn="l"/>
                <a:tab pos="3259532" algn="l"/>
                <a:tab pos="3903088" algn="l"/>
                <a:tab pos="4561041" algn="l"/>
              </a:tabLst>
              <a:defRPr sz="1400" b="1">
                <a:solidFill>
                  <a:schemeClr val="tx1"/>
                </a:solidFill>
                <a:latin typeface="Liberation Serif" panose="02020603050405020304" pitchFamily="18" charset="0"/>
                <a:cs typeface="Liberation Serif" panose="02020603050405020304" pitchFamily="18" charset="0"/>
              </a:defRPr>
            </a:lvl1pPr>
            <a:lvl2pPr marL="0" indent="0" algn="l">
              <a:buNone/>
              <a:tabLst>
                <a:tab pos="322498" algn="l"/>
                <a:tab pos="646436"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2pPr>
            <a:lvl3pPr marL="0" indent="0" algn="l" defTabSz="407442">
              <a:buNone/>
              <a:tabLst>
                <a:tab pos="322498" algn="l"/>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3pPr>
            <a:lvl4pPr marL="322498" indent="-322498" algn="l">
              <a:buFont typeface="+mj-lt"/>
              <a:buNone/>
              <a:tabLst>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4pPr>
            <a:lvl5pPr marL="322498" indent="-322498" algn="l">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Titelplatzhalter 1">
            <a:extLst>
              <a:ext uri="{FF2B5EF4-FFF2-40B4-BE49-F238E27FC236}">
                <a16:creationId xmlns:a16="http://schemas.microsoft.com/office/drawing/2014/main" id="{E2AD25A9-78B7-4D5C-B726-25F0ADE2C06B}"/>
              </a:ext>
            </a:extLst>
          </p:cNvPr>
          <p:cNvSpPr>
            <a:spLocks noGrp="1"/>
          </p:cNvSpPr>
          <p:nvPr>
            <p:ph type="title"/>
          </p:nvPr>
        </p:nvSpPr>
        <p:spPr bwMode="auto">
          <a:xfrm>
            <a:off x="623888" y="489404"/>
            <a:ext cx="10943704" cy="776810"/>
          </a:xfrm>
          <a:prstGeom prst="rect">
            <a:avLst/>
          </a:prstGeom>
          <a:noFill/>
          <a:ln w="9525">
            <a:noFill/>
            <a:miter lim="800000"/>
            <a:headEnd/>
            <a:tailEnd/>
          </a:ln>
        </p:spPr>
        <p:txBody>
          <a:bodyPr vert="horz" wrap="square" lIns="0" tIns="45711" rIns="91420" bIns="45711" numCol="1" anchor="ctr" anchorCtr="0" compatLnSpc="1">
            <a:prstTxWarp prst="textNoShape">
              <a:avLst/>
            </a:prstTxWarp>
            <a:noAutofit/>
          </a:bodyPr>
          <a:lstStyle>
            <a:lvl1pPr marL="657954" indent="-657954" algn="l">
              <a:defRPr sz="2800">
                <a:solidFill>
                  <a:srgbClr val="00B0F0"/>
                </a:solidFill>
                <a:latin typeface="Liberation Serif" panose="02020603050405020304" pitchFamily="18" charset="0"/>
                <a:cs typeface="Liberation Serif" panose="02020603050405020304" pitchFamily="18" charset="0"/>
              </a:defRPr>
            </a:lvl1pPr>
          </a:lstStyle>
          <a:p>
            <a:pPr lvl="0"/>
            <a:endParaRPr lang="de-DE" dirty="0"/>
          </a:p>
        </p:txBody>
      </p:sp>
    </p:spTree>
    <p:extLst>
      <p:ext uri="{BB962C8B-B14F-4D97-AF65-F5344CB8AC3E}">
        <p14:creationId xmlns:p14="http://schemas.microsoft.com/office/powerpoint/2010/main" val="1317668513"/>
      </p:ext>
    </p:extLst>
  </p:cSld>
  <p:clrMapOvr>
    <a:masterClrMapping/>
  </p:clrMapOvr>
  <p:extLst>
    <p:ext uri="{DCECCB84-F9BA-43D5-87BE-67443E8EF086}">
      <p15:sldGuideLst xmlns:p15="http://schemas.microsoft.com/office/powerpoint/2012/main">
        <p15:guide id="1" pos="393">
          <p15:clr>
            <a:srgbClr val="FBAE40"/>
          </p15:clr>
        </p15:guide>
        <p15:guide id="2" orient="horz" pos="300">
          <p15:clr>
            <a:srgbClr val="FBAE40"/>
          </p15:clr>
        </p15:guide>
        <p15:guide id="3" orient="horz" pos="70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bschluss">
    <p:bg>
      <p:bgPr>
        <a:solidFill>
          <a:schemeClr val="bg1"/>
        </a:solidFill>
        <a:effectLst/>
      </p:bgPr>
    </p:bg>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B911F3F6-CFAF-4712-99FF-0821A3CDF40F}"/>
              </a:ext>
            </a:extLst>
          </p:cNvPr>
          <p:cNvSpPr/>
          <p:nvPr userDrawn="1"/>
        </p:nvSpPr>
        <p:spPr>
          <a:xfrm>
            <a:off x="0" y="1150806"/>
            <a:ext cx="12192000" cy="46894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a:p>
        </p:txBody>
      </p:sp>
      <p:sp>
        <p:nvSpPr>
          <p:cNvPr id="14" name="Titel 1">
            <a:extLst>
              <a:ext uri="{FF2B5EF4-FFF2-40B4-BE49-F238E27FC236}">
                <a16:creationId xmlns:a16="http://schemas.microsoft.com/office/drawing/2014/main" id="{F3AA6966-2C26-4F5B-A6D5-F8776664F8E6}"/>
              </a:ext>
            </a:extLst>
          </p:cNvPr>
          <p:cNvSpPr>
            <a:spLocks noGrp="1"/>
          </p:cNvSpPr>
          <p:nvPr>
            <p:ph type="ctrTitle" hasCustomPrompt="1"/>
          </p:nvPr>
        </p:nvSpPr>
        <p:spPr>
          <a:xfrm>
            <a:off x="622296" y="1412776"/>
            <a:ext cx="10945817" cy="1102519"/>
          </a:xfrm>
          <a:prstGeom prst="rect">
            <a:avLst/>
          </a:prstGeom>
        </p:spPr>
        <p:txBody>
          <a:bodyPr vert="horz" lIns="0" tIns="0" rIns="0" bIns="0" anchor="t" anchorCtr="0">
            <a:noAutofit/>
          </a:bodyPr>
          <a:lstStyle>
            <a:lvl1pPr>
              <a:defRPr sz="4000">
                <a:solidFill>
                  <a:schemeClr val="bg1"/>
                </a:solidFill>
                <a:latin typeface="Liberation Serif" pitchFamily="18" charset="0"/>
              </a:defRPr>
            </a:lvl1pPr>
          </a:lstStyle>
          <a:p>
            <a:r>
              <a:rPr lang="de-DE" dirty="0"/>
              <a:t>Abschlussmaster durch Klicken bearbeiten</a:t>
            </a:r>
          </a:p>
        </p:txBody>
      </p:sp>
      <p:pic>
        <p:nvPicPr>
          <p:cNvPr id="16" name="Bild 2">
            <a:extLst>
              <a:ext uri="{FF2B5EF4-FFF2-40B4-BE49-F238E27FC236}">
                <a16:creationId xmlns:a16="http://schemas.microsoft.com/office/drawing/2014/main" id="{F440AE9D-24A0-4E14-BEAA-A817DEA58C9B}"/>
              </a:ext>
            </a:extLst>
          </p:cNvPr>
          <p:cNvPicPr>
            <a:picLocks noChangeAspect="1"/>
          </p:cNvPicPr>
          <p:nvPr userDrawn="1"/>
        </p:nvPicPr>
        <p:blipFill>
          <a:blip r:embed="rId2"/>
          <a:stretch>
            <a:fillRect/>
          </a:stretch>
        </p:blipFill>
        <p:spPr>
          <a:xfrm>
            <a:off x="9552384" y="-27384"/>
            <a:ext cx="2015208" cy="318982"/>
          </a:xfrm>
          <a:prstGeom prst="rect">
            <a:avLst/>
          </a:prstGeom>
        </p:spPr>
      </p:pic>
      <p:pic>
        <p:nvPicPr>
          <p:cNvPr id="17" name="HRW_Logo_transparent.png">
            <a:extLst>
              <a:ext uri="{FF2B5EF4-FFF2-40B4-BE49-F238E27FC236}">
                <a16:creationId xmlns:a16="http://schemas.microsoft.com/office/drawing/2014/main" id="{977B5304-7624-44FB-8AE5-9CBDC59AB85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97504" y="-27384"/>
            <a:ext cx="2592288" cy="1150806"/>
          </a:xfrm>
          <a:prstGeom prst="rect">
            <a:avLst/>
          </a:prstGeom>
        </p:spPr>
      </p:pic>
      <p:pic>
        <p:nvPicPr>
          <p:cNvPr id="18" name="Grafik 17">
            <a:extLst>
              <a:ext uri="{FF2B5EF4-FFF2-40B4-BE49-F238E27FC236}">
                <a16:creationId xmlns:a16="http://schemas.microsoft.com/office/drawing/2014/main" id="{C25C95A8-926B-4BB4-83F9-CBBFE9E376C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77345" y="5949280"/>
            <a:ext cx="2378295" cy="783106"/>
          </a:xfrm>
          <a:prstGeom prst="rect">
            <a:avLst/>
          </a:prstGeom>
        </p:spPr>
      </p:pic>
      <p:sp>
        <p:nvSpPr>
          <p:cNvPr id="8" name="Inhaltsplatzhalter 18">
            <a:extLst>
              <a:ext uri="{FF2B5EF4-FFF2-40B4-BE49-F238E27FC236}">
                <a16:creationId xmlns:a16="http://schemas.microsoft.com/office/drawing/2014/main" id="{CE84D051-E07F-4D08-A817-41C9C28BFBB7}"/>
              </a:ext>
            </a:extLst>
          </p:cNvPr>
          <p:cNvSpPr>
            <a:spLocks noGrp="1"/>
          </p:cNvSpPr>
          <p:nvPr>
            <p:ph sz="quarter" idx="11" hasCustomPrompt="1"/>
          </p:nvPr>
        </p:nvSpPr>
        <p:spPr>
          <a:xfrm>
            <a:off x="6737702" y="6102708"/>
            <a:ext cx="4838179" cy="476250"/>
          </a:xfrm>
          <a:prstGeom prst="rect">
            <a:avLst/>
          </a:prstGeom>
        </p:spPr>
        <p:txBody>
          <a:bodyPr lIns="0" rIns="0"/>
          <a:lstStyle>
            <a:lvl1pPr algn="r">
              <a:defRPr sz="2800">
                <a:solidFill>
                  <a:schemeClr val="tx2"/>
                </a:solidFill>
              </a:defRPr>
            </a:lvl1pPr>
          </a:lstStyle>
          <a:p>
            <a:pPr lvl="0"/>
            <a:r>
              <a:rPr lang="de-DE" dirty="0"/>
              <a:t>Fachbereich, Institut o.ä.</a:t>
            </a:r>
          </a:p>
        </p:txBody>
      </p:sp>
    </p:spTree>
    <p:extLst>
      <p:ext uri="{BB962C8B-B14F-4D97-AF65-F5344CB8AC3E}">
        <p14:creationId xmlns:p14="http://schemas.microsoft.com/office/powerpoint/2010/main" val="13603612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491097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p:hf hdr="0" dt="0"/>
  <p:txStyles>
    <p:titleStyle>
      <a:lvl1pPr algn="l" defTabSz="914354" rtl="0" eaLnBrk="1" latinLnBrk="0" hangingPunct="1">
        <a:lnSpc>
          <a:spcPct val="90000"/>
        </a:lnSpc>
        <a:spcBef>
          <a:spcPct val="0"/>
        </a:spcBef>
        <a:buNone/>
        <a:defRPr sz="4400" kern="1200">
          <a:solidFill>
            <a:schemeClr val="tx1"/>
          </a:solidFill>
          <a:latin typeface="Liberation Serif" panose="02020603050405020304" pitchFamily="18" charset="0"/>
          <a:ea typeface="+mj-ea"/>
          <a:cs typeface="+mj-cs"/>
        </a:defRPr>
      </a:lvl1pPr>
    </p:titleStyle>
    <p:bodyStyle>
      <a:lvl1pPr marL="0" indent="0" algn="l" defTabSz="914354" rtl="0" eaLnBrk="1" latinLnBrk="0" hangingPunct="1">
        <a:lnSpc>
          <a:spcPct val="90000"/>
        </a:lnSpc>
        <a:spcBef>
          <a:spcPts val="1001"/>
        </a:spcBef>
        <a:buFont typeface="Arial" panose="020B0604020202020204" pitchFamily="34" charset="0"/>
        <a:buNone/>
        <a:defRPr sz="2800" kern="1200">
          <a:solidFill>
            <a:schemeClr val="tx1"/>
          </a:solidFill>
          <a:latin typeface="Liberation Serif" panose="02020603050405020304" pitchFamily="18" charset="0"/>
          <a:ea typeface="+mn-ea"/>
          <a:cs typeface="+mn-cs"/>
        </a:defRPr>
      </a:lvl1pPr>
      <a:lvl2pPr marL="685767"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Liberation Serif" panose="02020603050405020304" pitchFamily="18" charset="0"/>
          <a:ea typeface="+mn-ea"/>
          <a:cs typeface="+mn-cs"/>
        </a:defRPr>
      </a:lvl2pPr>
      <a:lvl3pPr marL="1142943"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Liberation Serif" panose="02020603050405020304" pitchFamily="18" charset="0"/>
          <a:ea typeface="+mn-ea"/>
          <a:cs typeface="+mn-cs"/>
        </a:defRPr>
      </a:lvl3pPr>
      <a:lvl4pPr marL="1600121"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Liberation Serif" panose="02020603050405020304" pitchFamily="18" charset="0"/>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Liberation Serif" panose="02020603050405020304" pitchFamily="18" charset="0"/>
          <a:ea typeface="+mn-ea"/>
          <a:cs typeface="+mn-cs"/>
        </a:defRPr>
      </a:lvl5pPr>
      <a:lvl6pPr marL="2514476"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007"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de-DE"/>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287">
          <p15:clr>
            <a:srgbClr val="F26B43"/>
          </p15:clr>
        </p15:guide>
        <p15:guide id="5" orient="horz" pos="822">
          <p15:clr>
            <a:srgbClr val="F26B43"/>
          </p15:clr>
        </p15:guide>
        <p15:guide id="7" pos="393">
          <p15:clr>
            <a:srgbClr val="F26B43"/>
          </p15:clr>
        </p15:guide>
        <p15:guide id="8" orient="horz" pos="61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el 2">
            <a:extLst>
              <a:ext uri="{FF2B5EF4-FFF2-40B4-BE49-F238E27FC236}">
                <a16:creationId xmlns:a16="http://schemas.microsoft.com/office/drawing/2014/main" id="{6635CA9D-1F79-49CF-9265-391194C0CA3C}"/>
              </a:ext>
            </a:extLst>
          </p:cNvPr>
          <p:cNvSpPr>
            <a:spLocks noGrp="1"/>
          </p:cNvSpPr>
          <p:nvPr>
            <p:ph type="title"/>
          </p:nvPr>
        </p:nvSpPr>
        <p:spPr>
          <a:xfrm>
            <a:off x="623888" y="514804"/>
            <a:ext cx="10943704" cy="776810"/>
          </a:xfrm>
        </p:spPr>
        <p:txBody>
          <a:bodyPr/>
          <a:lstStyle/>
          <a:p>
            <a:r>
              <a:rPr lang="de-DE" sz="4000" dirty="0"/>
              <a:t>Positive Prompts</a:t>
            </a:r>
          </a:p>
        </p:txBody>
      </p:sp>
      <p:pic>
        <p:nvPicPr>
          <p:cNvPr id="18" name="Picture 2">
            <a:extLst>
              <a:ext uri="{FF2B5EF4-FFF2-40B4-BE49-F238E27FC236}">
                <a16:creationId xmlns:a16="http://schemas.microsoft.com/office/drawing/2014/main" id="{EB20708F-35E1-41DC-86B3-17145B1655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1084308" y="6216870"/>
            <a:ext cx="517652" cy="51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Grafik 9">
            <a:extLst>
              <a:ext uri="{FF2B5EF4-FFF2-40B4-BE49-F238E27FC236}">
                <a16:creationId xmlns:a16="http://schemas.microsoft.com/office/drawing/2014/main" id="{11A12C27-CF45-47D1-B993-07A2B54F4599}"/>
              </a:ext>
            </a:extLst>
          </p:cNvPr>
          <p:cNvPicPr>
            <a:picLocks noChangeAspect="1"/>
          </p:cNvPicPr>
          <p:nvPr/>
        </p:nvPicPr>
        <p:blipFill>
          <a:blip r:embed="rId4"/>
          <a:stretch>
            <a:fillRect/>
          </a:stretch>
        </p:blipFill>
        <p:spPr>
          <a:xfrm>
            <a:off x="10292297" y="6168287"/>
            <a:ext cx="610328" cy="626204"/>
          </a:xfrm>
          <a:prstGeom prst="rect">
            <a:avLst/>
          </a:prstGeom>
        </p:spPr>
      </p:pic>
      <p:pic>
        <p:nvPicPr>
          <p:cNvPr id="4" name="Grafik 3">
            <a:extLst>
              <a:ext uri="{FF2B5EF4-FFF2-40B4-BE49-F238E27FC236}">
                <a16:creationId xmlns:a16="http://schemas.microsoft.com/office/drawing/2014/main" id="{386AFB18-5402-4A17-8270-E36FADF146B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902625" y="153118"/>
            <a:ext cx="1020035" cy="1022585"/>
          </a:xfrm>
          <a:prstGeom prst="rect">
            <a:avLst/>
          </a:prstGeom>
        </p:spPr>
      </p:pic>
      <p:sp>
        <p:nvSpPr>
          <p:cNvPr id="13" name="Textfeld 12">
            <a:extLst>
              <a:ext uri="{FF2B5EF4-FFF2-40B4-BE49-F238E27FC236}">
                <a16:creationId xmlns:a16="http://schemas.microsoft.com/office/drawing/2014/main" id="{A9AD5905-A02A-4A92-B0AB-FEC8FCA776A3}"/>
              </a:ext>
            </a:extLst>
          </p:cNvPr>
          <p:cNvSpPr txBox="1"/>
          <p:nvPr/>
        </p:nvSpPr>
        <p:spPr>
          <a:xfrm>
            <a:off x="623888" y="4053121"/>
            <a:ext cx="10771498" cy="2056782"/>
          </a:xfrm>
          <a:prstGeom prst="rect">
            <a:avLst/>
          </a:prstGeom>
          <a:noFill/>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de-DE" sz="24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Auftrag:</a:t>
            </a:r>
          </a:p>
          <a:p>
            <a:pPr lvl="0">
              <a:lnSpc>
                <a:spcPct val="125000"/>
              </a:lnSpc>
            </a:pPr>
            <a:r>
              <a:rPr lang="de-DE" sz="2000" dirty="0">
                <a:solidFill>
                  <a:srgbClr val="000000"/>
                </a:solidFill>
                <a:latin typeface="Liberation Serif" panose="02020603050405020304" pitchFamily="18" charset="0"/>
              </a:rPr>
              <a:t>Nehmen Sie sich 5 Minuten Zeit, um über die obige Frage nachzudenken und sie schriftlich zu beantworten. Wie viel und was Sie schreiben, bestimmen allein Sie. Versuchen Sie, sich in die jeweilige Situation zurückzuversetzen und zu beschreiben, was Sie in der Situation gefühlt haben. </a:t>
            </a:r>
            <a:br>
              <a:rPr lang="de-DE" sz="2000" dirty="0">
                <a:solidFill>
                  <a:srgbClr val="000000"/>
                </a:solidFill>
                <a:latin typeface="Liberation Serif" panose="02020603050405020304" pitchFamily="18" charset="0"/>
              </a:rPr>
            </a:br>
            <a:r>
              <a:rPr lang="de-DE" sz="2000" b="1" dirty="0">
                <a:solidFill>
                  <a:srgbClr val="000000"/>
                </a:solidFill>
                <a:latin typeface="Liberation Serif" panose="02020603050405020304" pitchFamily="18" charset="0"/>
              </a:rPr>
              <a:t>Wichtig: </a:t>
            </a:r>
            <a:r>
              <a:rPr lang="de-DE" sz="2000" dirty="0">
                <a:solidFill>
                  <a:srgbClr val="000000"/>
                </a:solidFill>
                <a:latin typeface="Liberation Serif" panose="02020603050405020304" pitchFamily="18" charset="0"/>
              </a:rPr>
              <a:t>Ihre Antworten müssen nicht mit der Lehrperson oder </a:t>
            </a:r>
            <a:r>
              <a:rPr lang="de-DE" sz="2000" dirty="0" err="1">
                <a:solidFill>
                  <a:srgbClr val="000000"/>
                </a:solidFill>
                <a:latin typeface="Liberation Serif" panose="02020603050405020304" pitchFamily="18" charset="0"/>
              </a:rPr>
              <a:t>Kommiliton:innen</a:t>
            </a:r>
            <a:r>
              <a:rPr lang="de-DE" sz="2000" dirty="0">
                <a:solidFill>
                  <a:srgbClr val="000000"/>
                </a:solidFill>
                <a:latin typeface="Liberation Serif" panose="02020603050405020304" pitchFamily="18" charset="0"/>
              </a:rPr>
              <a:t> geteilt werden. </a:t>
            </a:r>
            <a:endParaRPr kumimoji="0" lang="de-DE" sz="20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endParaRPr>
          </a:p>
        </p:txBody>
      </p:sp>
      <p:sp>
        <p:nvSpPr>
          <p:cNvPr id="14" name="Textfeld 13">
            <a:extLst>
              <a:ext uri="{FF2B5EF4-FFF2-40B4-BE49-F238E27FC236}">
                <a16:creationId xmlns:a16="http://schemas.microsoft.com/office/drawing/2014/main" id="{8EDB7F3C-3BFE-48D9-BD50-0ACF004333AF}"/>
              </a:ext>
            </a:extLst>
          </p:cNvPr>
          <p:cNvSpPr txBox="1"/>
          <p:nvPr/>
        </p:nvSpPr>
        <p:spPr>
          <a:xfrm rot="16200000">
            <a:off x="10405786" y="2743324"/>
            <a:ext cx="2591158" cy="230832"/>
          </a:xfrm>
          <a:prstGeom prst="rect">
            <a:avLst/>
          </a:prstGeom>
          <a:noFill/>
        </p:spPr>
        <p:txBody>
          <a:bodyPr wrap="square" rtlCol="0">
            <a:spAutoFit/>
          </a:bodyPr>
          <a:lstStyle/>
          <a:p>
            <a:r>
              <a:rPr lang="de-DE" sz="900" dirty="0">
                <a:latin typeface="Liberation Serif" panose="02020603050405020304" pitchFamily="18" charset="0"/>
              </a:rPr>
              <a:t>Bildquelle: </a:t>
            </a:r>
          </a:p>
        </p:txBody>
      </p:sp>
      <p:sp>
        <p:nvSpPr>
          <p:cNvPr id="12" name="Rechteck 11">
            <a:extLst>
              <a:ext uri="{FF2B5EF4-FFF2-40B4-BE49-F238E27FC236}">
                <a16:creationId xmlns:a16="http://schemas.microsoft.com/office/drawing/2014/main" id="{9573D642-C1E4-40B9-B4FB-362269D2624A}"/>
              </a:ext>
            </a:extLst>
          </p:cNvPr>
          <p:cNvSpPr/>
          <p:nvPr/>
        </p:nvSpPr>
        <p:spPr>
          <a:xfrm>
            <a:off x="623888" y="1484784"/>
            <a:ext cx="10943704" cy="2119298"/>
          </a:xfrm>
          <a:prstGeom prst="rect">
            <a:avLst/>
          </a:prstGeom>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Der heutige Positive Prompt lautet:</a:t>
            </a:r>
          </a:p>
          <a:p>
            <a:pPr marL="0" marR="0" lvl="0" indent="0" algn="l" defTabSz="914400" rtl="0" eaLnBrk="1" fontAlgn="auto" latinLnBrk="0" hangingPunct="1">
              <a:lnSpc>
                <a:spcPct val="125000"/>
              </a:lnSpc>
              <a:spcBef>
                <a:spcPts val="0"/>
              </a:spcBef>
              <a:spcAft>
                <a:spcPts val="0"/>
              </a:spcAft>
              <a:buClrTx/>
              <a:buSzTx/>
              <a:buFontTx/>
              <a:buNone/>
              <a:tabLst/>
              <a:defRPr/>
            </a:pPr>
            <a:r>
              <a:rPr lang="de-DE" sz="2800" b="1" dirty="0">
                <a:solidFill>
                  <a:srgbClr val="000000"/>
                </a:solidFill>
                <a:latin typeface="Liberation Serif" panose="02020603050405020304" pitchFamily="18" charset="0"/>
              </a:rPr>
              <a:t>Welche Situation im Rahmen der Projekt-</a:t>
            </a:r>
            <a:br>
              <a:rPr lang="de-DE" sz="2800" b="1" dirty="0">
                <a:solidFill>
                  <a:srgbClr val="000000"/>
                </a:solidFill>
                <a:latin typeface="Liberation Serif" panose="02020603050405020304" pitchFamily="18" charset="0"/>
              </a:rPr>
            </a:br>
            <a:r>
              <a:rPr lang="de-DE" sz="2800" b="1" dirty="0" err="1">
                <a:solidFill>
                  <a:srgbClr val="000000"/>
                </a:solidFill>
                <a:latin typeface="Liberation Serif" panose="02020603050405020304" pitchFamily="18" charset="0"/>
              </a:rPr>
              <a:t>arbeit</a:t>
            </a:r>
            <a:r>
              <a:rPr lang="de-DE" sz="2800" b="1" dirty="0">
                <a:solidFill>
                  <a:srgbClr val="000000"/>
                </a:solidFill>
                <a:latin typeface="Liberation Serif" panose="02020603050405020304" pitchFamily="18" charset="0"/>
              </a:rPr>
              <a:t> ist Ihnen besonders in Erinnerung</a:t>
            </a:r>
            <a:br>
              <a:rPr lang="de-DE" sz="2800" b="1" dirty="0">
                <a:solidFill>
                  <a:srgbClr val="000000"/>
                </a:solidFill>
                <a:latin typeface="Liberation Serif" panose="02020603050405020304" pitchFamily="18" charset="0"/>
              </a:rPr>
            </a:br>
            <a:r>
              <a:rPr lang="de-DE" sz="2800" b="1" dirty="0">
                <a:solidFill>
                  <a:srgbClr val="000000"/>
                </a:solidFill>
                <a:latin typeface="Liberation Serif" panose="02020603050405020304" pitchFamily="18" charset="0"/>
              </a:rPr>
              <a:t>geblieben oder war besonders lehrreich? </a:t>
            </a:r>
            <a:endPar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endParaRPr>
          </a:p>
        </p:txBody>
      </p:sp>
      <p:sp>
        <p:nvSpPr>
          <p:cNvPr id="15" name="Rechteck 14">
            <a:extLst>
              <a:ext uri="{FF2B5EF4-FFF2-40B4-BE49-F238E27FC236}">
                <a16:creationId xmlns:a16="http://schemas.microsoft.com/office/drawing/2014/main" id="{31DC4DD0-D9DA-4183-AB8A-61A49D6D938D}"/>
              </a:ext>
            </a:extLst>
          </p:cNvPr>
          <p:cNvSpPr/>
          <p:nvPr/>
        </p:nvSpPr>
        <p:spPr>
          <a:xfrm>
            <a:off x="7328263" y="1563161"/>
            <a:ext cx="4239329" cy="248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C07F8C12-3601-4B84-B872-16137BA4D752}"/>
              </a:ext>
            </a:extLst>
          </p:cNvPr>
          <p:cNvSpPr txBox="1"/>
          <p:nvPr/>
        </p:nvSpPr>
        <p:spPr>
          <a:xfrm>
            <a:off x="533936" y="6378130"/>
            <a:ext cx="9894586" cy="338554"/>
          </a:xfrm>
          <a:prstGeom prst="rect">
            <a:avLst/>
          </a:prstGeom>
          <a:noFill/>
        </p:spPr>
        <p:txBody>
          <a:bodyPr wrap="square">
            <a:spAutoFit/>
          </a:bodyPr>
          <a:lstStyle/>
          <a:p>
            <a:pPr marL="0" marR="0" indent="0">
              <a:buNone/>
            </a:pPr>
            <a:r>
              <a:rPr lang="de-DE" sz="800" b="0" i="0" dirty="0">
                <a:effectLst/>
                <a:latin typeface="Segoe UI" panose="020B0502040204020203" pitchFamily="34" charset="0"/>
              </a:rPr>
              <a:t>Dieses Material wurde im Rahmen des Projekts Happy Kit erarbeitet. </a:t>
            </a:r>
          </a:p>
          <a:p>
            <a:pPr marL="0" marR="0" indent="0">
              <a:buNone/>
            </a:pPr>
            <a:r>
              <a:rPr lang="de-DE" sz="800" b="0" i="0" dirty="0">
                <a:effectLst/>
                <a:latin typeface="Segoe UI" panose="020B0502040204020203" pitchFamily="34" charset="0"/>
              </a:rPr>
              <a:t>Das Projekt wurde von Oktober 2024 bis Oktober 2026 durch interne Qualitätsverbesserungsmittel für Studium und Lehre der Hochschule Ruhr West gefördert.</a:t>
            </a:r>
          </a:p>
        </p:txBody>
      </p:sp>
    </p:spTree>
    <p:extLst>
      <p:ext uri="{BB962C8B-B14F-4D97-AF65-F5344CB8AC3E}">
        <p14:creationId xmlns:p14="http://schemas.microsoft.com/office/powerpoint/2010/main" val="1136660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C8EBEC28-0457-4514-ADAF-54484641B8DB}"/>
              </a:ext>
            </a:extLst>
          </p:cNvPr>
          <p:cNvSpPr/>
          <p:nvPr/>
        </p:nvSpPr>
        <p:spPr>
          <a:xfrm>
            <a:off x="7328263" y="1563161"/>
            <a:ext cx="4239329" cy="248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Titel 2">
            <a:extLst>
              <a:ext uri="{FF2B5EF4-FFF2-40B4-BE49-F238E27FC236}">
                <a16:creationId xmlns:a16="http://schemas.microsoft.com/office/drawing/2014/main" id="{6635CA9D-1F79-49CF-9265-391194C0CA3C}"/>
              </a:ext>
            </a:extLst>
          </p:cNvPr>
          <p:cNvSpPr>
            <a:spLocks noGrp="1"/>
          </p:cNvSpPr>
          <p:nvPr>
            <p:ph type="title"/>
          </p:nvPr>
        </p:nvSpPr>
        <p:spPr>
          <a:xfrm>
            <a:off x="623888" y="514804"/>
            <a:ext cx="10943704" cy="776810"/>
          </a:xfrm>
        </p:spPr>
        <p:txBody>
          <a:bodyPr/>
          <a:lstStyle/>
          <a:p>
            <a:r>
              <a:rPr lang="de-DE" sz="4000" dirty="0"/>
              <a:t>Positive Prompts</a:t>
            </a:r>
          </a:p>
        </p:txBody>
      </p:sp>
      <p:pic>
        <p:nvPicPr>
          <p:cNvPr id="18" name="Picture 2">
            <a:extLst>
              <a:ext uri="{FF2B5EF4-FFF2-40B4-BE49-F238E27FC236}">
                <a16:creationId xmlns:a16="http://schemas.microsoft.com/office/drawing/2014/main" id="{EB20708F-35E1-41DC-86B3-17145B1655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1084308" y="6216870"/>
            <a:ext cx="517652" cy="51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Grafik 9">
            <a:extLst>
              <a:ext uri="{FF2B5EF4-FFF2-40B4-BE49-F238E27FC236}">
                <a16:creationId xmlns:a16="http://schemas.microsoft.com/office/drawing/2014/main" id="{11A12C27-CF45-47D1-B993-07A2B54F4599}"/>
              </a:ext>
            </a:extLst>
          </p:cNvPr>
          <p:cNvPicPr>
            <a:picLocks noChangeAspect="1"/>
          </p:cNvPicPr>
          <p:nvPr/>
        </p:nvPicPr>
        <p:blipFill>
          <a:blip r:embed="rId4"/>
          <a:stretch>
            <a:fillRect/>
          </a:stretch>
        </p:blipFill>
        <p:spPr>
          <a:xfrm>
            <a:off x="10292297" y="6168287"/>
            <a:ext cx="610328" cy="626204"/>
          </a:xfrm>
          <a:prstGeom prst="rect">
            <a:avLst/>
          </a:prstGeom>
        </p:spPr>
      </p:pic>
      <p:pic>
        <p:nvPicPr>
          <p:cNvPr id="4" name="Grafik 3">
            <a:extLst>
              <a:ext uri="{FF2B5EF4-FFF2-40B4-BE49-F238E27FC236}">
                <a16:creationId xmlns:a16="http://schemas.microsoft.com/office/drawing/2014/main" id="{386AFB18-5402-4A17-8270-E36FADF146B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902625" y="153118"/>
            <a:ext cx="1020035" cy="1022585"/>
          </a:xfrm>
          <a:prstGeom prst="rect">
            <a:avLst/>
          </a:prstGeom>
        </p:spPr>
      </p:pic>
      <p:sp>
        <p:nvSpPr>
          <p:cNvPr id="13" name="Textfeld 12">
            <a:extLst>
              <a:ext uri="{FF2B5EF4-FFF2-40B4-BE49-F238E27FC236}">
                <a16:creationId xmlns:a16="http://schemas.microsoft.com/office/drawing/2014/main" id="{A9AD5905-A02A-4A92-B0AB-FEC8FCA776A3}"/>
              </a:ext>
            </a:extLst>
          </p:cNvPr>
          <p:cNvSpPr txBox="1"/>
          <p:nvPr/>
        </p:nvSpPr>
        <p:spPr>
          <a:xfrm>
            <a:off x="623888" y="3810910"/>
            <a:ext cx="10771498" cy="2357377"/>
          </a:xfrm>
          <a:prstGeom prst="rect">
            <a:avLst/>
          </a:prstGeom>
          <a:noFill/>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lang="de-DE" sz="2400" b="1" dirty="0">
                <a:solidFill>
                  <a:srgbClr val="000000"/>
                </a:solidFill>
                <a:latin typeface="Liberation Serif" panose="02020603050405020304" pitchFamily="18" charset="0"/>
              </a:rPr>
              <a:t>Leitfragen</a:t>
            </a:r>
            <a:r>
              <a:rPr kumimoji="0" lang="de-DE" sz="24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a:t>
            </a:r>
          </a:p>
          <a:p>
            <a:pPr marL="342900" lvl="0" indent="-342900">
              <a:lnSpc>
                <a:spcPct val="125000"/>
              </a:lnSpc>
              <a:buFont typeface="Symbol" panose="05050102010706020507" pitchFamily="18" charset="2"/>
              <a:buChar char="-"/>
            </a:pP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Wie sah die Situation </a:t>
            </a: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konkre</a:t>
            </a:r>
            <a:r>
              <a:rPr lang="de-DE" sz="2400" dirty="0">
                <a:solidFill>
                  <a:srgbClr val="000000"/>
                </a:solidFill>
                <a:latin typeface="Liberation Serif" panose="02020603050405020304" pitchFamily="18" charset="0"/>
              </a:rPr>
              <a:t>t aus und wie haben Sie sich gefühlt?</a:t>
            </a:r>
          </a:p>
          <a:p>
            <a:pPr marL="342900" lvl="0" indent="-342900">
              <a:lnSpc>
                <a:spcPct val="125000"/>
              </a:lnSpc>
              <a:buFont typeface="Symbol" panose="05050102010706020507" pitchFamily="18" charset="2"/>
              <a:buChar char="-"/>
            </a:pP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Welche anderen Personen waren (nicht) anwesend und wie haben diese die Situation beeinflusst?</a:t>
            </a:r>
          </a:p>
          <a:p>
            <a:pPr marL="342900" lvl="0" indent="-342900">
              <a:lnSpc>
                <a:spcPct val="125000"/>
              </a:lnSpc>
              <a:buFont typeface="Symbol" panose="05050102010706020507" pitchFamily="18" charset="2"/>
              <a:buChar char="-"/>
            </a:pPr>
            <a:r>
              <a:rPr lang="de-DE" sz="2400" dirty="0">
                <a:solidFill>
                  <a:srgbClr val="000000"/>
                </a:solidFill>
                <a:latin typeface="Liberation Serif" panose="02020603050405020304" pitchFamily="18" charset="0"/>
              </a:rPr>
              <a:t>Was haben Sie gelernt? Was bleibt Ihnen in Erinnerung? </a:t>
            </a:r>
            <a:endPar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endParaRPr>
          </a:p>
        </p:txBody>
      </p:sp>
      <p:sp>
        <p:nvSpPr>
          <p:cNvPr id="14" name="Textfeld 13">
            <a:extLst>
              <a:ext uri="{FF2B5EF4-FFF2-40B4-BE49-F238E27FC236}">
                <a16:creationId xmlns:a16="http://schemas.microsoft.com/office/drawing/2014/main" id="{8EDB7F3C-3BFE-48D9-BD50-0ACF004333AF}"/>
              </a:ext>
            </a:extLst>
          </p:cNvPr>
          <p:cNvSpPr txBox="1"/>
          <p:nvPr/>
        </p:nvSpPr>
        <p:spPr>
          <a:xfrm rot="16200000">
            <a:off x="10405786" y="2743324"/>
            <a:ext cx="2591158" cy="230832"/>
          </a:xfrm>
          <a:prstGeom prst="rect">
            <a:avLst/>
          </a:prstGeom>
          <a:noFill/>
        </p:spPr>
        <p:txBody>
          <a:bodyPr wrap="square" rtlCol="0">
            <a:spAutoFit/>
          </a:bodyPr>
          <a:lstStyle/>
          <a:p>
            <a:r>
              <a:rPr lang="de-DE" sz="900" dirty="0">
                <a:latin typeface="Liberation Serif" panose="02020603050405020304" pitchFamily="18" charset="0"/>
              </a:rPr>
              <a:t>Bildquelle: </a:t>
            </a:r>
          </a:p>
        </p:txBody>
      </p:sp>
      <p:sp>
        <p:nvSpPr>
          <p:cNvPr id="11" name="Rechteck 10">
            <a:extLst>
              <a:ext uri="{FF2B5EF4-FFF2-40B4-BE49-F238E27FC236}">
                <a16:creationId xmlns:a16="http://schemas.microsoft.com/office/drawing/2014/main" id="{49867D81-BB48-49DE-B368-8FEE19946B27}"/>
              </a:ext>
            </a:extLst>
          </p:cNvPr>
          <p:cNvSpPr/>
          <p:nvPr/>
        </p:nvSpPr>
        <p:spPr>
          <a:xfrm>
            <a:off x="623888" y="1484784"/>
            <a:ext cx="10943704" cy="2119298"/>
          </a:xfrm>
          <a:prstGeom prst="rect">
            <a:avLst/>
          </a:prstGeom>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Der heutige Positive Prompt lautet:</a:t>
            </a:r>
          </a:p>
          <a:p>
            <a:pPr marL="0" marR="0" lvl="0" indent="0" algn="l" defTabSz="914400" rtl="0" eaLnBrk="1" fontAlgn="auto" latinLnBrk="0" hangingPunct="1">
              <a:lnSpc>
                <a:spcPct val="125000"/>
              </a:lnSpc>
              <a:spcBef>
                <a:spcPts val="0"/>
              </a:spcBef>
              <a:spcAft>
                <a:spcPts val="0"/>
              </a:spcAft>
              <a:buClrTx/>
              <a:buSzTx/>
              <a:buFontTx/>
              <a:buNone/>
              <a:tabLst/>
              <a:defRPr/>
            </a:pPr>
            <a:r>
              <a:rPr lang="de-DE" sz="2800" b="1" dirty="0">
                <a:solidFill>
                  <a:srgbClr val="000000"/>
                </a:solidFill>
                <a:latin typeface="Liberation Serif" panose="02020603050405020304" pitchFamily="18" charset="0"/>
              </a:rPr>
              <a:t>Welche Situation im Rahmen der Projekt-</a:t>
            </a:r>
            <a:br>
              <a:rPr lang="de-DE" sz="2800" b="1" dirty="0">
                <a:solidFill>
                  <a:srgbClr val="000000"/>
                </a:solidFill>
                <a:latin typeface="Liberation Serif" panose="02020603050405020304" pitchFamily="18" charset="0"/>
              </a:rPr>
            </a:br>
            <a:r>
              <a:rPr lang="de-DE" sz="2800" b="1" dirty="0" err="1">
                <a:solidFill>
                  <a:srgbClr val="000000"/>
                </a:solidFill>
                <a:latin typeface="Liberation Serif" panose="02020603050405020304" pitchFamily="18" charset="0"/>
              </a:rPr>
              <a:t>arbeit</a:t>
            </a:r>
            <a:r>
              <a:rPr lang="de-DE" sz="2800" b="1" dirty="0">
                <a:solidFill>
                  <a:srgbClr val="000000"/>
                </a:solidFill>
                <a:latin typeface="Liberation Serif" panose="02020603050405020304" pitchFamily="18" charset="0"/>
              </a:rPr>
              <a:t> ist Ihnen besonders in Erinnerung</a:t>
            </a:r>
            <a:br>
              <a:rPr lang="de-DE" sz="2800" b="1" dirty="0">
                <a:solidFill>
                  <a:srgbClr val="000000"/>
                </a:solidFill>
                <a:latin typeface="Liberation Serif" panose="02020603050405020304" pitchFamily="18" charset="0"/>
              </a:rPr>
            </a:br>
            <a:r>
              <a:rPr lang="de-DE" sz="2800" b="1" dirty="0">
                <a:solidFill>
                  <a:srgbClr val="000000"/>
                </a:solidFill>
                <a:latin typeface="Liberation Serif" panose="02020603050405020304" pitchFamily="18" charset="0"/>
              </a:rPr>
              <a:t>geblieben oder war besonders lehrreich? </a:t>
            </a:r>
            <a:endPar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endParaRPr>
          </a:p>
        </p:txBody>
      </p:sp>
      <p:sp>
        <p:nvSpPr>
          <p:cNvPr id="12" name="Textfeld 11">
            <a:extLst>
              <a:ext uri="{FF2B5EF4-FFF2-40B4-BE49-F238E27FC236}">
                <a16:creationId xmlns:a16="http://schemas.microsoft.com/office/drawing/2014/main" id="{EB6CC983-8570-41B7-9C16-AE4E287EAF9A}"/>
              </a:ext>
            </a:extLst>
          </p:cNvPr>
          <p:cNvSpPr txBox="1"/>
          <p:nvPr/>
        </p:nvSpPr>
        <p:spPr>
          <a:xfrm>
            <a:off x="533936" y="6378130"/>
            <a:ext cx="9894586" cy="338554"/>
          </a:xfrm>
          <a:prstGeom prst="rect">
            <a:avLst/>
          </a:prstGeom>
          <a:noFill/>
        </p:spPr>
        <p:txBody>
          <a:bodyPr wrap="square">
            <a:spAutoFit/>
          </a:bodyPr>
          <a:lstStyle/>
          <a:p>
            <a:pPr marL="0" marR="0" indent="0">
              <a:buNone/>
            </a:pPr>
            <a:r>
              <a:rPr lang="de-DE" sz="800" b="0" i="0" dirty="0">
                <a:effectLst/>
                <a:latin typeface="Segoe UI" panose="020B0502040204020203" pitchFamily="34" charset="0"/>
              </a:rPr>
              <a:t>Dieses Material wurde im Rahmen des Projekts Happy Kit erarbeitet. </a:t>
            </a:r>
          </a:p>
          <a:p>
            <a:pPr marL="0" marR="0" indent="0">
              <a:buNone/>
            </a:pPr>
            <a:r>
              <a:rPr lang="de-DE" sz="800" b="0" i="0" dirty="0">
                <a:effectLst/>
                <a:latin typeface="Segoe UI" panose="020B0502040204020203" pitchFamily="34" charset="0"/>
              </a:rPr>
              <a:t>Das Projekt wurde von Oktober 2024 bis Oktober 2026 durch interne Qualitätsverbesserungsmittel für Studium und Lehre der Hochschule Ruhr West gefördert.</a:t>
            </a:r>
          </a:p>
        </p:txBody>
      </p:sp>
    </p:spTree>
    <p:extLst>
      <p:ext uri="{BB962C8B-B14F-4D97-AF65-F5344CB8AC3E}">
        <p14:creationId xmlns:p14="http://schemas.microsoft.com/office/powerpoint/2010/main" val="2805312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el 2">
            <a:extLst>
              <a:ext uri="{FF2B5EF4-FFF2-40B4-BE49-F238E27FC236}">
                <a16:creationId xmlns:a16="http://schemas.microsoft.com/office/drawing/2014/main" id="{6635CA9D-1F79-49CF-9265-391194C0CA3C}"/>
              </a:ext>
            </a:extLst>
          </p:cNvPr>
          <p:cNvSpPr>
            <a:spLocks noGrp="1"/>
          </p:cNvSpPr>
          <p:nvPr>
            <p:ph type="title"/>
          </p:nvPr>
        </p:nvSpPr>
        <p:spPr>
          <a:xfrm>
            <a:off x="623888" y="514804"/>
            <a:ext cx="10943704" cy="776810"/>
          </a:xfrm>
        </p:spPr>
        <p:txBody>
          <a:bodyPr/>
          <a:lstStyle/>
          <a:p>
            <a:r>
              <a:rPr lang="de-DE" sz="4000" dirty="0"/>
              <a:t>Positive Prompts</a:t>
            </a:r>
          </a:p>
        </p:txBody>
      </p:sp>
      <p:pic>
        <p:nvPicPr>
          <p:cNvPr id="18" name="Picture 2">
            <a:extLst>
              <a:ext uri="{FF2B5EF4-FFF2-40B4-BE49-F238E27FC236}">
                <a16:creationId xmlns:a16="http://schemas.microsoft.com/office/drawing/2014/main" id="{EB20708F-35E1-41DC-86B3-17145B1655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1084308" y="6216870"/>
            <a:ext cx="517652" cy="51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Grafik 9">
            <a:extLst>
              <a:ext uri="{FF2B5EF4-FFF2-40B4-BE49-F238E27FC236}">
                <a16:creationId xmlns:a16="http://schemas.microsoft.com/office/drawing/2014/main" id="{11A12C27-CF45-47D1-B993-07A2B54F4599}"/>
              </a:ext>
            </a:extLst>
          </p:cNvPr>
          <p:cNvPicPr>
            <a:picLocks noChangeAspect="1"/>
          </p:cNvPicPr>
          <p:nvPr/>
        </p:nvPicPr>
        <p:blipFill>
          <a:blip r:embed="rId4"/>
          <a:stretch>
            <a:fillRect/>
          </a:stretch>
        </p:blipFill>
        <p:spPr>
          <a:xfrm>
            <a:off x="10292297" y="6168287"/>
            <a:ext cx="610328" cy="626204"/>
          </a:xfrm>
          <a:prstGeom prst="rect">
            <a:avLst/>
          </a:prstGeom>
        </p:spPr>
      </p:pic>
      <p:pic>
        <p:nvPicPr>
          <p:cNvPr id="4" name="Grafik 3">
            <a:extLst>
              <a:ext uri="{FF2B5EF4-FFF2-40B4-BE49-F238E27FC236}">
                <a16:creationId xmlns:a16="http://schemas.microsoft.com/office/drawing/2014/main" id="{386AFB18-5402-4A17-8270-E36FADF146B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902625" y="153118"/>
            <a:ext cx="1020035" cy="1022585"/>
          </a:xfrm>
          <a:prstGeom prst="rect">
            <a:avLst/>
          </a:prstGeom>
        </p:spPr>
      </p:pic>
      <p:sp>
        <p:nvSpPr>
          <p:cNvPr id="13" name="Textfeld 12">
            <a:extLst>
              <a:ext uri="{FF2B5EF4-FFF2-40B4-BE49-F238E27FC236}">
                <a16:creationId xmlns:a16="http://schemas.microsoft.com/office/drawing/2014/main" id="{A9AD5905-A02A-4A92-B0AB-FEC8FCA776A3}"/>
              </a:ext>
            </a:extLst>
          </p:cNvPr>
          <p:cNvSpPr txBox="1"/>
          <p:nvPr/>
        </p:nvSpPr>
        <p:spPr>
          <a:xfrm>
            <a:off x="623888" y="4053121"/>
            <a:ext cx="10771498" cy="2056782"/>
          </a:xfrm>
          <a:prstGeom prst="rect">
            <a:avLst/>
          </a:prstGeom>
          <a:noFill/>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de-DE" sz="24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Auftrag:</a:t>
            </a:r>
          </a:p>
          <a:p>
            <a:pPr lvl="0">
              <a:lnSpc>
                <a:spcPct val="125000"/>
              </a:lnSpc>
            </a:pPr>
            <a:r>
              <a:rPr lang="de-DE" sz="2000" dirty="0">
                <a:solidFill>
                  <a:srgbClr val="000000"/>
                </a:solidFill>
                <a:latin typeface="Liberation Serif" panose="02020603050405020304" pitchFamily="18" charset="0"/>
              </a:rPr>
              <a:t>Nehmen Sie sich 5 Minuten Zeit, um über die obige Frage nachzudenken und sie schriftlich zu beantworten. Wie viel und was Sie schreiben, bestimmen allein Sie. Versuchen Sie, sich in die jeweilige Situation zurückzuversetzen und zu beschreiben, was Sie in der Situation gefühlt haben. </a:t>
            </a:r>
            <a:br>
              <a:rPr lang="de-DE" sz="2000" dirty="0">
                <a:solidFill>
                  <a:srgbClr val="000000"/>
                </a:solidFill>
                <a:latin typeface="Liberation Serif" panose="02020603050405020304" pitchFamily="18" charset="0"/>
              </a:rPr>
            </a:br>
            <a:r>
              <a:rPr lang="de-DE" sz="2000" b="1" dirty="0">
                <a:solidFill>
                  <a:srgbClr val="000000"/>
                </a:solidFill>
                <a:latin typeface="Liberation Serif" panose="02020603050405020304" pitchFamily="18" charset="0"/>
              </a:rPr>
              <a:t>Wichtig: </a:t>
            </a:r>
            <a:r>
              <a:rPr lang="de-DE" sz="2000" dirty="0">
                <a:solidFill>
                  <a:srgbClr val="000000"/>
                </a:solidFill>
                <a:latin typeface="Liberation Serif" panose="02020603050405020304" pitchFamily="18" charset="0"/>
              </a:rPr>
              <a:t>Ihre Antworten müssen nicht mit der Lehrperson oder </a:t>
            </a:r>
            <a:r>
              <a:rPr lang="de-DE" sz="2000" dirty="0" err="1">
                <a:solidFill>
                  <a:srgbClr val="000000"/>
                </a:solidFill>
                <a:latin typeface="Liberation Serif" panose="02020603050405020304" pitchFamily="18" charset="0"/>
              </a:rPr>
              <a:t>Kommiliton:innen</a:t>
            </a:r>
            <a:r>
              <a:rPr lang="de-DE" sz="2000" dirty="0">
                <a:solidFill>
                  <a:srgbClr val="000000"/>
                </a:solidFill>
                <a:latin typeface="Liberation Serif" panose="02020603050405020304" pitchFamily="18" charset="0"/>
              </a:rPr>
              <a:t> geteilt werden. </a:t>
            </a:r>
            <a:endParaRPr kumimoji="0" lang="de-DE" sz="20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endParaRPr>
          </a:p>
        </p:txBody>
      </p:sp>
      <p:sp>
        <p:nvSpPr>
          <p:cNvPr id="14" name="Textfeld 13">
            <a:extLst>
              <a:ext uri="{FF2B5EF4-FFF2-40B4-BE49-F238E27FC236}">
                <a16:creationId xmlns:a16="http://schemas.microsoft.com/office/drawing/2014/main" id="{8EDB7F3C-3BFE-48D9-BD50-0ACF004333AF}"/>
              </a:ext>
            </a:extLst>
          </p:cNvPr>
          <p:cNvSpPr txBox="1"/>
          <p:nvPr/>
        </p:nvSpPr>
        <p:spPr>
          <a:xfrm rot="16200000">
            <a:off x="10405786" y="2743324"/>
            <a:ext cx="2591158" cy="230832"/>
          </a:xfrm>
          <a:prstGeom prst="rect">
            <a:avLst/>
          </a:prstGeom>
          <a:noFill/>
        </p:spPr>
        <p:txBody>
          <a:bodyPr wrap="square" rtlCol="0">
            <a:spAutoFit/>
          </a:bodyPr>
          <a:lstStyle/>
          <a:p>
            <a:r>
              <a:rPr lang="de-DE" sz="900" dirty="0">
                <a:latin typeface="Liberation Serif" panose="02020603050405020304" pitchFamily="18" charset="0"/>
              </a:rPr>
              <a:t>Bildquelle: </a:t>
            </a:r>
          </a:p>
        </p:txBody>
      </p:sp>
      <p:sp>
        <p:nvSpPr>
          <p:cNvPr id="12" name="Rechteck 11">
            <a:extLst>
              <a:ext uri="{FF2B5EF4-FFF2-40B4-BE49-F238E27FC236}">
                <a16:creationId xmlns:a16="http://schemas.microsoft.com/office/drawing/2014/main" id="{9573D642-C1E4-40B9-B4FB-362269D2624A}"/>
              </a:ext>
            </a:extLst>
          </p:cNvPr>
          <p:cNvSpPr/>
          <p:nvPr/>
        </p:nvSpPr>
        <p:spPr>
          <a:xfrm>
            <a:off x="623888" y="1484784"/>
            <a:ext cx="10943704" cy="2119298"/>
          </a:xfrm>
          <a:prstGeom prst="rect">
            <a:avLst/>
          </a:prstGeom>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Der heutige Positive Prompt lautet:</a:t>
            </a: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Lorem</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ipsum</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dolor</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sit</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amet</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consetetur</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b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b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sadipscing</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elitr</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sed </a:t>
            </a: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diam</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nonumy</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eirmod</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b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b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tempor</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invidunt</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ut</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labore</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et </a:t>
            </a: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dolore</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a:t>
            </a:r>
          </a:p>
        </p:txBody>
      </p:sp>
      <p:sp>
        <p:nvSpPr>
          <p:cNvPr id="15" name="Rechteck 14">
            <a:extLst>
              <a:ext uri="{FF2B5EF4-FFF2-40B4-BE49-F238E27FC236}">
                <a16:creationId xmlns:a16="http://schemas.microsoft.com/office/drawing/2014/main" id="{BED4BAC9-1863-4DF4-891A-A813C7377228}"/>
              </a:ext>
            </a:extLst>
          </p:cNvPr>
          <p:cNvSpPr/>
          <p:nvPr/>
        </p:nvSpPr>
        <p:spPr>
          <a:xfrm>
            <a:off x="7328263" y="1563161"/>
            <a:ext cx="4239329" cy="248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316808CF-ABC5-49B7-8C25-9DC39C5C49F1}"/>
              </a:ext>
            </a:extLst>
          </p:cNvPr>
          <p:cNvSpPr txBox="1"/>
          <p:nvPr/>
        </p:nvSpPr>
        <p:spPr>
          <a:xfrm>
            <a:off x="533936" y="6378130"/>
            <a:ext cx="9894586" cy="338554"/>
          </a:xfrm>
          <a:prstGeom prst="rect">
            <a:avLst/>
          </a:prstGeom>
          <a:noFill/>
        </p:spPr>
        <p:txBody>
          <a:bodyPr wrap="square">
            <a:spAutoFit/>
          </a:bodyPr>
          <a:lstStyle/>
          <a:p>
            <a:pPr marL="0" marR="0" indent="0">
              <a:buNone/>
            </a:pPr>
            <a:r>
              <a:rPr lang="de-DE" sz="800" b="0" i="0" dirty="0">
                <a:effectLst/>
                <a:latin typeface="Segoe UI" panose="020B0502040204020203" pitchFamily="34" charset="0"/>
              </a:rPr>
              <a:t>Dieses Material wurde im Rahmen des Projekts Happy Kit erarbeitet. </a:t>
            </a:r>
          </a:p>
          <a:p>
            <a:pPr marL="0" marR="0" indent="0">
              <a:buNone/>
            </a:pPr>
            <a:r>
              <a:rPr lang="de-DE" sz="800" b="0" i="0" dirty="0">
                <a:effectLst/>
                <a:latin typeface="Segoe UI" panose="020B0502040204020203" pitchFamily="34" charset="0"/>
              </a:rPr>
              <a:t>Das Projekt wurde von Oktober 2024 bis Oktober 2026 durch interne Qualitätsverbesserungsmittel für Studium und Lehre der Hochschule Ruhr West gefördert.</a:t>
            </a:r>
          </a:p>
        </p:txBody>
      </p:sp>
    </p:spTree>
    <p:extLst>
      <p:ext uri="{BB962C8B-B14F-4D97-AF65-F5344CB8AC3E}">
        <p14:creationId xmlns:p14="http://schemas.microsoft.com/office/powerpoint/2010/main" val="3336846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574BC659-A4B0-4E04-A4B8-7E062FEFDC7A}"/>
              </a:ext>
            </a:extLst>
          </p:cNvPr>
          <p:cNvSpPr/>
          <p:nvPr/>
        </p:nvSpPr>
        <p:spPr>
          <a:xfrm>
            <a:off x="623888" y="1484784"/>
            <a:ext cx="10943704" cy="2119298"/>
          </a:xfrm>
          <a:prstGeom prst="rect">
            <a:avLst/>
          </a:prstGeom>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Der heutige Positive Prompt lautet:</a:t>
            </a: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Lorem</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ipsum</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dolor</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sit</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amet</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consetetur</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b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b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sadipscing</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elitr</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sed </a:t>
            </a: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diam</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nonumy</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eirmod</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b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b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tempor</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invidunt</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ut</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labore</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et </a:t>
            </a:r>
            <a:r>
              <a:rPr kumimoji="0" lang="de-DE" sz="2800" b="1"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dolore</a:t>
            </a:r>
            <a:r>
              <a:rPr kumimoji="0" lang="de-DE" sz="28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a:t>
            </a:r>
          </a:p>
        </p:txBody>
      </p:sp>
      <p:sp>
        <p:nvSpPr>
          <p:cNvPr id="22" name="Titel 2">
            <a:extLst>
              <a:ext uri="{FF2B5EF4-FFF2-40B4-BE49-F238E27FC236}">
                <a16:creationId xmlns:a16="http://schemas.microsoft.com/office/drawing/2014/main" id="{6635CA9D-1F79-49CF-9265-391194C0CA3C}"/>
              </a:ext>
            </a:extLst>
          </p:cNvPr>
          <p:cNvSpPr>
            <a:spLocks noGrp="1"/>
          </p:cNvSpPr>
          <p:nvPr>
            <p:ph type="title"/>
          </p:nvPr>
        </p:nvSpPr>
        <p:spPr>
          <a:xfrm>
            <a:off x="623888" y="514804"/>
            <a:ext cx="10943704" cy="776810"/>
          </a:xfrm>
        </p:spPr>
        <p:txBody>
          <a:bodyPr/>
          <a:lstStyle/>
          <a:p>
            <a:r>
              <a:rPr lang="de-DE" sz="4000" dirty="0"/>
              <a:t>Positive Prompts</a:t>
            </a:r>
          </a:p>
        </p:txBody>
      </p:sp>
      <p:pic>
        <p:nvPicPr>
          <p:cNvPr id="18" name="Picture 2">
            <a:extLst>
              <a:ext uri="{FF2B5EF4-FFF2-40B4-BE49-F238E27FC236}">
                <a16:creationId xmlns:a16="http://schemas.microsoft.com/office/drawing/2014/main" id="{EB20708F-35E1-41DC-86B3-17145B1655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1084308" y="6216870"/>
            <a:ext cx="517652" cy="51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Grafik 9">
            <a:extLst>
              <a:ext uri="{FF2B5EF4-FFF2-40B4-BE49-F238E27FC236}">
                <a16:creationId xmlns:a16="http://schemas.microsoft.com/office/drawing/2014/main" id="{11A12C27-CF45-47D1-B993-07A2B54F4599}"/>
              </a:ext>
            </a:extLst>
          </p:cNvPr>
          <p:cNvPicPr>
            <a:picLocks noChangeAspect="1"/>
          </p:cNvPicPr>
          <p:nvPr/>
        </p:nvPicPr>
        <p:blipFill>
          <a:blip r:embed="rId4"/>
          <a:stretch>
            <a:fillRect/>
          </a:stretch>
        </p:blipFill>
        <p:spPr>
          <a:xfrm>
            <a:off x="10292297" y="6168287"/>
            <a:ext cx="610328" cy="626204"/>
          </a:xfrm>
          <a:prstGeom prst="rect">
            <a:avLst/>
          </a:prstGeom>
        </p:spPr>
      </p:pic>
      <p:pic>
        <p:nvPicPr>
          <p:cNvPr id="4" name="Grafik 3">
            <a:extLst>
              <a:ext uri="{FF2B5EF4-FFF2-40B4-BE49-F238E27FC236}">
                <a16:creationId xmlns:a16="http://schemas.microsoft.com/office/drawing/2014/main" id="{386AFB18-5402-4A17-8270-E36FADF146B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902625" y="153118"/>
            <a:ext cx="1020035" cy="1022585"/>
          </a:xfrm>
          <a:prstGeom prst="rect">
            <a:avLst/>
          </a:prstGeom>
        </p:spPr>
      </p:pic>
      <p:sp>
        <p:nvSpPr>
          <p:cNvPr id="13" name="Textfeld 12">
            <a:extLst>
              <a:ext uri="{FF2B5EF4-FFF2-40B4-BE49-F238E27FC236}">
                <a16:creationId xmlns:a16="http://schemas.microsoft.com/office/drawing/2014/main" id="{A9AD5905-A02A-4A92-B0AB-FEC8FCA776A3}"/>
              </a:ext>
            </a:extLst>
          </p:cNvPr>
          <p:cNvSpPr txBox="1"/>
          <p:nvPr/>
        </p:nvSpPr>
        <p:spPr>
          <a:xfrm>
            <a:off x="623888" y="3859493"/>
            <a:ext cx="10771498" cy="2357377"/>
          </a:xfrm>
          <a:prstGeom prst="rect">
            <a:avLst/>
          </a:prstGeom>
          <a:noFill/>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lang="de-DE" sz="2400" b="1" dirty="0">
                <a:solidFill>
                  <a:srgbClr val="000000"/>
                </a:solidFill>
                <a:latin typeface="Liberation Serif" panose="02020603050405020304" pitchFamily="18" charset="0"/>
              </a:rPr>
              <a:t>Leitfragen</a:t>
            </a:r>
            <a:r>
              <a:rPr kumimoji="0" lang="de-DE" sz="2400" b="1"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a:t>
            </a:r>
          </a:p>
          <a:p>
            <a:pPr marL="342900" lvl="0" indent="-342900">
              <a:lnSpc>
                <a:spcPct val="125000"/>
              </a:lnSpc>
              <a:buFont typeface="Symbol" panose="05050102010706020507" pitchFamily="18" charset="2"/>
              <a:buChar char="-"/>
            </a:pP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Lorem</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ipsum</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dolor</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sit</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amet</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consetetur</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sadipscing</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elitr</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p>
          <a:p>
            <a:pPr marL="342900" lvl="0" indent="-342900">
              <a:lnSpc>
                <a:spcPct val="125000"/>
              </a:lnSpc>
              <a:buFont typeface="Symbol" panose="05050102010706020507" pitchFamily="18" charset="2"/>
              <a:buChar char="-"/>
            </a:pP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sed </a:t>
            </a: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diam</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nonumy</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eirmod</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tempor</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invidunt</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ut</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labore</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et </a:t>
            </a:r>
          </a:p>
          <a:p>
            <a:pPr marL="342900" lvl="0" indent="-342900">
              <a:lnSpc>
                <a:spcPct val="125000"/>
              </a:lnSpc>
              <a:buFont typeface="Symbol" panose="05050102010706020507" pitchFamily="18" charset="2"/>
              <a:buChar char="-"/>
            </a:pP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dolore</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magna </a:t>
            </a: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aliquyam</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erat, sed </a:t>
            </a: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diam</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voluptua</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p>
          <a:p>
            <a:pPr marL="342900" lvl="0" indent="-342900">
              <a:lnSpc>
                <a:spcPct val="125000"/>
              </a:lnSpc>
              <a:buFont typeface="Symbol" panose="05050102010706020507" pitchFamily="18" charset="2"/>
              <a:buChar char="-"/>
            </a:pP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At </a:t>
            </a: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vero</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eos</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et </a:t>
            </a: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accusam</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et </a:t>
            </a: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justo</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duo</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dolores</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et </a:t>
            </a: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ea</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 </a:t>
            </a:r>
            <a:r>
              <a:rPr kumimoji="0" lang="de-DE" sz="2400" b="0" i="0" u="none" strike="noStrike" kern="1200" cap="none" spc="0" normalizeH="0" baseline="0" noProof="0" dirty="0" err="1">
                <a:ln>
                  <a:noFill/>
                </a:ln>
                <a:solidFill>
                  <a:srgbClr val="000000"/>
                </a:solidFill>
                <a:effectLst/>
                <a:uLnTx/>
                <a:uFillTx/>
                <a:latin typeface="Liberation Serif" panose="02020603050405020304" pitchFamily="18" charset="0"/>
                <a:ea typeface="+mn-ea"/>
                <a:cs typeface="+mn-cs"/>
              </a:rPr>
              <a:t>rebum</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cs typeface="+mn-cs"/>
              </a:rPr>
              <a:t>.</a:t>
            </a:r>
          </a:p>
        </p:txBody>
      </p:sp>
      <p:sp>
        <p:nvSpPr>
          <p:cNvPr id="14" name="Textfeld 13">
            <a:extLst>
              <a:ext uri="{FF2B5EF4-FFF2-40B4-BE49-F238E27FC236}">
                <a16:creationId xmlns:a16="http://schemas.microsoft.com/office/drawing/2014/main" id="{8EDB7F3C-3BFE-48D9-BD50-0ACF004333AF}"/>
              </a:ext>
            </a:extLst>
          </p:cNvPr>
          <p:cNvSpPr txBox="1"/>
          <p:nvPr/>
        </p:nvSpPr>
        <p:spPr>
          <a:xfrm rot="16200000">
            <a:off x="10405786" y="2743324"/>
            <a:ext cx="2591158" cy="230832"/>
          </a:xfrm>
          <a:prstGeom prst="rect">
            <a:avLst/>
          </a:prstGeom>
          <a:noFill/>
        </p:spPr>
        <p:txBody>
          <a:bodyPr wrap="square" rtlCol="0">
            <a:spAutoFit/>
          </a:bodyPr>
          <a:lstStyle/>
          <a:p>
            <a:r>
              <a:rPr lang="de-DE" sz="900" dirty="0">
                <a:latin typeface="Liberation Serif" panose="02020603050405020304" pitchFamily="18" charset="0"/>
              </a:rPr>
              <a:t>Bildquelle: </a:t>
            </a:r>
          </a:p>
        </p:txBody>
      </p:sp>
      <p:sp>
        <p:nvSpPr>
          <p:cNvPr id="11" name="Rechteck 10">
            <a:extLst>
              <a:ext uri="{FF2B5EF4-FFF2-40B4-BE49-F238E27FC236}">
                <a16:creationId xmlns:a16="http://schemas.microsoft.com/office/drawing/2014/main" id="{6846A022-052A-47A5-8964-07E5E3918DCE}"/>
              </a:ext>
            </a:extLst>
          </p:cNvPr>
          <p:cNvSpPr/>
          <p:nvPr/>
        </p:nvSpPr>
        <p:spPr>
          <a:xfrm>
            <a:off x="7328263" y="1563161"/>
            <a:ext cx="4239329" cy="248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Textfeld 11">
            <a:extLst>
              <a:ext uri="{FF2B5EF4-FFF2-40B4-BE49-F238E27FC236}">
                <a16:creationId xmlns:a16="http://schemas.microsoft.com/office/drawing/2014/main" id="{4A423A36-E61F-4893-9117-D4D9A3703F48}"/>
              </a:ext>
            </a:extLst>
          </p:cNvPr>
          <p:cNvSpPr txBox="1"/>
          <p:nvPr/>
        </p:nvSpPr>
        <p:spPr>
          <a:xfrm>
            <a:off x="533936" y="6378130"/>
            <a:ext cx="9894586" cy="338554"/>
          </a:xfrm>
          <a:prstGeom prst="rect">
            <a:avLst/>
          </a:prstGeom>
          <a:noFill/>
        </p:spPr>
        <p:txBody>
          <a:bodyPr wrap="square">
            <a:spAutoFit/>
          </a:bodyPr>
          <a:lstStyle/>
          <a:p>
            <a:pPr marL="0" marR="0" indent="0">
              <a:buNone/>
            </a:pPr>
            <a:r>
              <a:rPr lang="de-DE" sz="800" b="0" i="0" dirty="0">
                <a:effectLst/>
                <a:latin typeface="Segoe UI" panose="020B0502040204020203" pitchFamily="34" charset="0"/>
              </a:rPr>
              <a:t>Dieses Material wurde im Rahmen des Projekts Happy Kit erarbeitet. </a:t>
            </a:r>
          </a:p>
          <a:p>
            <a:pPr marL="0" marR="0" indent="0">
              <a:buNone/>
            </a:pPr>
            <a:r>
              <a:rPr lang="de-DE" sz="800" b="0" i="0" dirty="0">
                <a:effectLst/>
                <a:latin typeface="Segoe UI" panose="020B0502040204020203" pitchFamily="34" charset="0"/>
              </a:rPr>
              <a:t>Das Projekt wurde von Oktober 2024 bis Oktober 2026 durch interne Qualitätsverbesserungsmittel für Studium und Lehre der Hochschule Ruhr West gefördert.</a:t>
            </a:r>
          </a:p>
        </p:txBody>
      </p:sp>
    </p:spTree>
    <p:extLst>
      <p:ext uri="{BB962C8B-B14F-4D97-AF65-F5344CB8AC3E}">
        <p14:creationId xmlns:p14="http://schemas.microsoft.com/office/powerpoint/2010/main" val="3491647862"/>
      </p:ext>
    </p:extLst>
  </p:cSld>
  <p:clrMapOvr>
    <a:masterClrMapping/>
  </p:clrMapOvr>
</p:sld>
</file>

<file path=ppt/theme/theme1.xml><?xml version="1.0" encoding="utf-8"?>
<a:theme xmlns:a="http://schemas.openxmlformats.org/drawingml/2006/main" name="2_Office">
  <a:themeElements>
    <a:clrScheme name="Benutzerdefiniert 1">
      <a:dk1>
        <a:srgbClr val="000000"/>
      </a:dk1>
      <a:lt1>
        <a:srgbClr val="FFFFFF"/>
      </a:lt1>
      <a:dk2>
        <a:srgbClr val="00A2D9"/>
      </a:dk2>
      <a:lt2>
        <a:srgbClr val="EEECE1"/>
      </a:lt2>
      <a:accent1>
        <a:srgbClr val="00A3DA"/>
      </a:accent1>
      <a:accent2>
        <a:srgbClr val="006B8E"/>
      </a:accent2>
      <a:accent3>
        <a:srgbClr val="4C4D4C"/>
      </a:accent3>
      <a:accent4>
        <a:srgbClr val="767776"/>
      </a:accent4>
      <a:accent5>
        <a:srgbClr val="767776"/>
      </a:accent5>
      <a:accent6>
        <a:srgbClr val="00AFDD"/>
      </a:accent6>
      <a:hlink>
        <a:srgbClr val="006B8E"/>
      </a:hlink>
      <a:folHlink>
        <a:srgbClr val="00516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9-06-06_HRW Powerpoint Master" id="{04377A4D-9DE6-EE41-8781-0E189CB9E1B1}" vid="{5CFA870C-B1ED-834E-B24B-41185ED9A9A9}"/>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645</Words>
  <Application>Microsoft Office PowerPoint</Application>
  <PresentationFormat>Breitbild</PresentationFormat>
  <Paragraphs>45</Paragraphs>
  <Slides>4</Slides>
  <Notes>4</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4</vt:i4>
      </vt:variant>
    </vt:vector>
  </HeadingPairs>
  <TitlesOfParts>
    <vt:vector size="10" baseType="lpstr">
      <vt:lpstr>Arial</vt:lpstr>
      <vt:lpstr>Calibri</vt:lpstr>
      <vt:lpstr>Liberation Serif</vt:lpstr>
      <vt:lpstr>Segoe UI</vt:lpstr>
      <vt:lpstr>Symbol</vt:lpstr>
      <vt:lpstr>2_Office</vt:lpstr>
      <vt:lpstr>Positive Prompts</vt:lpstr>
      <vt:lpstr>Positive Prompts</vt:lpstr>
      <vt:lpstr>Positive Prompts</vt:lpstr>
      <vt:lpstr>Positive Prompts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Positive Prompts</dc:title>
  <dc:creator>Graf, Maike</dc:creator>
  <cp:lastModifiedBy>Graf, Maike</cp:lastModifiedBy>
  <cp:revision>29</cp:revision>
  <dcterms:created xsi:type="dcterms:W3CDTF">2025-03-27T15:14:21Z</dcterms:created>
  <dcterms:modified xsi:type="dcterms:W3CDTF">2026-08-27T09:08:31Z</dcterms:modified>
</cp:coreProperties>
</file>