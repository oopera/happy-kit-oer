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68" r:id="rId2"/>
    <p:sldId id="372" r:id="rId3"/>
    <p:sldId id="373" r:id="rId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8052" autoAdjust="0"/>
  </p:normalViewPr>
  <p:slideViewPr>
    <p:cSldViewPr snapToGrid="0">
      <p:cViewPr varScale="1">
        <p:scale>
          <a:sx n="51" d="100"/>
          <a:sy n="51" d="100"/>
        </p:scale>
        <p:origin x="125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158BA-E91D-407B-ACB7-59D63F67D087}" type="datetimeFigureOut">
              <a:rPr lang="de-DE" smtClean="0"/>
              <a:t>27.08.2026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AF92C9-B6FC-4C59-9B54-8192BC6798B5}" type="slidenum">
              <a:rPr lang="de-DE" smtClean="0"/>
              <a:t>‹Nr.›</a:t>
            </a:fld>
            <a:endParaRPr lang="de-DE"/>
          </a:p>
        </p:txBody>
      </p:sp>
    </p:spTree>
    <p:extLst>
      <p:ext uri="{BB962C8B-B14F-4D97-AF65-F5344CB8AC3E}">
        <p14:creationId xmlns:p14="http://schemas.microsoft.com/office/powerpoint/2010/main" val="3842662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buFont typeface="Arial" panose="020B0604020202020204" pitchFamily="34" charset="0"/>
              <a:buNone/>
            </a:pPr>
            <a:r>
              <a:rPr lang="de-DE" sz="1800" dirty="0">
                <a:effectLst/>
                <a:latin typeface="Calibri" panose="020F0502020204030204" pitchFamily="34" charset="0"/>
                <a:ea typeface="Calibri" panose="020F0502020204030204" pitchFamily="34" charset="0"/>
                <a:cs typeface="Times New Roman" panose="02020603050405020304" pitchFamily="18" charset="0"/>
              </a:rPr>
              <a:t>„Mithilfe dieses Tools können Sie sich mit Ihren Charakterstärken auseinandersetzen und etwas über sich selbst herausfinden. Zur Erklärung:</a:t>
            </a:r>
          </a:p>
          <a:p>
            <a:pPr marL="457200" marR="0" lvl="0" indent="-457200" algn="l" defTabSz="914400" rtl="0" eaLnBrk="1" fontAlgn="auto" latinLnBrk="0" hangingPunct="1">
              <a:lnSpc>
                <a:spcPct val="100000"/>
              </a:lnSpc>
              <a:spcBef>
                <a:spcPts val="0"/>
              </a:spcBef>
              <a:spcAft>
                <a:spcPts val="0"/>
              </a:spcAft>
              <a:buClrTx/>
              <a:buSzTx/>
              <a:buFontTx/>
              <a:buChar char="-"/>
              <a:tabLst/>
              <a:defRPr/>
            </a:pPr>
            <a:r>
              <a:rPr lang="de-DE" sz="2800" b="0" dirty="0"/>
              <a:t>Charakterstärken sind relativ stabile </a:t>
            </a:r>
            <a:r>
              <a:rPr lang="de-DE" sz="2800" dirty="0"/>
              <a:t>positive Eigenschaften, die den Kern unseres Seins bilden</a:t>
            </a:r>
            <a:r>
              <a:rPr lang="de-DE" sz="2800" b="0" dirty="0"/>
              <a:t>, persönlich erfüllend und energetisierend sind, kulturübergreifend geschätzt werden und andere Personen nicht schmälern.</a:t>
            </a:r>
          </a:p>
          <a:p>
            <a:pPr marL="457200" marR="0" lvl="0" indent="-457200" algn="l" defTabSz="914400" rtl="0" eaLnBrk="1" fontAlgn="auto" latinLnBrk="0" hangingPunct="1">
              <a:lnSpc>
                <a:spcPct val="100000"/>
              </a:lnSpc>
              <a:spcBef>
                <a:spcPts val="0"/>
              </a:spcBef>
              <a:spcAft>
                <a:spcPts val="0"/>
              </a:spcAft>
              <a:buClrTx/>
              <a:buSzTx/>
              <a:buFontTx/>
              <a:buChar char="-"/>
              <a:tabLst/>
              <a:defRPr/>
            </a:pPr>
            <a:r>
              <a:rPr lang="de-DE" sz="4000" b="0" dirty="0"/>
              <a:t>Die Identifizierung und Anwendung dieser hängt mit </a:t>
            </a:r>
            <a:r>
              <a:rPr lang="de-DE" sz="4000" dirty="0"/>
              <a:t>einem höheren Maß an subjektivem Wohlbefinden</a:t>
            </a:r>
            <a:r>
              <a:rPr lang="de-DE" sz="4000" b="0" dirty="0"/>
              <a:t> zusammen.</a:t>
            </a:r>
          </a:p>
          <a:p>
            <a:pPr marL="457200" marR="0" lvl="0" indent="-457200" algn="l" defTabSz="914400" rtl="0" eaLnBrk="1" fontAlgn="auto" latinLnBrk="0" hangingPunct="1">
              <a:lnSpc>
                <a:spcPct val="100000"/>
              </a:lnSpc>
              <a:spcBef>
                <a:spcPts val="0"/>
              </a:spcBef>
              <a:spcAft>
                <a:spcPts val="0"/>
              </a:spcAft>
              <a:buClrTx/>
              <a:buSzTx/>
              <a:buFontTx/>
              <a:buChar char="-"/>
              <a:tabLst/>
              <a:defRPr/>
            </a:pPr>
            <a:r>
              <a:rPr lang="de-DE" sz="2800" b="0" dirty="0"/>
              <a:t>Durch wissenschaftliche Untersuchungen im Bereich der Positiven Psychologie wurden </a:t>
            </a:r>
            <a:r>
              <a:rPr lang="de-DE" sz="4000" b="0" dirty="0"/>
              <a:t>24 Charakterstärken herausgefunden und in 6 Tugenden zusammengefasst, welche Sie in der Abbildung unten aufgelistet sehen</a:t>
            </a:r>
          </a:p>
          <a:p>
            <a:pPr marL="457200" marR="0" lvl="0" indent="-457200" algn="l" defTabSz="914400" rtl="0" eaLnBrk="1" fontAlgn="auto" latinLnBrk="0" hangingPunct="1">
              <a:lnSpc>
                <a:spcPct val="100000"/>
              </a:lnSpc>
              <a:spcBef>
                <a:spcPts val="0"/>
              </a:spcBef>
              <a:spcAft>
                <a:spcPts val="0"/>
              </a:spcAft>
              <a:buClrTx/>
              <a:buSzTx/>
              <a:buFontTx/>
              <a:buChar char="-"/>
              <a:tabLst/>
              <a:defRPr/>
            </a:pPr>
            <a:r>
              <a:rPr lang="de-DE" sz="4000" b="0" dirty="0"/>
              <a:t>D</a:t>
            </a:r>
            <a:r>
              <a:rPr lang="de-DE" sz="4000" dirty="0"/>
              <a:t>ie obersten fünf Stärken gelten als Signaturstärken</a:t>
            </a:r>
            <a:r>
              <a:rPr lang="de-DE" sz="4000" b="0" dirty="0"/>
              <a:t>, also solche, die besonders ausgeprägt sind.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28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2800" b="0" dirty="0"/>
              <a:t>Um den Fragebogen ausfüllen zu können, folgen Sie der Anleitung auf den nächsten Folien“</a:t>
            </a:r>
          </a:p>
          <a:p>
            <a:pPr>
              <a:buFont typeface="Arial" panose="020B0604020202020204" pitchFamily="34" charset="0"/>
              <a:buNone/>
            </a:pPr>
            <a:endParaRPr lang="de-DE"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Foliennummernplatzhalt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5D67AAC5-E19D-4C4F-A62D-4E8DD51B8C68}" type="slidenum">
              <a:rPr kumimoji="0" lang="de-DE" sz="1000" b="0" i="0" u="none" strike="noStrike" kern="1200" cap="none" spc="0" normalizeH="0" baseline="0" noProof="0" smtClean="0">
                <a:ln>
                  <a:noFill/>
                </a:ln>
                <a:solidFill>
                  <a:prstClr val="black"/>
                </a:solidFill>
                <a:effectLst/>
                <a:uLnTx/>
                <a:uFillTx/>
                <a:latin typeface="Liberation Serif" panose="02020603050405020304" pitchFamily="18"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a:t>
            </a:fld>
            <a:endParaRPr kumimoji="0" lang="de-DE" sz="1000" b="0" i="0" u="none" strike="noStrike" kern="1200" cap="none" spc="0" normalizeH="0" baseline="0" noProof="0">
              <a:ln>
                <a:noFill/>
              </a:ln>
              <a:solidFill>
                <a:prstClr val="black"/>
              </a:solidFill>
              <a:effectLst/>
              <a:uLnTx/>
              <a:uFillTx/>
              <a:latin typeface="Liberation Serif" panose="02020603050405020304" pitchFamily="18" charset="0"/>
              <a:ea typeface="+mn-ea"/>
              <a:cs typeface="+mn-cs"/>
            </a:endParaRPr>
          </a:p>
        </p:txBody>
      </p:sp>
    </p:spTree>
    <p:extLst>
      <p:ext uri="{BB962C8B-B14F-4D97-AF65-F5344CB8AC3E}">
        <p14:creationId xmlns:p14="http://schemas.microsoft.com/office/powerpoint/2010/main" val="1513329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buFont typeface="Arial" panose="020B0604020202020204" pitchFamily="34" charset="0"/>
              <a:buNone/>
            </a:pPr>
            <a:r>
              <a:rPr lang="de-DE" sz="1800" dirty="0">
                <a:effectLst/>
                <a:latin typeface="Calibri" panose="020F0502020204030204" pitchFamily="34" charset="0"/>
                <a:ea typeface="Calibri" panose="020F0502020204030204" pitchFamily="34" charset="0"/>
                <a:cs typeface="Times New Roman" panose="02020603050405020304" pitchFamily="18" charset="0"/>
              </a:rPr>
              <a:t>„Gehen Sie auf die hier angegebene Website. Um den Test durchführen zu können, müssen Sie sich registrieren. Wählen Sie danach den VIA Adult Survey und führen Sie diesen durch.“</a:t>
            </a:r>
          </a:p>
          <a:p>
            <a:pPr>
              <a:buFont typeface="Arial" panose="020B0604020202020204" pitchFamily="34" charset="0"/>
              <a:buNone/>
            </a:pPr>
            <a:endParaRPr lang="de-DE"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None/>
            </a:pPr>
            <a:r>
              <a:rPr lang="de-DE" sz="1800" dirty="0">
                <a:effectLst/>
                <a:latin typeface="Calibri" panose="020F0502020204030204" pitchFamily="34" charset="0"/>
                <a:ea typeface="Calibri" panose="020F0502020204030204" pitchFamily="34" charset="0"/>
                <a:cs typeface="Times New Roman" panose="02020603050405020304" pitchFamily="18" charset="0"/>
              </a:rPr>
              <a:t>[Weiter auf der nächsten Folie]</a:t>
            </a:r>
          </a:p>
        </p:txBody>
      </p:sp>
      <p:sp>
        <p:nvSpPr>
          <p:cNvPr id="4" name="Foliennummernplatzhalt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5D67AAC5-E19D-4C4F-A62D-4E8DD51B8C68}" type="slidenum">
              <a:rPr kumimoji="0" lang="de-DE" sz="1000" b="0" i="0" u="none" strike="noStrike" kern="1200" cap="none" spc="0" normalizeH="0" baseline="0" noProof="0" smtClean="0">
                <a:ln>
                  <a:noFill/>
                </a:ln>
                <a:solidFill>
                  <a:prstClr val="black"/>
                </a:solidFill>
                <a:effectLst/>
                <a:uLnTx/>
                <a:uFillTx/>
                <a:latin typeface="Liberation Serif" panose="02020603050405020304" pitchFamily="18"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a:t>
            </a:fld>
            <a:endParaRPr kumimoji="0" lang="de-DE" sz="1000" b="0" i="0" u="none" strike="noStrike" kern="1200" cap="none" spc="0" normalizeH="0" baseline="0" noProof="0">
              <a:ln>
                <a:noFill/>
              </a:ln>
              <a:solidFill>
                <a:prstClr val="black"/>
              </a:solidFill>
              <a:effectLst/>
              <a:uLnTx/>
              <a:uFillTx/>
              <a:latin typeface="Liberation Serif" panose="02020603050405020304" pitchFamily="18" charset="0"/>
              <a:ea typeface="+mn-ea"/>
              <a:cs typeface="+mn-cs"/>
            </a:endParaRPr>
          </a:p>
        </p:txBody>
      </p:sp>
    </p:spTree>
    <p:extLst>
      <p:ext uri="{BB962C8B-B14F-4D97-AF65-F5344CB8AC3E}">
        <p14:creationId xmlns:p14="http://schemas.microsoft.com/office/powerpoint/2010/main" val="2546402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buFont typeface="Arial" panose="020B0604020202020204" pitchFamily="34" charset="0"/>
              <a:buNone/>
            </a:pPr>
            <a:r>
              <a:rPr lang="de-DE" sz="1800" dirty="0">
                <a:effectLst/>
                <a:latin typeface="Calibri" panose="020F0502020204030204" pitchFamily="34" charset="0"/>
                <a:ea typeface="Calibri" panose="020F0502020204030204" pitchFamily="34" charset="0"/>
                <a:cs typeface="Times New Roman" panose="02020603050405020304" pitchFamily="18" charset="0"/>
              </a:rPr>
              <a:t>„Der Test dauert ca. 10 Minuten und gibt Ihnen Aufschluss über Ihre Charakter- und fünf Signaturstärken, also solche, die besonders stark ausgeprägt sind.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800" dirty="0">
                <a:effectLst/>
                <a:latin typeface="Calibri" panose="020F0502020204030204" pitchFamily="34" charset="0"/>
                <a:ea typeface="Calibri" panose="020F0502020204030204" pitchFamily="34" charset="0"/>
                <a:cs typeface="Times New Roman" panose="02020603050405020304" pitchFamily="18" charset="0"/>
              </a:rPr>
              <a:t>Wenn Sie das Ergebnis erhalten haben, speichern Sie sich dieses ab, nehmen Sie das Reflexionsportfolio hinzu und bearbeiten dieses für ca. 10 weitere Minuten. Überlegen Sie vor allem, wie Sie Ihre Signaturstärken im Hochschulkontext einsetzen können, um auch hier Ihre Energie, Motivation und Wohlbefinden zu steigern. Wer mag, kann danach die eigenen Überlegungen gerne mit der Gruppe teilen!“</a:t>
            </a:r>
          </a:p>
          <a:p>
            <a:pPr>
              <a:buFont typeface="Arial" panose="020B0604020202020204" pitchFamily="34" charset="0"/>
              <a:buNone/>
            </a:pPr>
            <a:r>
              <a:rPr lang="de-DE" sz="18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4" name="Foliennummernplatzhalt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5D67AAC5-E19D-4C4F-A62D-4E8DD51B8C68}" type="slidenum">
              <a:rPr kumimoji="0" lang="de-DE" sz="1000" b="0" i="0" u="none" strike="noStrike" kern="1200" cap="none" spc="0" normalizeH="0" baseline="0" noProof="0" smtClean="0">
                <a:ln>
                  <a:noFill/>
                </a:ln>
                <a:solidFill>
                  <a:prstClr val="black"/>
                </a:solidFill>
                <a:effectLst/>
                <a:uLnTx/>
                <a:uFillTx/>
                <a:latin typeface="Liberation Serif" panose="02020603050405020304" pitchFamily="18"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3</a:t>
            </a:fld>
            <a:endParaRPr kumimoji="0" lang="de-DE" sz="1000" b="0" i="0" u="none" strike="noStrike" kern="1200" cap="none" spc="0" normalizeH="0" baseline="0" noProof="0">
              <a:ln>
                <a:noFill/>
              </a:ln>
              <a:solidFill>
                <a:prstClr val="black"/>
              </a:solidFill>
              <a:effectLst/>
              <a:uLnTx/>
              <a:uFillTx/>
              <a:latin typeface="Liberation Serif" panose="02020603050405020304" pitchFamily="18" charset="0"/>
              <a:ea typeface="+mn-ea"/>
              <a:cs typeface="+mn-cs"/>
            </a:endParaRPr>
          </a:p>
        </p:txBody>
      </p:sp>
    </p:spTree>
    <p:extLst>
      <p:ext uri="{BB962C8B-B14F-4D97-AF65-F5344CB8AC3E}">
        <p14:creationId xmlns:p14="http://schemas.microsoft.com/office/powerpoint/2010/main" val="27989804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bg>
      <p:bgPr>
        <a:solidFill>
          <a:schemeClr val="bg1"/>
        </a:solidFill>
        <a:effectLst/>
      </p:bgPr>
    </p:bg>
    <p:spTree>
      <p:nvGrpSpPr>
        <p:cNvPr id="1" name=""/>
        <p:cNvGrpSpPr/>
        <p:nvPr/>
      </p:nvGrpSpPr>
      <p:grpSpPr>
        <a:xfrm>
          <a:off x="0" y="0"/>
          <a:ext cx="0" cy="0"/>
          <a:chOff x="0" y="0"/>
          <a:chExt cx="0" cy="0"/>
        </a:xfrm>
      </p:grpSpPr>
      <p:sp>
        <p:nvSpPr>
          <p:cNvPr id="15" name="Rechteck 14">
            <a:extLst>
              <a:ext uri="{FF2B5EF4-FFF2-40B4-BE49-F238E27FC236}">
                <a16:creationId xmlns:a16="http://schemas.microsoft.com/office/drawing/2014/main" id="{2F209691-7882-4238-801F-B63FAA938076}"/>
              </a:ext>
            </a:extLst>
          </p:cNvPr>
          <p:cNvSpPr/>
          <p:nvPr userDrawn="1"/>
        </p:nvSpPr>
        <p:spPr>
          <a:xfrm>
            <a:off x="0" y="1172225"/>
            <a:ext cx="12192000" cy="46894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a:p>
        </p:txBody>
      </p:sp>
      <p:pic>
        <p:nvPicPr>
          <p:cNvPr id="16" name="HRW_Logo_transparent.png">
            <a:extLst>
              <a:ext uri="{FF2B5EF4-FFF2-40B4-BE49-F238E27FC236}">
                <a16:creationId xmlns:a16="http://schemas.microsoft.com/office/drawing/2014/main" id="{251BAA7E-DF9D-401E-A509-46C3FA0949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7504" y="-5965"/>
            <a:ext cx="2592288" cy="1150806"/>
          </a:xfrm>
          <a:prstGeom prst="rect">
            <a:avLst/>
          </a:prstGeom>
        </p:spPr>
      </p:pic>
      <p:pic>
        <p:nvPicPr>
          <p:cNvPr id="17" name="Bild 2">
            <a:extLst>
              <a:ext uri="{FF2B5EF4-FFF2-40B4-BE49-F238E27FC236}">
                <a16:creationId xmlns:a16="http://schemas.microsoft.com/office/drawing/2014/main" id="{F6FF9EDF-5F71-4DEB-974B-C8BF78CAB9FA}"/>
              </a:ext>
            </a:extLst>
          </p:cNvPr>
          <p:cNvPicPr>
            <a:picLocks noChangeAspect="1"/>
          </p:cNvPicPr>
          <p:nvPr userDrawn="1"/>
        </p:nvPicPr>
        <p:blipFill>
          <a:blip r:embed="rId3"/>
          <a:stretch>
            <a:fillRect/>
          </a:stretch>
        </p:blipFill>
        <p:spPr>
          <a:xfrm>
            <a:off x="9552384" y="-27384"/>
            <a:ext cx="2015208" cy="318982"/>
          </a:xfrm>
          <a:prstGeom prst="rect">
            <a:avLst/>
          </a:prstGeom>
        </p:spPr>
      </p:pic>
      <p:sp>
        <p:nvSpPr>
          <p:cNvPr id="18" name="Titel 1">
            <a:extLst>
              <a:ext uri="{FF2B5EF4-FFF2-40B4-BE49-F238E27FC236}">
                <a16:creationId xmlns:a16="http://schemas.microsoft.com/office/drawing/2014/main" id="{4D750284-B646-407C-B6B0-35BD96F7D486}"/>
              </a:ext>
            </a:extLst>
          </p:cNvPr>
          <p:cNvSpPr>
            <a:spLocks noGrp="1"/>
          </p:cNvSpPr>
          <p:nvPr>
            <p:ph type="ctrTitle" hasCustomPrompt="1"/>
          </p:nvPr>
        </p:nvSpPr>
        <p:spPr>
          <a:xfrm>
            <a:off x="623392" y="1412777"/>
            <a:ext cx="10944721" cy="612692"/>
          </a:xfrm>
          <a:prstGeom prst="rect">
            <a:avLst/>
          </a:prstGeom>
        </p:spPr>
        <p:txBody>
          <a:bodyPr vert="horz" lIns="0" tIns="0" rIns="0" bIns="0" anchor="t" anchorCtr="0">
            <a:noAutofit/>
          </a:bodyPr>
          <a:lstStyle>
            <a:lvl1pPr>
              <a:defRPr sz="4000">
                <a:solidFill>
                  <a:schemeClr val="bg1"/>
                </a:solidFill>
                <a:latin typeface="Liberation Serif" pitchFamily="18" charset="0"/>
              </a:defRPr>
            </a:lvl1pPr>
          </a:lstStyle>
          <a:p>
            <a:r>
              <a:rPr lang="de-DE" dirty="0"/>
              <a:t>Titelmasterformat durch Klicken bearbeiten</a:t>
            </a:r>
          </a:p>
        </p:txBody>
      </p:sp>
      <p:sp>
        <p:nvSpPr>
          <p:cNvPr id="20" name="Untertitel 2">
            <a:extLst>
              <a:ext uri="{FF2B5EF4-FFF2-40B4-BE49-F238E27FC236}">
                <a16:creationId xmlns:a16="http://schemas.microsoft.com/office/drawing/2014/main" id="{643E9BF6-7747-4652-AD2E-2DECF8D0135C}"/>
              </a:ext>
            </a:extLst>
          </p:cNvPr>
          <p:cNvSpPr>
            <a:spLocks noGrp="1"/>
          </p:cNvSpPr>
          <p:nvPr>
            <p:ph type="subTitle" idx="1" hasCustomPrompt="1"/>
          </p:nvPr>
        </p:nvSpPr>
        <p:spPr>
          <a:xfrm>
            <a:off x="623393" y="2099447"/>
            <a:ext cx="10944200" cy="538498"/>
          </a:xfrm>
          <a:prstGeom prst="rect">
            <a:avLst/>
          </a:prstGeom>
        </p:spPr>
        <p:txBody>
          <a:bodyPr>
            <a:noAutofit/>
          </a:bodyPr>
          <a:lstStyle>
            <a:lvl1pPr marL="0" indent="0" algn="l">
              <a:buNone/>
              <a:defRPr sz="2800">
                <a:solidFill>
                  <a:schemeClr val="bg1"/>
                </a:solidFill>
                <a:latin typeface="Liberation Serif" pitchFamily="18" charset="0"/>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de-DE" dirty="0"/>
              <a:t>Formatvorlage des Untertitelmasters durch Klicken bearbeiten</a:t>
            </a:r>
          </a:p>
        </p:txBody>
      </p:sp>
      <p:sp>
        <p:nvSpPr>
          <p:cNvPr id="21" name="Inhaltsplatzhalter 18">
            <a:extLst>
              <a:ext uri="{FF2B5EF4-FFF2-40B4-BE49-F238E27FC236}">
                <a16:creationId xmlns:a16="http://schemas.microsoft.com/office/drawing/2014/main" id="{0AFA74AB-D6FF-41EA-A6B1-3CA8CABE7881}"/>
              </a:ext>
            </a:extLst>
          </p:cNvPr>
          <p:cNvSpPr>
            <a:spLocks noGrp="1"/>
          </p:cNvSpPr>
          <p:nvPr>
            <p:ph sz="quarter" idx="11" hasCustomPrompt="1"/>
          </p:nvPr>
        </p:nvSpPr>
        <p:spPr>
          <a:xfrm>
            <a:off x="6737702" y="6102708"/>
            <a:ext cx="4838179" cy="476250"/>
          </a:xfrm>
          <a:prstGeom prst="rect">
            <a:avLst/>
          </a:prstGeom>
        </p:spPr>
        <p:txBody>
          <a:bodyPr lIns="0" rIns="0"/>
          <a:lstStyle>
            <a:lvl1pPr algn="r">
              <a:defRPr sz="2800">
                <a:solidFill>
                  <a:schemeClr val="tx2"/>
                </a:solidFill>
              </a:defRPr>
            </a:lvl1pPr>
          </a:lstStyle>
          <a:p>
            <a:pPr lvl="0"/>
            <a:r>
              <a:rPr lang="de-DE" dirty="0"/>
              <a:t>Fachbereich, Institut o.ä.</a:t>
            </a:r>
          </a:p>
        </p:txBody>
      </p:sp>
      <p:pic>
        <p:nvPicPr>
          <p:cNvPr id="22" name="Grafik 21">
            <a:extLst>
              <a:ext uri="{FF2B5EF4-FFF2-40B4-BE49-F238E27FC236}">
                <a16:creationId xmlns:a16="http://schemas.microsoft.com/office/drawing/2014/main" id="{A1FD8DD9-AF25-4C65-ADCD-63CDAF5EF26C}"/>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7345" y="5949280"/>
            <a:ext cx="2378295" cy="783106"/>
          </a:xfrm>
          <a:prstGeom prst="rect">
            <a:avLst/>
          </a:prstGeom>
        </p:spPr>
      </p:pic>
    </p:spTree>
    <p:extLst>
      <p:ext uri="{BB962C8B-B14F-4D97-AF65-F5344CB8AC3E}">
        <p14:creationId xmlns:p14="http://schemas.microsoft.com/office/powerpoint/2010/main" val="255927117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7" name="Textplatzhalter 2">
            <a:extLst>
              <a:ext uri="{FF2B5EF4-FFF2-40B4-BE49-F238E27FC236}">
                <a16:creationId xmlns:a16="http://schemas.microsoft.com/office/drawing/2014/main" id="{506B2031-0944-472D-9758-0DCDA86D1772}"/>
              </a:ext>
            </a:extLst>
          </p:cNvPr>
          <p:cNvSpPr>
            <a:spLocks noGrp="1"/>
          </p:cNvSpPr>
          <p:nvPr>
            <p:ph idx="1" hasCustomPrompt="1"/>
          </p:nvPr>
        </p:nvSpPr>
        <p:spPr bwMode="auto">
          <a:xfrm>
            <a:off x="623886" y="1685924"/>
            <a:ext cx="10943704" cy="4181553"/>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2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Titelplatzhalter 1">
            <a:extLst>
              <a:ext uri="{FF2B5EF4-FFF2-40B4-BE49-F238E27FC236}">
                <a16:creationId xmlns:a16="http://schemas.microsoft.com/office/drawing/2014/main" id="{38CB67B9-68E6-4B38-8C0A-390C5C83192D}"/>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3600" b="1">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
        <p:nvSpPr>
          <p:cNvPr id="8" name="Textfeld 7">
            <a:extLst>
              <a:ext uri="{FF2B5EF4-FFF2-40B4-BE49-F238E27FC236}">
                <a16:creationId xmlns:a16="http://schemas.microsoft.com/office/drawing/2014/main" id="{AD61DBF0-A9A3-4214-AACB-BFA17C8796B6}"/>
              </a:ext>
            </a:extLst>
          </p:cNvPr>
          <p:cNvSpPr txBox="1"/>
          <p:nvPr userDrawn="1"/>
        </p:nvSpPr>
        <p:spPr>
          <a:xfrm>
            <a:off x="10494069" y="6349346"/>
            <a:ext cx="646047" cy="307777"/>
          </a:xfrm>
          <a:prstGeom prst="rect">
            <a:avLst/>
          </a:prstGeom>
          <a:noFill/>
        </p:spPr>
        <p:txBody>
          <a:bodyPr wrap="square" rtlCol="0">
            <a:spAutoFit/>
          </a:bodyPr>
          <a:lstStyle/>
          <a:p>
            <a:pPr algn="r"/>
            <a:fld id="{3679B97E-2F6E-4600-A1D4-CAD9FE23913C}" type="slidenum">
              <a:rPr lang="de-DE" sz="1400" smtClean="0">
                <a:latin typeface="Liberation Serif" panose="02020603050405020304" pitchFamily="18" charset="0"/>
              </a:rPr>
              <a:pPr algn="r"/>
              <a:t>‹Nr.›</a:t>
            </a:fld>
            <a:endParaRPr lang="de-DE" sz="1400" dirty="0">
              <a:latin typeface="Liberation Serif" panose="02020603050405020304" pitchFamily="18" charset="0"/>
            </a:endParaRPr>
          </a:p>
        </p:txBody>
      </p:sp>
    </p:spTree>
    <p:extLst>
      <p:ext uri="{BB962C8B-B14F-4D97-AF65-F5344CB8AC3E}">
        <p14:creationId xmlns:p14="http://schemas.microsoft.com/office/powerpoint/2010/main" val="45100935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el und Inhalt">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54C57E92-D1F3-45D1-9948-450440153DE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1140116" y="6009914"/>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feld 4">
            <a:extLst>
              <a:ext uri="{FF2B5EF4-FFF2-40B4-BE49-F238E27FC236}">
                <a16:creationId xmlns:a16="http://schemas.microsoft.com/office/drawing/2014/main" id="{487D9650-9A7A-4B37-8FFC-2B4B6FD27DC6}"/>
              </a:ext>
            </a:extLst>
          </p:cNvPr>
          <p:cNvSpPr txBox="1"/>
          <p:nvPr userDrawn="1"/>
        </p:nvSpPr>
        <p:spPr>
          <a:xfrm>
            <a:off x="10494069" y="6140394"/>
            <a:ext cx="646047" cy="307777"/>
          </a:xfrm>
          <a:prstGeom prst="rect">
            <a:avLst/>
          </a:prstGeom>
          <a:noFill/>
        </p:spPr>
        <p:txBody>
          <a:bodyPr wrap="square" rtlCol="0">
            <a:spAutoFit/>
          </a:bodyPr>
          <a:lstStyle/>
          <a:p>
            <a:pPr algn="r"/>
            <a:fld id="{3679B97E-2F6E-4600-A1D4-CAD9FE23913C}" type="slidenum">
              <a:rPr lang="de-DE" sz="1400" smtClean="0">
                <a:latin typeface="Liberation Serif" panose="02020603050405020304" pitchFamily="18" charset="0"/>
              </a:rPr>
              <a:pPr algn="r"/>
              <a:t>‹Nr.›</a:t>
            </a:fld>
            <a:endParaRPr lang="de-DE" sz="1400" dirty="0">
              <a:latin typeface="Liberation Serif" panose="02020603050405020304" pitchFamily="18" charset="0"/>
            </a:endParaRPr>
          </a:p>
        </p:txBody>
      </p:sp>
      <p:sp>
        <p:nvSpPr>
          <p:cNvPr id="6" name="Textplatzhalter 2">
            <a:extLst>
              <a:ext uri="{FF2B5EF4-FFF2-40B4-BE49-F238E27FC236}">
                <a16:creationId xmlns:a16="http://schemas.microsoft.com/office/drawing/2014/main" id="{1D2B3BB5-5D99-4B39-B9A1-92A21DA09056}"/>
              </a:ext>
            </a:extLst>
          </p:cNvPr>
          <p:cNvSpPr>
            <a:spLocks noGrp="1"/>
          </p:cNvSpPr>
          <p:nvPr>
            <p:ph idx="1" hasCustomPrompt="1"/>
          </p:nvPr>
        </p:nvSpPr>
        <p:spPr bwMode="auto">
          <a:xfrm>
            <a:off x="623886" y="1268760"/>
            <a:ext cx="10943704" cy="4598718"/>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1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itelplatzhalter 1">
            <a:extLst>
              <a:ext uri="{FF2B5EF4-FFF2-40B4-BE49-F238E27FC236}">
                <a16:creationId xmlns:a16="http://schemas.microsoft.com/office/drawing/2014/main" id="{E2AD25A9-78B7-4D5C-B726-25F0ADE2C06B}"/>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2800">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Tree>
    <p:extLst>
      <p:ext uri="{BB962C8B-B14F-4D97-AF65-F5344CB8AC3E}">
        <p14:creationId xmlns:p14="http://schemas.microsoft.com/office/powerpoint/2010/main" val="3566966594"/>
      </p:ext>
    </p:extLst>
  </p:cSld>
  <p:clrMapOvr>
    <a:masterClrMapping/>
  </p:clrMapOvr>
  <p:extLst>
    <p:ext uri="{DCECCB84-F9BA-43D5-87BE-67443E8EF086}">
      <p15:sldGuideLst xmlns:p15="http://schemas.microsoft.com/office/powerpoint/2012/main">
        <p15:guide id="1" pos="393">
          <p15:clr>
            <a:srgbClr val="FBAE40"/>
          </p15:clr>
        </p15:guide>
        <p15:guide id="2" orient="horz" pos="300">
          <p15:clr>
            <a:srgbClr val="FBAE40"/>
          </p15:clr>
        </p15:guide>
        <p15:guide id="3" orient="horz" pos="70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6" name="Textplatzhalter 2">
            <a:extLst>
              <a:ext uri="{FF2B5EF4-FFF2-40B4-BE49-F238E27FC236}">
                <a16:creationId xmlns:a16="http://schemas.microsoft.com/office/drawing/2014/main" id="{1D2B3BB5-5D99-4B39-B9A1-92A21DA09056}"/>
              </a:ext>
            </a:extLst>
          </p:cNvPr>
          <p:cNvSpPr>
            <a:spLocks noGrp="1"/>
          </p:cNvSpPr>
          <p:nvPr>
            <p:ph idx="1" hasCustomPrompt="1"/>
          </p:nvPr>
        </p:nvSpPr>
        <p:spPr bwMode="auto">
          <a:xfrm>
            <a:off x="623886" y="1268760"/>
            <a:ext cx="10943704" cy="4598718"/>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1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itelplatzhalter 1">
            <a:extLst>
              <a:ext uri="{FF2B5EF4-FFF2-40B4-BE49-F238E27FC236}">
                <a16:creationId xmlns:a16="http://schemas.microsoft.com/office/drawing/2014/main" id="{E2AD25A9-78B7-4D5C-B726-25F0ADE2C06B}"/>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2800">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Tree>
    <p:extLst>
      <p:ext uri="{BB962C8B-B14F-4D97-AF65-F5344CB8AC3E}">
        <p14:creationId xmlns:p14="http://schemas.microsoft.com/office/powerpoint/2010/main" val="770161381"/>
      </p:ext>
    </p:extLst>
  </p:cSld>
  <p:clrMapOvr>
    <a:masterClrMapping/>
  </p:clrMapOvr>
  <p:extLst>
    <p:ext uri="{DCECCB84-F9BA-43D5-87BE-67443E8EF086}">
      <p15:sldGuideLst xmlns:p15="http://schemas.microsoft.com/office/powerpoint/2012/main">
        <p15:guide id="1" pos="393">
          <p15:clr>
            <a:srgbClr val="FBAE40"/>
          </p15:clr>
        </p15:guide>
        <p15:guide id="2" orient="horz" pos="300">
          <p15:clr>
            <a:srgbClr val="FBAE40"/>
          </p15:clr>
        </p15:guide>
        <p15:guide id="3" orient="horz" pos="70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bschluss">
    <p:bg>
      <p:bgPr>
        <a:solidFill>
          <a:schemeClr val="bg1"/>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B911F3F6-CFAF-4712-99FF-0821A3CDF40F}"/>
              </a:ext>
            </a:extLst>
          </p:cNvPr>
          <p:cNvSpPr/>
          <p:nvPr userDrawn="1"/>
        </p:nvSpPr>
        <p:spPr>
          <a:xfrm>
            <a:off x="0" y="1150806"/>
            <a:ext cx="12192000" cy="46894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a:p>
        </p:txBody>
      </p:sp>
      <p:sp>
        <p:nvSpPr>
          <p:cNvPr id="14" name="Titel 1">
            <a:extLst>
              <a:ext uri="{FF2B5EF4-FFF2-40B4-BE49-F238E27FC236}">
                <a16:creationId xmlns:a16="http://schemas.microsoft.com/office/drawing/2014/main" id="{F3AA6966-2C26-4F5B-A6D5-F8776664F8E6}"/>
              </a:ext>
            </a:extLst>
          </p:cNvPr>
          <p:cNvSpPr>
            <a:spLocks noGrp="1"/>
          </p:cNvSpPr>
          <p:nvPr>
            <p:ph type="ctrTitle" hasCustomPrompt="1"/>
          </p:nvPr>
        </p:nvSpPr>
        <p:spPr>
          <a:xfrm>
            <a:off x="622296" y="1412776"/>
            <a:ext cx="10945817" cy="1102519"/>
          </a:xfrm>
          <a:prstGeom prst="rect">
            <a:avLst/>
          </a:prstGeom>
        </p:spPr>
        <p:txBody>
          <a:bodyPr vert="horz" lIns="0" tIns="0" rIns="0" bIns="0" anchor="t" anchorCtr="0">
            <a:noAutofit/>
          </a:bodyPr>
          <a:lstStyle>
            <a:lvl1pPr>
              <a:defRPr sz="4000">
                <a:solidFill>
                  <a:schemeClr val="bg1"/>
                </a:solidFill>
                <a:latin typeface="Liberation Serif" pitchFamily="18" charset="0"/>
              </a:defRPr>
            </a:lvl1pPr>
          </a:lstStyle>
          <a:p>
            <a:r>
              <a:rPr lang="de-DE" dirty="0"/>
              <a:t>Abschlussmaster durch Klicken bearbeiten</a:t>
            </a:r>
          </a:p>
        </p:txBody>
      </p:sp>
      <p:pic>
        <p:nvPicPr>
          <p:cNvPr id="16" name="Bild 2">
            <a:extLst>
              <a:ext uri="{FF2B5EF4-FFF2-40B4-BE49-F238E27FC236}">
                <a16:creationId xmlns:a16="http://schemas.microsoft.com/office/drawing/2014/main" id="{F440AE9D-24A0-4E14-BEAA-A817DEA58C9B}"/>
              </a:ext>
            </a:extLst>
          </p:cNvPr>
          <p:cNvPicPr>
            <a:picLocks noChangeAspect="1"/>
          </p:cNvPicPr>
          <p:nvPr userDrawn="1"/>
        </p:nvPicPr>
        <p:blipFill>
          <a:blip r:embed="rId2"/>
          <a:stretch>
            <a:fillRect/>
          </a:stretch>
        </p:blipFill>
        <p:spPr>
          <a:xfrm>
            <a:off x="9552384" y="-27384"/>
            <a:ext cx="2015208" cy="318982"/>
          </a:xfrm>
          <a:prstGeom prst="rect">
            <a:avLst/>
          </a:prstGeom>
        </p:spPr>
      </p:pic>
      <p:pic>
        <p:nvPicPr>
          <p:cNvPr id="17" name="HRW_Logo_transparent.png">
            <a:extLst>
              <a:ext uri="{FF2B5EF4-FFF2-40B4-BE49-F238E27FC236}">
                <a16:creationId xmlns:a16="http://schemas.microsoft.com/office/drawing/2014/main" id="{977B5304-7624-44FB-8AE5-9CBDC59AB85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7504" y="-27384"/>
            <a:ext cx="2592288" cy="1150806"/>
          </a:xfrm>
          <a:prstGeom prst="rect">
            <a:avLst/>
          </a:prstGeom>
        </p:spPr>
      </p:pic>
      <p:pic>
        <p:nvPicPr>
          <p:cNvPr id="18" name="Grafik 17">
            <a:extLst>
              <a:ext uri="{FF2B5EF4-FFF2-40B4-BE49-F238E27FC236}">
                <a16:creationId xmlns:a16="http://schemas.microsoft.com/office/drawing/2014/main" id="{C25C95A8-926B-4BB4-83F9-CBBFE9E376C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7345" y="5949280"/>
            <a:ext cx="2378295" cy="783106"/>
          </a:xfrm>
          <a:prstGeom prst="rect">
            <a:avLst/>
          </a:prstGeom>
        </p:spPr>
      </p:pic>
      <p:sp>
        <p:nvSpPr>
          <p:cNvPr id="8" name="Inhaltsplatzhalter 18">
            <a:extLst>
              <a:ext uri="{FF2B5EF4-FFF2-40B4-BE49-F238E27FC236}">
                <a16:creationId xmlns:a16="http://schemas.microsoft.com/office/drawing/2014/main" id="{CE84D051-E07F-4D08-A817-41C9C28BFBB7}"/>
              </a:ext>
            </a:extLst>
          </p:cNvPr>
          <p:cNvSpPr>
            <a:spLocks noGrp="1"/>
          </p:cNvSpPr>
          <p:nvPr>
            <p:ph sz="quarter" idx="11" hasCustomPrompt="1"/>
          </p:nvPr>
        </p:nvSpPr>
        <p:spPr>
          <a:xfrm>
            <a:off x="6737702" y="6102708"/>
            <a:ext cx="4838179" cy="476250"/>
          </a:xfrm>
          <a:prstGeom prst="rect">
            <a:avLst/>
          </a:prstGeom>
        </p:spPr>
        <p:txBody>
          <a:bodyPr lIns="0" rIns="0"/>
          <a:lstStyle>
            <a:lvl1pPr algn="r">
              <a:defRPr sz="2800">
                <a:solidFill>
                  <a:schemeClr val="tx2"/>
                </a:solidFill>
              </a:defRPr>
            </a:lvl1pPr>
          </a:lstStyle>
          <a:p>
            <a:pPr lvl="0"/>
            <a:r>
              <a:rPr lang="de-DE" dirty="0"/>
              <a:t>Fachbereich, Institut o.ä.</a:t>
            </a:r>
          </a:p>
        </p:txBody>
      </p:sp>
    </p:spTree>
    <p:extLst>
      <p:ext uri="{BB962C8B-B14F-4D97-AF65-F5344CB8AC3E}">
        <p14:creationId xmlns:p14="http://schemas.microsoft.com/office/powerpoint/2010/main" val="79391983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2465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lgn="l" defTabSz="914354" rtl="0" eaLnBrk="1" latinLnBrk="0" hangingPunct="1">
        <a:lnSpc>
          <a:spcPct val="90000"/>
        </a:lnSpc>
        <a:spcBef>
          <a:spcPct val="0"/>
        </a:spcBef>
        <a:buNone/>
        <a:defRPr sz="4400" kern="1200">
          <a:solidFill>
            <a:schemeClr val="tx1"/>
          </a:solidFill>
          <a:latin typeface="Liberation Serif" panose="02020603050405020304" pitchFamily="18" charset="0"/>
          <a:ea typeface="+mj-ea"/>
          <a:cs typeface="+mj-cs"/>
        </a:defRPr>
      </a:lvl1pPr>
    </p:titleStyle>
    <p:bodyStyle>
      <a:lvl1pPr marL="0" indent="0" algn="l" defTabSz="914354" rtl="0" eaLnBrk="1" latinLnBrk="0" hangingPunct="1">
        <a:lnSpc>
          <a:spcPct val="90000"/>
        </a:lnSpc>
        <a:spcBef>
          <a:spcPts val="1001"/>
        </a:spcBef>
        <a:buFont typeface="Arial" panose="020B0604020202020204" pitchFamily="34" charset="0"/>
        <a:buNone/>
        <a:defRPr sz="2800" kern="1200">
          <a:solidFill>
            <a:schemeClr val="tx1"/>
          </a:solidFill>
          <a:latin typeface="Liberation Serif" panose="02020603050405020304" pitchFamily="18" charset="0"/>
          <a:ea typeface="+mn-ea"/>
          <a:cs typeface="+mn-cs"/>
        </a:defRPr>
      </a:lvl1pPr>
      <a:lvl2pPr marL="685767"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Liberation Serif" panose="02020603050405020304" pitchFamily="18" charset="0"/>
          <a:ea typeface="+mn-ea"/>
          <a:cs typeface="+mn-cs"/>
        </a:defRPr>
      </a:lvl2pPr>
      <a:lvl3pPr marL="1142943"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Liberation Serif" panose="02020603050405020304" pitchFamily="18" charset="0"/>
          <a:ea typeface="+mn-ea"/>
          <a:cs typeface="+mn-cs"/>
        </a:defRPr>
      </a:lvl3pPr>
      <a:lvl4pPr marL="1600121"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Liberation Serif" panose="02020603050405020304" pitchFamily="18" charset="0"/>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Liberation Serif" panose="02020603050405020304" pitchFamily="18" charset="0"/>
          <a:ea typeface="+mn-ea"/>
          <a:cs typeface="+mn-cs"/>
        </a:defRPr>
      </a:lvl5pPr>
      <a:lvl6pPr marL="2514476"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007"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de-DE"/>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87">
          <p15:clr>
            <a:srgbClr val="F26B43"/>
          </p15:clr>
        </p15:guide>
        <p15:guide id="5" orient="horz" pos="822">
          <p15:clr>
            <a:srgbClr val="F26B43"/>
          </p15:clr>
        </p15:guide>
        <p15:guide id="7" pos="393">
          <p15:clr>
            <a:srgbClr val="F26B43"/>
          </p15:clr>
        </p15:guide>
        <p15:guide id="8" orient="horz" pos="61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hyperlink" Target="https://www.viacharacter.org/account/register" TargetMode="External"/><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162C1B6F-4F4E-42F7-A31C-DFB1DDFB5D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02625" y="147093"/>
            <a:ext cx="1022400" cy="1022400"/>
          </a:xfrm>
          <a:prstGeom prst="rect">
            <a:avLst/>
          </a:prstGeom>
        </p:spPr>
      </p:pic>
      <p:sp>
        <p:nvSpPr>
          <p:cNvPr id="3" name="Titel 2">
            <a:extLst>
              <a:ext uri="{FF2B5EF4-FFF2-40B4-BE49-F238E27FC236}">
                <a16:creationId xmlns:a16="http://schemas.microsoft.com/office/drawing/2014/main" id="{277ABF4A-BA07-4BF5-8A4B-5A35F94D84E0}"/>
              </a:ext>
            </a:extLst>
          </p:cNvPr>
          <p:cNvSpPr>
            <a:spLocks noGrp="1"/>
          </p:cNvSpPr>
          <p:nvPr>
            <p:ph type="title"/>
          </p:nvPr>
        </p:nvSpPr>
        <p:spPr/>
        <p:txBody>
          <a:bodyPr/>
          <a:lstStyle/>
          <a:p>
            <a:r>
              <a:rPr lang="de-DE" sz="4000" dirty="0"/>
              <a:t>Character </a:t>
            </a:r>
            <a:r>
              <a:rPr lang="de-DE" sz="4000" dirty="0" err="1"/>
              <a:t>Strengths</a:t>
            </a:r>
            <a:r>
              <a:rPr lang="de-DE" sz="4000" dirty="0"/>
              <a:t>: </a:t>
            </a:r>
            <a:r>
              <a:rPr lang="de-DE" b="0" dirty="0"/>
              <a:t>Finde deine Stärken</a:t>
            </a:r>
            <a:endParaRPr lang="de-DE" sz="4000" dirty="0"/>
          </a:p>
        </p:txBody>
      </p:sp>
      <p:pic>
        <p:nvPicPr>
          <p:cNvPr id="9" name="Picture 2">
            <a:extLst>
              <a:ext uri="{FF2B5EF4-FFF2-40B4-BE49-F238E27FC236}">
                <a16:creationId xmlns:a16="http://schemas.microsoft.com/office/drawing/2014/main" id="{1E5056D0-F453-4081-9C9E-C23ED58F61B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11084308" y="6216870"/>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Grafik 9">
            <a:extLst>
              <a:ext uri="{FF2B5EF4-FFF2-40B4-BE49-F238E27FC236}">
                <a16:creationId xmlns:a16="http://schemas.microsoft.com/office/drawing/2014/main" id="{C81E541E-468E-4A68-9E28-FAD354E181C8}"/>
              </a:ext>
            </a:extLst>
          </p:cNvPr>
          <p:cNvPicPr>
            <a:picLocks noChangeAspect="1"/>
          </p:cNvPicPr>
          <p:nvPr/>
        </p:nvPicPr>
        <p:blipFill>
          <a:blip r:embed="rId5"/>
          <a:stretch>
            <a:fillRect/>
          </a:stretch>
        </p:blipFill>
        <p:spPr>
          <a:xfrm>
            <a:off x="10292297" y="6168287"/>
            <a:ext cx="610328" cy="626204"/>
          </a:xfrm>
          <a:prstGeom prst="rect">
            <a:avLst/>
          </a:prstGeom>
        </p:spPr>
      </p:pic>
      <p:sp>
        <p:nvSpPr>
          <p:cNvPr id="12" name="Inhaltsplatzhalter 1">
            <a:extLst>
              <a:ext uri="{FF2B5EF4-FFF2-40B4-BE49-F238E27FC236}">
                <a16:creationId xmlns:a16="http://schemas.microsoft.com/office/drawing/2014/main" id="{32A89B6B-5637-40CB-8754-7BE5A30847EF}"/>
              </a:ext>
            </a:extLst>
          </p:cNvPr>
          <p:cNvSpPr txBox="1">
            <a:spLocks/>
          </p:cNvSpPr>
          <p:nvPr/>
        </p:nvSpPr>
        <p:spPr bwMode="auto">
          <a:xfrm>
            <a:off x="623888" y="1486405"/>
            <a:ext cx="10434639" cy="3314700"/>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defTabSz="914354" rtl="0" eaLnBrk="1" latinLnBrk="0" hangingPunct="1">
              <a:lnSpc>
                <a:spcPct val="90000"/>
              </a:lnSpc>
              <a:spcBef>
                <a:spcPts val="1001"/>
              </a:spcBef>
              <a:buFont typeface="Arial" panose="020B0604020202020204" pitchFamily="34" charset="0"/>
              <a:buNone/>
              <a:tabLst>
                <a:tab pos="322498" algn="l"/>
                <a:tab pos="657954" algn="l"/>
                <a:tab pos="977572" algn="l"/>
                <a:tab pos="1301509" algn="l"/>
                <a:tab pos="1621128" algn="l"/>
                <a:tab pos="1959463" algn="l"/>
                <a:tab pos="2601579" algn="l"/>
                <a:tab pos="3259532" algn="l"/>
                <a:tab pos="3903088" algn="l"/>
                <a:tab pos="4561041" algn="l"/>
              </a:tabLst>
              <a:defRPr sz="2400" b="1" kern="1200">
                <a:solidFill>
                  <a:schemeClr val="tx1"/>
                </a:solidFill>
                <a:latin typeface="Liberation Serif" panose="02020603050405020304" pitchFamily="18" charset="0"/>
                <a:ea typeface="+mn-ea"/>
                <a:cs typeface="Liberation Serif" panose="02020603050405020304" pitchFamily="18" charset="0"/>
              </a:defRPr>
            </a:lvl1pPr>
            <a:lvl2pPr marL="0" indent="0" algn="l" defTabSz="914354" rtl="0" eaLnBrk="1" latinLnBrk="0" hangingPunct="1">
              <a:lnSpc>
                <a:spcPct val="90000"/>
              </a:lnSpc>
              <a:spcBef>
                <a:spcPts val="500"/>
              </a:spcBef>
              <a:buFont typeface="Arial" panose="020B0604020202020204" pitchFamily="34" charset="0"/>
              <a:buNone/>
              <a:tabLst>
                <a:tab pos="322498" algn="l"/>
                <a:tab pos="646436" algn="l"/>
                <a:tab pos="977572" algn="l"/>
                <a:tab pos="1304389" algn="l"/>
                <a:tab pos="1621128" algn="l"/>
                <a:tab pos="1955144"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2pPr>
            <a:lvl3pPr marL="0" indent="0" algn="l" defTabSz="407442" rtl="0" eaLnBrk="1" latinLnBrk="0" hangingPunct="1">
              <a:lnSpc>
                <a:spcPct val="90000"/>
              </a:lnSpc>
              <a:spcBef>
                <a:spcPts val="500"/>
              </a:spcBef>
              <a:buFont typeface="Arial" panose="020B0604020202020204" pitchFamily="34" charset="0"/>
              <a:buNone/>
              <a:tabLst>
                <a:tab pos="322498" algn="l"/>
                <a:tab pos="646436" algn="l"/>
                <a:tab pos="977572" algn="l"/>
                <a:tab pos="1304389" algn="l"/>
                <a:tab pos="1621128" algn="l"/>
                <a:tab pos="1950825"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3pPr>
            <a:lvl4pPr marL="322498" indent="-322498" algn="l" defTabSz="914354" rtl="0" eaLnBrk="1" latinLnBrk="0" hangingPunct="1">
              <a:lnSpc>
                <a:spcPct val="90000"/>
              </a:lnSpc>
              <a:spcBef>
                <a:spcPts val="500"/>
              </a:spcBef>
              <a:buFont typeface="+mj-lt"/>
              <a:buNone/>
              <a:tabLst>
                <a:tab pos="646436" algn="l"/>
                <a:tab pos="977572" algn="l"/>
                <a:tab pos="1304389" algn="l"/>
                <a:tab pos="1621128" algn="l"/>
                <a:tab pos="1950825"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4pPr>
            <a:lvl5pPr marL="322498" indent="-322498" algn="l" defTabSz="914354" rtl="0" eaLnBrk="1" latinLnBrk="0" hangingPunct="1">
              <a:lnSpc>
                <a:spcPct val="90000"/>
              </a:lnSpc>
              <a:spcBef>
                <a:spcPts val="500"/>
              </a:spcBef>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5pPr>
            <a:lvl6pPr marL="2514476"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007"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a:lnSpc>
                <a:spcPct val="114000"/>
              </a:lnSpc>
            </a:pPr>
            <a:r>
              <a:rPr lang="de-DE" sz="2800" dirty="0"/>
              <a:t>Eine Begriffsklärung:</a:t>
            </a:r>
          </a:p>
          <a:p>
            <a:pPr marL="457200" indent="-457200">
              <a:lnSpc>
                <a:spcPct val="114000"/>
              </a:lnSpc>
              <a:spcBef>
                <a:spcPts val="0"/>
              </a:spcBef>
              <a:buFont typeface="Arial" panose="020B0604020202020204" pitchFamily="34" charset="0"/>
              <a:buChar char="•"/>
            </a:pPr>
            <a:r>
              <a:rPr lang="de-DE" b="0" dirty="0"/>
              <a:t>Charakterstärken sind relativ stabile </a:t>
            </a:r>
            <a:r>
              <a:rPr lang="de-DE" dirty="0"/>
              <a:t>positive Eigenschaften, die den Kern unseres Seins bilden</a:t>
            </a:r>
            <a:r>
              <a:rPr lang="de-DE" b="0" dirty="0"/>
              <a:t>, persönlich erfüllend und energetisierend sind, kulturübergreifend geschätzt werden und andere Personen nicht schmälern.</a:t>
            </a:r>
          </a:p>
          <a:p>
            <a:pPr marL="457200" indent="-457200">
              <a:lnSpc>
                <a:spcPct val="114000"/>
              </a:lnSpc>
              <a:spcBef>
                <a:spcPts val="0"/>
              </a:spcBef>
              <a:buFont typeface="Arial" panose="020B0604020202020204" pitchFamily="34" charset="0"/>
              <a:buChar char="•"/>
            </a:pPr>
            <a:r>
              <a:rPr lang="de-DE" b="0" dirty="0"/>
              <a:t>Die Identifizierung und Anwendung dieser hängt mit </a:t>
            </a:r>
            <a:r>
              <a:rPr lang="de-DE" dirty="0"/>
              <a:t>einem höheren Maß an subjektivem Wohlbefinden</a:t>
            </a:r>
            <a:r>
              <a:rPr lang="de-DE" b="0" dirty="0"/>
              <a:t> zusammen.</a:t>
            </a:r>
          </a:p>
          <a:p>
            <a:pPr marL="457200" indent="-457200">
              <a:lnSpc>
                <a:spcPct val="114000"/>
              </a:lnSpc>
              <a:spcBef>
                <a:spcPts val="0"/>
              </a:spcBef>
              <a:buFont typeface="Arial" panose="020B0604020202020204" pitchFamily="34" charset="0"/>
              <a:buChar char="•"/>
            </a:pPr>
            <a:r>
              <a:rPr lang="de-DE" b="0" dirty="0"/>
              <a:t>Es gibt 24 Charakterstärken zusammengefasst in folgende 6 Tugenden:</a:t>
            </a:r>
          </a:p>
          <a:p>
            <a:endParaRPr lang="de-DE" b="0" dirty="0"/>
          </a:p>
          <a:p>
            <a:endParaRPr lang="de-DE" b="0" dirty="0"/>
          </a:p>
        </p:txBody>
      </p:sp>
      <p:sp>
        <p:nvSpPr>
          <p:cNvPr id="8" name="Textfeld 7">
            <a:extLst>
              <a:ext uri="{FF2B5EF4-FFF2-40B4-BE49-F238E27FC236}">
                <a16:creationId xmlns:a16="http://schemas.microsoft.com/office/drawing/2014/main" id="{F4BB7D09-A10B-4E17-9D1D-0516143684B1}"/>
              </a:ext>
            </a:extLst>
          </p:cNvPr>
          <p:cNvSpPr txBox="1"/>
          <p:nvPr/>
        </p:nvSpPr>
        <p:spPr>
          <a:xfrm>
            <a:off x="533936" y="6378130"/>
            <a:ext cx="9894586" cy="338554"/>
          </a:xfrm>
          <a:prstGeom prst="rect">
            <a:avLst/>
          </a:prstGeom>
          <a:noFill/>
        </p:spPr>
        <p:txBody>
          <a:bodyPr wrap="square">
            <a:spAutoFit/>
          </a:bodyPr>
          <a:lstStyle/>
          <a:p>
            <a:pPr marL="0" marR="0" indent="0">
              <a:buNone/>
            </a:pPr>
            <a:r>
              <a:rPr lang="de-DE" sz="800" b="0" i="0" dirty="0">
                <a:effectLst/>
                <a:latin typeface="Segoe UI" panose="020B0502040204020203" pitchFamily="34" charset="0"/>
              </a:rPr>
              <a:t>Dieses Material wurde im Rahmen des Projekts Happy Kit erarbeitet. </a:t>
            </a:r>
          </a:p>
          <a:p>
            <a:pPr marL="0" marR="0" indent="0">
              <a:buNone/>
            </a:pPr>
            <a:r>
              <a:rPr lang="de-DE" sz="800" b="0" i="0" dirty="0">
                <a:effectLst/>
                <a:latin typeface="Segoe UI" panose="020B0502040204020203" pitchFamily="34" charset="0"/>
              </a:rPr>
              <a:t>Das Projekt wurde von Oktober 2024 bis Oktober 2026 durch interne Qualitätsverbesserungsmittel für Studium und Lehre der Hochschule Ruhr West gefördert.</a:t>
            </a:r>
          </a:p>
        </p:txBody>
      </p:sp>
      <p:pic>
        <p:nvPicPr>
          <p:cNvPr id="6" name="Grafik 5">
            <a:extLst>
              <a:ext uri="{FF2B5EF4-FFF2-40B4-BE49-F238E27FC236}">
                <a16:creationId xmlns:a16="http://schemas.microsoft.com/office/drawing/2014/main" id="{3B916037-6601-49EB-B84C-2DEAF16084E3}"/>
              </a:ext>
            </a:extLst>
          </p:cNvPr>
          <p:cNvPicPr>
            <a:picLocks noChangeAspect="1"/>
          </p:cNvPicPr>
          <p:nvPr/>
        </p:nvPicPr>
        <p:blipFill rotWithShape="1">
          <a:blip r:embed="rId6">
            <a:extLst>
              <a:ext uri="{28A0092B-C50C-407E-A947-70E740481C1C}">
                <a14:useLocalDpi xmlns:a14="http://schemas.microsoft.com/office/drawing/2010/main" val="0"/>
              </a:ext>
            </a:extLst>
          </a:blip>
          <a:srcRect l="34054" r="33865"/>
          <a:stretch/>
        </p:blipFill>
        <p:spPr>
          <a:xfrm rot="16200000">
            <a:off x="4921087" y="1291722"/>
            <a:ext cx="1840240" cy="8122734"/>
          </a:xfrm>
          <a:prstGeom prst="rect">
            <a:avLst/>
          </a:prstGeom>
        </p:spPr>
      </p:pic>
    </p:spTree>
    <p:extLst>
      <p:ext uri="{BB962C8B-B14F-4D97-AF65-F5344CB8AC3E}">
        <p14:creationId xmlns:p14="http://schemas.microsoft.com/office/powerpoint/2010/main" val="3636354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3E256E18-EC24-4500-BC3B-066D14936873}"/>
              </a:ext>
            </a:extLst>
          </p:cNvPr>
          <p:cNvSpPr>
            <a:spLocks noGrp="1"/>
          </p:cNvSpPr>
          <p:nvPr>
            <p:ph idx="1"/>
          </p:nvPr>
        </p:nvSpPr>
        <p:spPr>
          <a:xfrm>
            <a:off x="623889" y="1599139"/>
            <a:ext cx="8733053" cy="4681882"/>
          </a:xfrm>
        </p:spPr>
        <p:txBody>
          <a:bodyPr/>
          <a:lstStyle/>
          <a:p>
            <a:pPr>
              <a:lnSpc>
                <a:spcPct val="114000"/>
              </a:lnSpc>
            </a:pPr>
            <a:r>
              <a:rPr lang="de-DE" sz="2800" dirty="0"/>
              <a:t>Anleitung:</a:t>
            </a:r>
          </a:p>
          <a:p>
            <a:pPr marL="457200" indent="-457200">
              <a:lnSpc>
                <a:spcPct val="114000"/>
              </a:lnSpc>
              <a:buFont typeface="+mj-lt"/>
              <a:buAutoNum type="arabicPeriod"/>
            </a:pPr>
            <a:r>
              <a:rPr lang="de-DE" dirty="0"/>
              <a:t>Registrierung</a:t>
            </a:r>
            <a:r>
              <a:rPr lang="de-DE" b="0" dirty="0"/>
              <a:t>: Gehen Sie auf </a:t>
            </a:r>
            <a:r>
              <a:rPr lang="de-DE" b="0" dirty="0">
                <a:hlinkClick r:id="rId3"/>
              </a:rPr>
              <a:t>https://www.viacharacter.org/account/register</a:t>
            </a:r>
            <a:r>
              <a:rPr lang="de-DE" b="0" dirty="0"/>
              <a:t> oder scannen Sie den QR-Code und registrieren Sie sich, um den Test durchführen zu können. Wählen Sie unter Sprache „Deutsch“, um die </a:t>
            </a:r>
            <a:br>
              <a:rPr lang="de-DE" b="0" dirty="0"/>
            </a:br>
            <a:r>
              <a:rPr lang="de-DE" b="0" dirty="0"/>
              <a:t>deutsche Testvariante zu erhalten.</a:t>
            </a:r>
          </a:p>
          <a:p>
            <a:pPr marL="457200" indent="-457200">
              <a:lnSpc>
                <a:spcPct val="114000"/>
              </a:lnSpc>
              <a:buFont typeface="+mj-lt"/>
              <a:buAutoNum type="arabicPeriod"/>
            </a:pPr>
            <a:r>
              <a:rPr lang="de-DE" dirty="0"/>
              <a:t>Auswahl des Tests</a:t>
            </a:r>
            <a:r>
              <a:rPr lang="de-DE" b="0" dirty="0"/>
              <a:t>: Nach erfolgreicher Registrierung landen Sie auf Ihrem Dashboard. Klicken Sie oben rechts oder mittig links auf „Take </a:t>
            </a:r>
            <a:r>
              <a:rPr lang="de-DE" b="0" dirty="0" err="1"/>
              <a:t>the</a:t>
            </a:r>
            <a:r>
              <a:rPr lang="de-DE" b="0" dirty="0"/>
              <a:t> Survey“ und wählen Sie den </a:t>
            </a:r>
            <a:r>
              <a:rPr lang="en-US" b="0" i="1" dirty="0"/>
              <a:t>VIA Adult Survey </a:t>
            </a:r>
            <a:r>
              <a:rPr lang="en-US" b="0" dirty="0"/>
              <a:t>(auf der </a:t>
            </a:r>
            <a:r>
              <a:rPr lang="en-US" b="0" dirty="0" err="1"/>
              <a:t>rechten</a:t>
            </a:r>
            <a:r>
              <a:rPr lang="en-US" b="0" dirty="0"/>
              <a:t> </a:t>
            </a:r>
            <a:r>
              <a:rPr lang="en-US" b="0" dirty="0" err="1"/>
              <a:t>Seite</a:t>
            </a:r>
            <a:r>
              <a:rPr lang="en-US" b="0" dirty="0"/>
              <a:t>).</a:t>
            </a:r>
            <a:endParaRPr lang="de-DE" b="0" dirty="0"/>
          </a:p>
          <a:p>
            <a:endParaRPr lang="de-DE" b="0" dirty="0"/>
          </a:p>
          <a:p>
            <a:endParaRPr lang="de-DE" b="0" dirty="0"/>
          </a:p>
        </p:txBody>
      </p:sp>
      <p:sp>
        <p:nvSpPr>
          <p:cNvPr id="3" name="Titel 2">
            <a:extLst>
              <a:ext uri="{FF2B5EF4-FFF2-40B4-BE49-F238E27FC236}">
                <a16:creationId xmlns:a16="http://schemas.microsoft.com/office/drawing/2014/main" id="{277ABF4A-BA07-4BF5-8A4B-5A35F94D84E0}"/>
              </a:ext>
            </a:extLst>
          </p:cNvPr>
          <p:cNvSpPr>
            <a:spLocks noGrp="1"/>
          </p:cNvSpPr>
          <p:nvPr>
            <p:ph type="title"/>
          </p:nvPr>
        </p:nvSpPr>
        <p:spPr/>
        <p:txBody>
          <a:bodyPr/>
          <a:lstStyle/>
          <a:p>
            <a:pPr marL="0" indent="0"/>
            <a:r>
              <a:rPr lang="de-DE" sz="4000" dirty="0"/>
              <a:t>Character </a:t>
            </a:r>
            <a:r>
              <a:rPr lang="de-DE" sz="4000" dirty="0" err="1"/>
              <a:t>Strengths</a:t>
            </a:r>
            <a:r>
              <a:rPr lang="de-DE" sz="4000" dirty="0"/>
              <a:t>: </a:t>
            </a:r>
            <a:r>
              <a:rPr lang="de-DE" b="0" dirty="0"/>
              <a:t>Finde deine Stärken</a:t>
            </a:r>
            <a:endParaRPr lang="de-DE" sz="4000" b="0" dirty="0"/>
          </a:p>
        </p:txBody>
      </p:sp>
      <p:pic>
        <p:nvPicPr>
          <p:cNvPr id="9" name="Picture 2">
            <a:extLst>
              <a:ext uri="{FF2B5EF4-FFF2-40B4-BE49-F238E27FC236}">
                <a16:creationId xmlns:a16="http://schemas.microsoft.com/office/drawing/2014/main" id="{1E5056D0-F453-4081-9C9E-C23ED58F61B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11084308" y="6216870"/>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Grafik 9">
            <a:extLst>
              <a:ext uri="{FF2B5EF4-FFF2-40B4-BE49-F238E27FC236}">
                <a16:creationId xmlns:a16="http://schemas.microsoft.com/office/drawing/2014/main" id="{C81E541E-468E-4A68-9E28-FAD354E181C8}"/>
              </a:ext>
            </a:extLst>
          </p:cNvPr>
          <p:cNvPicPr>
            <a:picLocks noChangeAspect="1"/>
          </p:cNvPicPr>
          <p:nvPr/>
        </p:nvPicPr>
        <p:blipFill>
          <a:blip r:embed="rId5"/>
          <a:stretch>
            <a:fillRect/>
          </a:stretch>
        </p:blipFill>
        <p:spPr>
          <a:xfrm>
            <a:off x="10292297" y="6168287"/>
            <a:ext cx="610328" cy="626204"/>
          </a:xfrm>
          <a:prstGeom prst="rect">
            <a:avLst/>
          </a:prstGeom>
        </p:spPr>
      </p:pic>
      <p:pic>
        <p:nvPicPr>
          <p:cNvPr id="7" name="Grafik 6">
            <a:extLst>
              <a:ext uri="{FF2B5EF4-FFF2-40B4-BE49-F238E27FC236}">
                <a16:creationId xmlns:a16="http://schemas.microsoft.com/office/drawing/2014/main" id="{A89FCE53-7482-42BE-8634-B72733267EB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902625" y="147093"/>
            <a:ext cx="1022400" cy="1022400"/>
          </a:xfrm>
          <a:prstGeom prst="rect">
            <a:avLst/>
          </a:prstGeom>
        </p:spPr>
      </p:pic>
      <p:pic>
        <p:nvPicPr>
          <p:cNvPr id="5" name="Grafik 4">
            <a:extLst>
              <a:ext uri="{FF2B5EF4-FFF2-40B4-BE49-F238E27FC236}">
                <a16:creationId xmlns:a16="http://schemas.microsoft.com/office/drawing/2014/main" id="{27D2C03E-B0CC-4312-9DD6-FA4EF2EC457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67525" y="2310421"/>
            <a:ext cx="2857500" cy="2857500"/>
          </a:xfrm>
          <a:prstGeom prst="rect">
            <a:avLst/>
          </a:prstGeom>
        </p:spPr>
      </p:pic>
      <p:sp>
        <p:nvSpPr>
          <p:cNvPr id="11" name="Textfeld 10">
            <a:extLst>
              <a:ext uri="{FF2B5EF4-FFF2-40B4-BE49-F238E27FC236}">
                <a16:creationId xmlns:a16="http://schemas.microsoft.com/office/drawing/2014/main" id="{3AAD7B59-687F-4E8E-A060-CC42C6655E4B}"/>
              </a:ext>
            </a:extLst>
          </p:cNvPr>
          <p:cNvSpPr txBox="1"/>
          <p:nvPr/>
        </p:nvSpPr>
        <p:spPr>
          <a:xfrm>
            <a:off x="533936" y="6378130"/>
            <a:ext cx="9894586" cy="338554"/>
          </a:xfrm>
          <a:prstGeom prst="rect">
            <a:avLst/>
          </a:prstGeom>
          <a:noFill/>
        </p:spPr>
        <p:txBody>
          <a:bodyPr wrap="square">
            <a:spAutoFit/>
          </a:bodyPr>
          <a:lstStyle/>
          <a:p>
            <a:pPr marL="0" marR="0" indent="0">
              <a:buNone/>
            </a:pPr>
            <a:r>
              <a:rPr lang="de-DE" sz="800" b="0" i="0" dirty="0">
                <a:effectLst/>
                <a:latin typeface="Segoe UI" panose="020B0502040204020203" pitchFamily="34" charset="0"/>
              </a:rPr>
              <a:t>Dieses Material wurde im Rahmen des Projekts Happy Kit erarbeitet. </a:t>
            </a:r>
          </a:p>
          <a:p>
            <a:pPr marL="0" marR="0" indent="0">
              <a:buNone/>
            </a:pPr>
            <a:r>
              <a:rPr lang="de-DE" sz="800" b="0" i="0" dirty="0">
                <a:effectLst/>
                <a:latin typeface="Segoe UI" panose="020B0502040204020203" pitchFamily="34" charset="0"/>
              </a:rPr>
              <a:t>Das Projekt wurde von Oktober 2024 bis Oktober 2026 durch interne Qualitätsverbesserungsmittel für Studium und Lehre der Hochschule Ruhr West gefördert.</a:t>
            </a:r>
          </a:p>
        </p:txBody>
      </p:sp>
    </p:spTree>
    <p:extLst>
      <p:ext uri="{BB962C8B-B14F-4D97-AF65-F5344CB8AC3E}">
        <p14:creationId xmlns:p14="http://schemas.microsoft.com/office/powerpoint/2010/main" val="3336090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277ABF4A-BA07-4BF5-8A4B-5A35F94D84E0}"/>
              </a:ext>
            </a:extLst>
          </p:cNvPr>
          <p:cNvSpPr>
            <a:spLocks noGrp="1"/>
          </p:cNvSpPr>
          <p:nvPr>
            <p:ph type="title"/>
          </p:nvPr>
        </p:nvSpPr>
        <p:spPr/>
        <p:txBody>
          <a:bodyPr/>
          <a:lstStyle/>
          <a:p>
            <a:pPr marL="0" indent="0"/>
            <a:r>
              <a:rPr lang="de-DE" sz="4000" dirty="0"/>
              <a:t>Character </a:t>
            </a:r>
            <a:r>
              <a:rPr lang="de-DE" sz="4000" dirty="0" err="1"/>
              <a:t>Strengths</a:t>
            </a:r>
            <a:r>
              <a:rPr lang="de-DE" sz="4000" dirty="0"/>
              <a:t>: </a:t>
            </a:r>
            <a:r>
              <a:rPr lang="de-DE" b="0" dirty="0"/>
              <a:t>Finde deine Stärken</a:t>
            </a:r>
            <a:endParaRPr lang="de-DE" sz="4000" b="0" dirty="0"/>
          </a:p>
        </p:txBody>
      </p:sp>
      <p:pic>
        <p:nvPicPr>
          <p:cNvPr id="9" name="Picture 2">
            <a:extLst>
              <a:ext uri="{FF2B5EF4-FFF2-40B4-BE49-F238E27FC236}">
                <a16:creationId xmlns:a16="http://schemas.microsoft.com/office/drawing/2014/main" id="{1E5056D0-F453-4081-9C9E-C23ED58F61B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1084308" y="6216870"/>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Grafik 9">
            <a:extLst>
              <a:ext uri="{FF2B5EF4-FFF2-40B4-BE49-F238E27FC236}">
                <a16:creationId xmlns:a16="http://schemas.microsoft.com/office/drawing/2014/main" id="{C81E541E-468E-4A68-9E28-FAD354E181C8}"/>
              </a:ext>
            </a:extLst>
          </p:cNvPr>
          <p:cNvPicPr>
            <a:picLocks noChangeAspect="1"/>
          </p:cNvPicPr>
          <p:nvPr/>
        </p:nvPicPr>
        <p:blipFill>
          <a:blip r:embed="rId4"/>
          <a:stretch>
            <a:fillRect/>
          </a:stretch>
        </p:blipFill>
        <p:spPr>
          <a:xfrm>
            <a:off x="10292297" y="6168287"/>
            <a:ext cx="610328" cy="626204"/>
          </a:xfrm>
          <a:prstGeom prst="rect">
            <a:avLst/>
          </a:prstGeom>
        </p:spPr>
      </p:pic>
      <p:pic>
        <p:nvPicPr>
          <p:cNvPr id="7" name="Grafik 6">
            <a:extLst>
              <a:ext uri="{FF2B5EF4-FFF2-40B4-BE49-F238E27FC236}">
                <a16:creationId xmlns:a16="http://schemas.microsoft.com/office/drawing/2014/main" id="{A89FCE53-7482-42BE-8634-B72733267E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02625" y="147093"/>
            <a:ext cx="1022400" cy="1022400"/>
          </a:xfrm>
          <a:prstGeom prst="rect">
            <a:avLst/>
          </a:prstGeom>
        </p:spPr>
      </p:pic>
      <p:sp>
        <p:nvSpPr>
          <p:cNvPr id="8" name="Inhaltsplatzhalter 1">
            <a:extLst>
              <a:ext uri="{FF2B5EF4-FFF2-40B4-BE49-F238E27FC236}">
                <a16:creationId xmlns:a16="http://schemas.microsoft.com/office/drawing/2014/main" id="{D11CEFCE-352B-41A0-9D7F-F567855E42C6}"/>
              </a:ext>
            </a:extLst>
          </p:cNvPr>
          <p:cNvSpPr txBox="1">
            <a:spLocks/>
          </p:cNvSpPr>
          <p:nvPr/>
        </p:nvSpPr>
        <p:spPr bwMode="auto">
          <a:xfrm>
            <a:off x="623889" y="1599139"/>
            <a:ext cx="10943703" cy="4681882"/>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defTabSz="914354" rtl="0" eaLnBrk="1" latinLnBrk="0" hangingPunct="1">
              <a:lnSpc>
                <a:spcPct val="90000"/>
              </a:lnSpc>
              <a:spcBef>
                <a:spcPts val="1001"/>
              </a:spcBef>
              <a:buFont typeface="Arial" panose="020B0604020202020204" pitchFamily="34" charset="0"/>
              <a:buNone/>
              <a:tabLst>
                <a:tab pos="322498" algn="l"/>
                <a:tab pos="657954" algn="l"/>
                <a:tab pos="977572" algn="l"/>
                <a:tab pos="1301509" algn="l"/>
                <a:tab pos="1621128" algn="l"/>
                <a:tab pos="1959463" algn="l"/>
                <a:tab pos="2601579" algn="l"/>
                <a:tab pos="3259532" algn="l"/>
                <a:tab pos="3903088" algn="l"/>
                <a:tab pos="4561041" algn="l"/>
              </a:tabLst>
              <a:defRPr sz="2400" b="1" kern="1200">
                <a:solidFill>
                  <a:schemeClr val="tx1"/>
                </a:solidFill>
                <a:latin typeface="Liberation Serif" panose="02020603050405020304" pitchFamily="18" charset="0"/>
                <a:ea typeface="+mn-ea"/>
                <a:cs typeface="Liberation Serif" panose="02020603050405020304" pitchFamily="18" charset="0"/>
              </a:defRPr>
            </a:lvl1pPr>
            <a:lvl2pPr marL="0" indent="0" algn="l" defTabSz="914354" rtl="0" eaLnBrk="1" latinLnBrk="0" hangingPunct="1">
              <a:lnSpc>
                <a:spcPct val="90000"/>
              </a:lnSpc>
              <a:spcBef>
                <a:spcPts val="500"/>
              </a:spcBef>
              <a:buFont typeface="Arial" panose="020B0604020202020204" pitchFamily="34" charset="0"/>
              <a:buNone/>
              <a:tabLst>
                <a:tab pos="322498" algn="l"/>
                <a:tab pos="646436" algn="l"/>
                <a:tab pos="977572" algn="l"/>
                <a:tab pos="1304389" algn="l"/>
                <a:tab pos="1621128" algn="l"/>
                <a:tab pos="1955144"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2pPr>
            <a:lvl3pPr marL="0" indent="0" algn="l" defTabSz="407442" rtl="0" eaLnBrk="1" latinLnBrk="0" hangingPunct="1">
              <a:lnSpc>
                <a:spcPct val="90000"/>
              </a:lnSpc>
              <a:spcBef>
                <a:spcPts val="500"/>
              </a:spcBef>
              <a:buFont typeface="Arial" panose="020B0604020202020204" pitchFamily="34" charset="0"/>
              <a:buNone/>
              <a:tabLst>
                <a:tab pos="322498" algn="l"/>
                <a:tab pos="646436" algn="l"/>
                <a:tab pos="977572" algn="l"/>
                <a:tab pos="1304389" algn="l"/>
                <a:tab pos="1621128" algn="l"/>
                <a:tab pos="1950825"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3pPr>
            <a:lvl4pPr marL="322498" indent="-322498" algn="l" defTabSz="914354" rtl="0" eaLnBrk="1" latinLnBrk="0" hangingPunct="1">
              <a:lnSpc>
                <a:spcPct val="90000"/>
              </a:lnSpc>
              <a:spcBef>
                <a:spcPts val="500"/>
              </a:spcBef>
              <a:buFont typeface="+mj-lt"/>
              <a:buNone/>
              <a:tabLst>
                <a:tab pos="646436" algn="l"/>
                <a:tab pos="977572" algn="l"/>
                <a:tab pos="1304389" algn="l"/>
                <a:tab pos="1621128" algn="l"/>
                <a:tab pos="1950825"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4pPr>
            <a:lvl5pPr marL="322498" indent="-322498" algn="l" defTabSz="914354" rtl="0" eaLnBrk="1" latinLnBrk="0" hangingPunct="1">
              <a:lnSpc>
                <a:spcPct val="90000"/>
              </a:lnSpc>
              <a:spcBef>
                <a:spcPts val="500"/>
              </a:spcBef>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5pPr>
            <a:lvl6pPr marL="2514476"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007"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a:lnSpc>
                <a:spcPct val="114000"/>
              </a:lnSpc>
            </a:pPr>
            <a:r>
              <a:rPr lang="de-DE" sz="2800" dirty="0"/>
              <a:t>Anleitung:</a:t>
            </a:r>
          </a:p>
          <a:p>
            <a:pPr marL="457200" indent="-457200">
              <a:lnSpc>
                <a:spcPct val="114000"/>
              </a:lnSpc>
              <a:buFont typeface="+mj-lt"/>
              <a:buAutoNum type="arabicPeriod" startAt="3"/>
            </a:pPr>
            <a:r>
              <a:rPr lang="de-DE" dirty="0"/>
              <a:t>Testdurchführung</a:t>
            </a:r>
            <a:r>
              <a:rPr lang="de-DE" b="0" dirty="0"/>
              <a:t> (ca. 10 Minuten): Nehmen Sie sich Zeit, um die Items ehrlich </a:t>
            </a:r>
            <a:br>
              <a:rPr lang="de-DE" b="0" dirty="0"/>
            </a:br>
            <a:r>
              <a:rPr lang="de-DE" b="0" dirty="0"/>
              <a:t>und akkurat zu beantworten. Nach Abschluss kriegen Sie Ihre Top </a:t>
            </a:r>
            <a:r>
              <a:rPr lang="de-DE" b="0" dirty="0" err="1"/>
              <a:t>Strength</a:t>
            </a:r>
            <a:r>
              <a:rPr lang="de-DE" b="0" dirty="0"/>
              <a:t> sofort angezeigt. Scrollen Sie herunter, um Ihre Free </a:t>
            </a:r>
            <a:r>
              <a:rPr lang="de-DE" b="0" dirty="0" err="1"/>
              <a:t>Results</a:t>
            </a:r>
            <a:r>
              <a:rPr lang="de-DE" b="0" dirty="0"/>
              <a:t> zu erhalten. Mit einem Klick auf „Access </a:t>
            </a:r>
            <a:r>
              <a:rPr lang="de-DE" b="0" dirty="0" err="1"/>
              <a:t>Now</a:t>
            </a:r>
            <a:r>
              <a:rPr lang="de-DE" b="0" dirty="0"/>
              <a:t>“ werden Ihnen Ihre 5 Top </a:t>
            </a:r>
            <a:r>
              <a:rPr lang="de-DE" b="0" dirty="0" err="1"/>
              <a:t>Strengths</a:t>
            </a:r>
            <a:r>
              <a:rPr lang="de-DE" b="0" dirty="0"/>
              <a:t>, Ihre Middle </a:t>
            </a:r>
            <a:r>
              <a:rPr lang="de-DE" b="0" dirty="0" err="1"/>
              <a:t>Strengths</a:t>
            </a:r>
            <a:r>
              <a:rPr lang="de-DE" b="0" dirty="0"/>
              <a:t> und Ihre Lesser </a:t>
            </a:r>
            <a:r>
              <a:rPr lang="de-DE" b="0" dirty="0" err="1"/>
              <a:t>Strengths</a:t>
            </a:r>
            <a:r>
              <a:rPr lang="de-DE" b="0" dirty="0"/>
              <a:t> angezeigt. </a:t>
            </a:r>
          </a:p>
          <a:p>
            <a:pPr marL="457200" indent="-457200">
              <a:lnSpc>
                <a:spcPct val="114000"/>
              </a:lnSpc>
              <a:buFont typeface="+mj-lt"/>
              <a:buAutoNum type="arabicPeriod" startAt="3"/>
            </a:pPr>
            <a:r>
              <a:rPr lang="de-DE" dirty="0"/>
              <a:t>Reflexion</a:t>
            </a:r>
            <a:r>
              <a:rPr lang="de-DE" b="0" dirty="0"/>
              <a:t> (ca. 10 Minuten): Nachdem Sie Ihr Ergebnis erhalten haben, reflektieren </a:t>
            </a:r>
            <a:br>
              <a:rPr lang="de-DE" b="0" dirty="0"/>
            </a:br>
            <a:r>
              <a:rPr lang="de-DE" b="0" dirty="0"/>
              <a:t>Sie dieses anhand der Fragen auf dem Reflexionsportfolio.</a:t>
            </a:r>
          </a:p>
          <a:p>
            <a:endParaRPr lang="de-DE" sz="2800" b="0" dirty="0"/>
          </a:p>
          <a:p>
            <a:endParaRPr lang="de-DE" sz="2800" b="0" dirty="0"/>
          </a:p>
          <a:p>
            <a:endParaRPr lang="de-DE" sz="2800" b="0" dirty="0"/>
          </a:p>
        </p:txBody>
      </p:sp>
      <p:sp>
        <p:nvSpPr>
          <p:cNvPr id="11" name="Textfeld 10">
            <a:extLst>
              <a:ext uri="{FF2B5EF4-FFF2-40B4-BE49-F238E27FC236}">
                <a16:creationId xmlns:a16="http://schemas.microsoft.com/office/drawing/2014/main" id="{6B97F66E-7B78-4CDD-B7BD-1161EC8B5B21}"/>
              </a:ext>
            </a:extLst>
          </p:cNvPr>
          <p:cNvSpPr txBox="1"/>
          <p:nvPr/>
        </p:nvSpPr>
        <p:spPr>
          <a:xfrm>
            <a:off x="533936" y="6378130"/>
            <a:ext cx="9894586" cy="338554"/>
          </a:xfrm>
          <a:prstGeom prst="rect">
            <a:avLst/>
          </a:prstGeom>
          <a:noFill/>
        </p:spPr>
        <p:txBody>
          <a:bodyPr wrap="square">
            <a:spAutoFit/>
          </a:bodyPr>
          <a:lstStyle/>
          <a:p>
            <a:pPr marL="0" marR="0" indent="0">
              <a:buNone/>
            </a:pPr>
            <a:r>
              <a:rPr lang="de-DE" sz="800" b="0" i="0" dirty="0">
                <a:effectLst/>
                <a:latin typeface="Segoe UI" panose="020B0502040204020203" pitchFamily="34" charset="0"/>
              </a:rPr>
              <a:t>Dieses Material wurde im Rahmen des Projekts Happy Kit erarbeitet. </a:t>
            </a:r>
          </a:p>
          <a:p>
            <a:pPr marL="0" marR="0" indent="0">
              <a:buNone/>
            </a:pPr>
            <a:r>
              <a:rPr lang="de-DE" sz="800" b="0" i="0" dirty="0">
                <a:effectLst/>
                <a:latin typeface="Segoe UI" panose="020B0502040204020203" pitchFamily="34" charset="0"/>
              </a:rPr>
              <a:t>Das Projekt wurde von Oktober 2024 bis Oktober 2026 durch interne Qualitätsverbesserungsmittel für Studium und Lehre der Hochschule Ruhr West gefördert.</a:t>
            </a:r>
          </a:p>
        </p:txBody>
      </p:sp>
    </p:spTree>
    <p:extLst>
      <p:ext uri="{BB962C8B-B14F-4D97-AF65-F5344CB8AC3E}">
        <p14:creationId xmlns:p14="http://schemas.microsoft.com/office/powerpoint/2010/main" val="4054567779"/>
      </p:ext>
    </p:extLst>
  </p:cSld>
  <p:clrMapOvr>
    <a:masterClrMapping/>
  </p:clrMapOvr>
</p:sld>
</file>

<file path=ppt/theme/theme1.xml><?xml version="1.0" encoding="utf-8"?>
<a:theme xmlns:a="http://schemas.openxmlformats.org/drawingml/2006/main" name="1_Office">
  <a:themeElements>
    <a:clrScheme name="Benutzerdefiniert 1">
      <a:dk1>
        <a:srgbClr val="000000"/>
      </a:dk1>
      <a:lt1>
        <a:srgbClr val="FFFFFF"/>
      </a:lt1>
      <a:dk2>
        <a:srgbClr val="00A2D9"/>
      </a:dk2>
      <a:lt2>
        <a:srgbClr val="EEECE1"/>
      </a:lt2>
      <a:accent1>
        <a:srgbClr val="00A3DA"/>
      </a:accent1>
      <a:accent2>
        <a:srgbClr val="006B8E"/>
      </a:accent2>
      <a:accent3>
        <a:srgbClr val="4C4D4C"/>
      </a:accent3>
      <a:accent4>
        <a:srgbClr val="767776"/>
      </a:accent4>
      <a:accent5>
        <a:srgbClr val="767776"/>
      </a:accent5>
      <a:accent6>
        <a:srgbClr val="00AFDD"/>
      </a:accent6>
      <a:hlink>
        <a:srgbClr val="006B8E"/>
      </a:hlink>
      <a:folHlink>
        <a:srgbClr val="00516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9-06-06_HRW Powerpoint Master" id="{04377A4D-9DE6-EE41-8781-0E189CB9E1B1}" vid="{5CFA870C-B1ED-834E-B24B-41185ED9A9A9}"/>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621</Words>
  <Application>Microsoft Office PowerPoint</Application>
  <PresentationFormat>Breitbild</PresentationFormat>
  <Paragraphs>36</Paragraphs>
  <Slides>3</Slides>
  <Notes>3</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3</vt:i4>
      </vt:variant>
    </vt:vector>
  </HeadingPairs>
  <TitlesOfParts>
    <vt:vector size="8" baseType="lpstr">
      <vt:lpstr>Arial</vt:lpstr>
      <vt:lpstr>Calibri</vt:lpstr>
      <vt:lpstr>Liberation Serif</vt:lpstr>
      <vt:lpstr>Segoe UI</vt:lpstr>
      <vt:lpstr>1_Office</vt:lpstr>
      <vt:lpstr>Character Strengths: Finde deine Stärken</vt:lpstr>
      <vt:lpstr>Character Strengths: Finde deine Stärken</vt:lpstr>
      <vt:lpstr>Character Strengths: Finde deine Stärken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Positive Takeaway</dc:title>
  <dc:creator>Graf, Maike</dc:creator>
  <cp:lastModifiedBy>Graf, Maike</cp:lastModifiedBy>
  <cp:revision>26</cp:revision>
  <dcterms:created xsi:type="dcterms:W3CDTF">2025-04-03T10:23:37Z</dcterms:created>
  <dcterms:modified xsi:type="dcterms:W3CDTF">2026-08-27T13:19:34Z</dcterms:modified>
</cp:coreProperties>
</file>