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68" r:id="rId2"/>
    <p:sldId id="372" r:id="rId3"/>
    <p:sldId id="373" r:id="rId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8052" autoAdjust="0"/>
  </p:normalViewPr>
  <p:slideViewPr>
    <p:cSldViewPr snapToGrid="0">
      <p:cViewPr varScale="1">
        <p:scale>
          <a:sx n="51" d="100"/>
          <a:sy n="51" d="100"/>
        </p:scale>
        <p:origin x="125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158BA-E91D-407B-ACB7-59D63F67D087}" type="datetimeFigureOut">
              <a:rPr lang="de-DE" smtClean="0"/>
              <a:t>27.08.2026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AF92C9-B6FC-4C59-9B54-8192BC6798B5}" type="slidenum">
              <a:rPr lang="de-DE" smtClean="0"/>
              <a:t>‹Nr.›</a:t>
            </a:fld>
            <a:endParaRPr lang="de-DE"/>
          </a:p>
        </p:txBody>
      </p:sp>
    </p:spTree>
    <p:extLst>
      <p:ext uri="{BB962C8B-B14F-4D97-AF65-F5344CB8AC3E}">
        <p14:creationId xmlns:p14="http://schemas.microsoft.com/office/powerpoint/2010/main" val="3842662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buFont typeface="Arial" panose="020B0604020202020204" pitchFamily="34" charset="0"/>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"With the help of this tool, you can explore your character strengths and learn something about yourself. To explain:</a:t>
            </a:r>
          </a:p>
          <a:p>
            <a:pPr marL="285750" indent="-285750">
              <a:buFontTx/>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Character strengths are relatively stable positive traits that form the core of our being, are personally fulfilling and energizing, are valued across cultures, and do not diminish other people.</a:t>
            </a:r>
          </a:p>
          <a:p>
            <a:pPr marL="285750" indent="-285750">
              <a:buFontTx/>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Identifying and applying these traits is associated with a higher level of subjective well-being.</a:t>
            </a:r>
          </a:p>
          <a:p>
            <a:pPr marL="285750" indent="-285750">
              <a:buFontTx/>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Scientific research in the field of positive psychology has identified 24 character strengths and summarized them into 6 virtues, which you can see listed in the figure below.</a:t>
            </a:r>
          </a:p>
          <a:p>
            <a:pPr marL="285750" indent="-285750">
              <a:buFontTx/>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top five strengths are considered signature strengths, i.e., those that are particularly pronounced</a:t>
            </a:r>
          </a:p>
          <a:p>
            <a:pPr marL="285750" indent="-285750">
              <a:buFontTx/>
              <a:buChar char="-"/>
            </a:pPr>
            <a:endParaRPr lang="de-DE"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FontTx/>
              <a:buNone/>
            </a:pPr>
            <a:r>
              <a:rPr lang="de-DE" sz="1800" dirty="0" err="1">
                <a:effectLst/>
                <a:latin typeface="Calibri" panose="020F0502020204030204" pitchFamily="34" charset="0"/>
                <a:ea typeface="Calibri" panose="020F0502020204030204" pitchFamily="34" charset="0"/>
                <a:cs typeface="Times New Roman" panose="02020603050405020304" pitchFamily="18" charset="0"/>
              </a:rPr>
              <a:t>To</a:t>
            </a:r>
            <a:r>
              <a:rPr lang="de-DE" sz="1800" dirty="0">
                <a:effectLst/>
                <a:latin typeface="Calibri" panose="020F0502020204030204" pitchFamily="34" charset="0"/>
                <a:ea typeface="Calibri" panose="020F0502020204030204" pitchFamily="34" charset="0"/>
                <a:cs typeface="Times New Roman" panose="02020603050405020304" pitchFamily="18" charset="0"/>
              </a:rPr>
              <a:t> </a:t>
            </a:r>
            <a:r>
              <a:rPr lang="de-DE" sz="1800" dirty="0" err="1">
                <a:effectLst/>
                <a:latin typeface="Calibri" panose="020F0502020204030204" pitchFamily="34" charset="0"/>
                <a:ea typeface="Calibri" panose="020F0502020204030204" pitchFamily="34" charset="0"/>
                <a:cs typeface="Times New Roman" panose="02020603050405020304" pitchFamily="18" charset="0"/>
              </a:rPr>
              <a:t>learn</a:t>
            </a:r>
            <a:r>
              <a:rPr lang="de-DE" sz="1800" dirty="0">
                <a:effectLst/>
                <a:latin typeface="Calibri" panose="020F0502020204030204" pitchFamily="34" charset="0"/>
                <a:ea typeface="Calibri" panose="020F0502020204030204" pitchFamily="34" charset="0"/>
                <a:cs typeface="Times New Roman" panose="02020603050405020304" pitchFamily="18" charset="0"/>
              </a:rPr>
              <a:t> </a:t>
            </a:r>
            <a:r>
              <a:rPr lang="de-DE" sz="1800" dirty="0" err="1">
                <a:effectLst/>
                <a:latin typeface="Calibri" panose="020F0502020204030204" pitchFamily="34" charset="0"/>
                <a:ea typeface="Calibri" panose="020F0502020204030204" pitchFamily="34" charset="0"/>
                <a:cs typeface="Times New Roman" panose="02020603050405020304" pitchFamily="18" charset="0"/>
              </a:rPr>
              <a:t>about</a:t>
            </a:r>
            <a:r>
              <a:rPr lang="de-DE" sz="1800" dirty="0">
                <a:effectLst/>
                <a:latin typeface="Calibri" panose="020F0502020204030204" pitchFamily="34" charset="0"/>
                <a:ea typeface="Calibri" panose="020F0502020204030204" pitchFamily="34" charset="0"/>
                <a:cs typeface="Times New Roman" panose="02020603050405020304" pitchFamily="18" charset="0"/>
              </a:rPr>
              <a:t> </a:t>
            </a:r>
            <a:r>
              <a:rPr lang="de-DE" sz="1800" dirty="0" err="1">
                <a:effectLst/>
                <a:latin typeface="Calibri" panose="020F0502020204030204" pitchFamily="34" charset="0"/>
                <a:ea typeface="Calibri" panose="020F0502020204030204" pitchFamily="34" charset="0"/>
                <a:cs typeface="Times New Roman" panose="02020603050405020304" pitchFamily="18" charset="0"/>
              </a:rPr>
              <a:t>your</a:t>
            </a:r>
            <a:r>
              <a:rPr lang="de-DE" sz="1800" dirty="0">
                <a:effectLst/>
                <a:latin typeface="Calibri" panose="020F0502020204030204" pitchFamily="34" charset="0"/>
                <a:ea typeface="Calibri" panose="020F0502020204030204" pitchFamily="34" charset="0"/>
                <a:cs typeface="Times New Roman" panose="02020603050405020304" pitchFamily="18" charset="0"/>
              </a:rPr>
              <a:t> </a:t>
            </a:r>
            <a:r>
              <a:rPr lang="de-DE" sz="1800" dirty="0" err="1">
                <a:effectLst/>
                <a:latin typeface="Calibri" panose="020F0502020204030204" pitchFamily="34" charset="0"/>
                <a:ea typeface="Calibri" panose="020F0502020204030204" pitchFamily="34" charset="0"/>
                <a:cs typeface="Times New Roman" panose="02020603050405020304" pitchFamily="18" charset="0"/>
              </a:rPr>
              <a:t>character</a:t>
            </a:r>
            <a:r>
              <a:rPr lang="de-DE" sz="1800" dirty="0">
                <a:effectLst/>
                <a:latin typeface="Calibri" panose="020F0502020204030204" pitchFamily="34" charset="0"/>
                <a:ea typeface="Calibri" panose="020F0502020204030204" pitchFamily="34" charset="0"/>
                <a:cs typeface="Times New Roman" panose="02020603050405020304" pitchFamily="18" charset="0"/>
              </a:rPr>
              <a:t> </a:t>
            </a:r>
            <a:r>
              <a:rPr lang="de-DE" sz="1800" dirty="0" err="1">
                <a:effectLst/>
                <a:latin typeface="Calibri" panose="020F0502020204030204" pitchFamily="34" charset="0"/>
                <a:ea typeface="Calibri" panose="020F0502020204030204" pitchFamily="34" charset="0"/>
                <a:cs typeface="Times New Roman" panose="02020603050405020304" pitchFamily="18" charset="0"/>
              </a:rPr>
              <a:t>strengths</a:t>
            </a:r>
            <a:r>
              <a:rPr lang="de-DE" sz="1800" dirty="0">
                <a:effectLst/>
                <a:latin typeface="Calibri" panose="020F0502020204030204" pitchFamily="34" charset="0"/>
                <a:ea typeface="Calibri" panose="020F0502020204030204" pitchFamily="34" charset="0"/>
                <a:cs typeface="Times New Roman" panose="02020603050405020304" pitchFamily="18" charset="0"/>
              </a:rPr>
              <a:t>, </a:t>
            </a:r>
            <a:r>
              <a:rPr lang="de-DE" sz="1800" dirty="0" err="1">
                <a:effectLst/>
                <a:latin typeface="Calibri" panose="020F0502020204030204" pitchFamily="34" charset="0"/>
                <a:ea typeface="Calibri" panose="020F0502020204030204" pitchFamily="34" charset="0"/>
                <a:cs typeface="Times New Roman" panose="02020603050405020304" pitchFamily="18" charset="0"/>
              </a:rPr>
              <a:t>you</a:t>
            </a:r>
            <a:r>
              <a:rPr lang="de-DE" sz="1800" dirty="0">
                <a:effectLst/>
                <a:latin typeface="Calibri" panose="020F0502020204030204" pitchFamily="34" charset="0"/>
                <a:ea typeface="Calibri" panose="020F0502020204030204" pitchFamily="34" charset="0"/>
                <a:cs typeface="Times New Roman" panose="02020603050405020304" pitchFamily="18" charset="0"/>
              </a:rPr>
              <a:t> </a:t>
            </a:r>
            <a:r>
              <a:rPr lang="de-DE" sz="1800" dirty="0" err="1">
                <a:effectLst/>
                <a:latin typeface="Calibri" panose="020F0502020204030204" pitchFamily="34" charset="0"/>
                <a:ea typeface="Calibri" panose="020F0502020204030204" pitchFamily="34" charset="0"/>
                <a:cs typeface="Times New Roman" panose="02020603050405020304" pitchFamily="18" charset="0"/>
              </a:rPr>
              <a:t>need</a:t>
            </a:r>
            <a:r>
              <a:rPr lang="de-DE" sz="1800" dirty="0">
                <a:effectLst/>
                <a:latin typeface="Calibri" panose="020F0502020204030204" pitchFamily="34" charset="0"/>
                <a:ea typeface="Calibri" panose="020F0502020204030204" pitchFamily="34" charset="0"/>
                <a:cs typeface="Times New Roman" panose="02020603050405020304" pitchFamily="18" charset="0"/>
              </a:rPr>
              <a:t> t</a:t>
            </a:r>
            <a:r>
              <a:rPr lang="en-US" sz="1800" dirty="0">
                <a:effectLst/>
                <a:latin typeface="Calibri" panose="020F0502020204030204" pitchFamily="34" charset="0"/>
                <a:ea typeface="Calibri" panose="020F0502020204030204" pitchFamily="34" charset="0"/>
                <a:cs typeface="Times New Roman" panose="02020603050405020304" pitchFamily="18" charset="0"/>
              </a:rPr>
              <a:t>o complete a questionnaire, and you will find instructions on the next slides.</a:t>
            </a:r>
          </a:p>
        </p:txBody>
      </p:sp>
      <p:sp>
        <p:nvSpPr>
          <p:cNvPr id="4" name="Foliennummernplatzhalter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5D67AAC5-E19D-4C4F-A62D-4E8DD51B8C68}" type="slidenum">
              <a:rPr kumimoji="0" lang="de-DE" sz="1000" b="0" i="0" u="none" strike="noStrike" kern="1200" cap="none" spc="0" normalizeH="0" baseline="0" noProof="0" smtClean="0">
                <a:ln>
                  <a:noFill/>
                </a:ln>
                <a:solidFill>
                  <a:prstClr val="black"/>
                </a:solidFill>
                <a:effectLst/>
                <a:uLnTx/>
                <a:uFillTx/>
                <a:latin typeface="Liberation Serif" panose="02020603050405020304" pitchFamily="18"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a:t>
            </a:fld>
            <a:endParaRPr kumimoji="0" lang="de-DE" sz="1000" b="0" i="0" u="none" strike="noStrike" kern="1200" cap="none" spc="0" normalizeH="0" baseline="0" noProof="0">
              <a:ln>
                <a:noFill/>
              </a:ln>
              <a:solidFill>
                <a:prstClr val="black"/>
              </a:solidFill>
              <a:effectLst/>
              <a:uLnTx/>
              <a:uFillTx/>
              <a:latin typeface="Liberation Serif" panose="02020603050405020304" pitchFamily="18" charset="0"/>
              <a:ea typeface="+mn-ea"/>
              <a:cs typeface="+mn-cs"/>
            </a:endParaRPr>
          </a:p>
        </p:txBody>
      </p:sp>
    </p:spTree>
    <p:extLst>
      <p:ext uri="{BB962C8B-B14F-4D97-AF65-F5344CB8AC3E}">
        <p14:creationId xmlns:p14="http://schemas.microsoft.com/office/powerpoint/2010/main" val="1513329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buFont typeface="Arial" panose="020B0604020202020204" pitchFamily="34" charset="0"/>
              <a:buNone/>
            </a:pPr>
            <a:r>
              <a:rPr lang="de-DE" sz="1800" dirty="0">
                <a:effectLst/>
                <a:latin typeface="Calibri" panose="020F0502020204030204" pitchFamily="34" charset="0"/>
                <a:ea typeface="Calibri" panose="020F0502020204030204" pitchFamily="34" charset="0"/>
                <a:cs typeface="Times New Roman" panose="02020603050405020304" pitchFamily="18" charset="0"/>
              </a:rPr>
              <a:t>„</a:t>
            </a:r>
            <a:r>
              <a:rPr lang="en-US" sz="1800" dirty="0">
                <a:effectLst/>
                <a:latin typeface="Calibri" panose="020F0502020204030204" pitchFamily="34" charset="0"/>
                <a:ea typeface="Calibri" panose="020F0502020204030204" pitchFamily="34" charset="0"/>
                <a:cs typeface="Times New Roman" panose="02020603050405020304" pitchFamily="18" charset="0"/>
              </a:rPr>
              <a:t>Here is a brief guide on how to proceed. Go to the website provided here. You must register in order to take the test. Then select the VIA Adult Survey and complete it.”</a:t>
            </a:r>
            <a:endParaRPr lang="de-DE"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None/>
            </a:pPr>
            <a:r>
              <a:rPr lang="de-DE" sz="1800" dirty="0">
                <a:effectLst/>
                <a:latin typeface="Calibri" panose="020F0502020204030204" pitchFamily="34" charset="0"/>
                <a:ea typeface="Calibri" panose="020F0502020204030204" pitchFamily="34" charset="0"/>
                <a:cs typeface="Times New Roman" panose="02020603050405020304" pitchFamily="18" charset="0"/>
              </a:rPr>
              <a:t>[</a:t>
            </a:r>
            <a:r>
              <a:rPr lang="de-DE" sz="1800" dirty="0" err="1">
                <a:effectLst/>
                <a:latin typeface="Calibri" panose="020F0502020204030204" pitchFamily="34" charset="0"/>
                <a:ea typeface="Calibri" panose="020F0502020204030204" pitchFamily="34" charset="0"/>
                <a:cs typeface="Times New Roman" panose="02020603050405020304" pitchFamily="18" charset="0"/>
              </a:rPr>
              <a:t>continues</a:t>
            </a:r>
            <a:r>
              <a:rPr lang="de-DE" sz="1800" dirty="0">
                <a:effectLst/>
                <a:latin typeface="Calibri" panose="020F0502020204030204" pitchFamily="34" charset="0"/>
                <a:ea typeface="Calibri" panose="020F0502020204030204" pitchFamily="34" charset="0"/>
                <a:cs typeface="Times New Roman" panose="02020603050405020304" pitchFamily="18" charset="0"/>
              </a:rPr>
              <a:t> on </a:t>
            </a:r>
            <a:r>
              <a:rPr lang="de-DE" sz="1800" dirty="0" err="1">
                <a:effectLst/>
                <a:latin typeface="Calibri" panose="020F0502020204030204" pitchFamily="34" charset="0"/>
                <a:ea typeface="Calibri" panose="020F0502020204030204" pitchFamily="34" charset="0"/>
                <a:cs typeface="Times New Roman" panose="02020603050405020304" pitchFamily="18" charset="0"/>
              </a:rPr>
              <a:t>the</a:t>
            </a:r>
            <a:r>
              <a:rPr lang="de-DE" sz="1800" dirty="0">
                <a:effectLst/>
                <a:latin typeface="Calibri" panose="020F0502020204030204" pitchFamily="34" charset="0"/>
                <a:ea typeface="Calibri" panose="020F0502020204030204" pitchFamily="34" charset="0"/>
                <a:cs typeface="Times New Roman" panose="02020603050405020304" pitchFamily="18" charset="0"/>
              </a:rPr>
              <a:t> </a:t>
            </a:r>
            <a:r>
              <a:rPr lang="de-DE" sz="1800" dirty="0" err="1">
                <a:effectLst/>
                <a:latin typeface="Calibri" panose="020F0502020204030204" pitchFamily="34" charset="0"/>
                <a:ea typeface="Calibri" panose="020F0502020204030204" pitchFamily="34" charset="0"/>
                <a:cs typeface="Times New Roman" panose="02020603050405020304" pitchFamily="18" charset="0"/>
              </a:rPr>
              <a:t>next</a:t>
            </a:r>
            <a:r>
              <a:rPr lang="de-DE" sz="1800" dirty="0">
                <a:effectLst/>
                <a:latin typeface="Calibri" panose="020F0502020204030204" pitchFamily="34" charset="0"/>
                <a:ea typeface="Calibri" panose="020F0502020204030204" pitchFamily="34" charset="0"/>
                <a:cs typeface="Times New Roman" panose="02020603050405020304" pitchFamily="18" charset="0"/>
              </a:rPr>
              <a:t> </a:t>
            </a:r>
            <a:r>
              <a:rPr lang="de-DE" sz="1800" dirty="0" err="1">
                <a:effectLst/>
                <a:latin typeface="Calibri" panose="020F0502020204030204" pitchFamily="34" charset="0"/>
                <a:ea typeface="Calibri" panose="020F0502020204030204" pitchFamily="34" charset="0"/>
                <a:cs typeface="Times New Roman" panose="02020603050405020304" pitchFamily="18" charset="0"/>
              </a:rPr>
              <a:t>slide</a:t>
            </a:r>
            <a:r>
              <a:rPr lang="de-DE" sz="1800" dirty="0">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4" name="Foliennummernplatzhalter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5D67AAC5-E19D-4C4F-A62D-4E8DD51B8C68}" type="slidenum">
              <a:rPr kumimoji="0" lang="de-DE" sz="1000" b="0" i="0" u="none" strike="noStrike" kern="1200" cap="none" spc="0" normalizeH="0" baseline="0" noProof="0" smtClean="0">
                <a:ln>
                  <a:noFill/>
                </a:ln>
                <a:solidFill>
                  <a:prstClr val="black"/>
                </a:solidFill>
                <a:effectLst/>
                <a:uLnTx/>
                <a:uFillTx/>
                <a:latin typeface="Liberation Serif" panose="02020603050405020304" pitchFamily="18"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a:t>
            </a:fld>
            <a:endParaRPr kumimoji="0" lang="de-DE" sz="1000" b="0" i="0" u="none" strike="noStrike" kern="1200" cap="none" spc="0" normalizeH="0" baseline="0" noProof="0">
              <a:ln>
                <a:noFill/>
              </a:ln>
              <a:solidFill>
                <a:prstClr val="black"/>
              </a:solidFill>
              <a:effectLst/>
              <a:uLnTx/>
              <a:uFillTx/>
              <a:latin typeface="Liberation Serif" panose="02020603050405020304" pitchFamily="18" charset="0"/>
              <a:ea typeface="+mn-ea"/>
              <a:cs typeface="+mn-cs"/>
            </a:endParaRPr>
          </a:p>
        </p:txBody>
      </p:sp>
    </p:spTree>
    <p:extLst>
      <p:ext uri="{BB962C8B-B14F-4D97-AF65-F5344CB8AC3E}">
        <p14:creationId xmlns:p14="http://schemas.microsoft.com/office/powerpoint/2010/main" val="2546402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test takes about 10 minutes and provides you with information about your character and five signature strengths, i.e., those that are particularly pronounced. Once you have received the results, save them and continue working with the reflection portfolio for about 10 more minutes. You are invited to think about how you can use your signature strengths in a university context to increase your energy, motivation, and well-being here as well. If you like, you are welcome to share your thoughts with the group afterwards!"</a:t>
            </a:r>
            <a:endParaRPr lang="de-DE"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Foliennummernplatzhalter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5D67AAC5-E19D-4C4F-A62D-4E8DD51B8C68}" type="slidenum">
              <a:rPr kumimoji="0" lang="de-DE" sz="1000" b="0" i="0" u="none" strike="noStrike" kern="1200" cap="none" spc="0" normalizeH="0" baseline="0" noProof="0" smtClean="0">
                <a:ln>
                  <a:noFill/>
                </a:ln>
                <a:solidFill>
                  <a:prstClr val="black"/>
                </a:solidFill>
                <a:effectLst/>
                <a:uLnTx/>
                <a:uFillTx/>
                <a:latin typeface="Liberation Serif" panose="02020603050405020304" pitchFamily="18"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3</a:t>
            </a:fld>
            <a:endParaRPr kumimoji="0" lang="de-DE" sz="1000" b="0" i="0" u="none" strike="noStrike" kern="1200" cap="none" spc="0" normalizeH="0" baseline="0" noProof="0">
              <a:ln>
                <a:noFill/>
              </a:ln>
              <a:solidFill>
                <a:prstClr val="black"/>
              </a:solidFill>
              <a:effectLst/>
              <a:uLnTx/>
              <a:uFillTx/>
              <a:latin typeface="Liberation Serif" panose="02020603050405020304" pitchFamily="18" charset="0"/>
              <a:ea typeface="+mn-ea"/>
              <a:cs typeface="+mn-cs"/>
            </a:endParaRPr>
          </a:p>
        </p:txBody>
      </p:sp>
    </p:spTree>
    <p:extLst>
      <p:ext uri="{BB962C8B-B14F-4D97-AF65-F5344CB8AC3E}">
        <p14:creationId xmlns:p14="http://schemas.microsoft.com/office/powerpoint/2010/main" val="27989804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bg>
      <p:bgPr>
        <a:solidFill>
          <a:schemeClr val="bg1"/>
        </a:solidFill>
        <a:effectLst/>
      </p:bgPr>
    </p:bg>
    <p:spTree>
      <p:nvGrpSpPr>
        <p:cNvPr id="1" name=""/>
        <p:cNvGrpSpPr/>
        <p:nvPr/>
      </p:nvGrpSpPr>
      <p:grpSpPr>
        <a:xfrm>
          <a:off x="0" y="0"/>
          <a:ext cx="0" cy="0"/>
          <a:chOff x="0" y="0"/>
          <a:chExt cx="0" cy="0"/>
        </a:xfrm>
      </p:grpSpPr>
      <p:sp>
        <p:nvSpPr>
          <p:cNvPr id="15" name="Rechteck 14">
            <a:extLst>
              <a:ext uri="{FF2B5EF4-FFF2-40B4-BE49-F238E27FC236}">
                <a16:creationId xmlns:a16="http://schemas.microsoft.com/office/drawing/2014/main" id="{2F209691-7882-4238-801F-B63FAA938076}"/>
              </a:ext>
            </a:extLst>
          </p:cNvPr>
          <p:cNvSpPr/>
          <p:nvPr userDrawn="1"/>
        </p:nvSpPr>
        <p:spPr>
          <a:xfrm>
            <a:off x="0" y="1172225"/>
            <a:ext cx="12192000" cy="46894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a:p>
        </p:txBody>
      </p:sp>
      <p:pic>
        <p:nvPicPr>
          <p:cNvPr id="16" name="HRW_Logo_transparent.png">
            <a:extLst>
              <a:ext uri="{FF2B5EF4-FFF2-40B4-BE49-F238E27FC236}">
                <a16:creationId xmlns:a16="http://schemas.microsoft.com/office/drawing/2014/main" id="{251BAA7E-DF9D-401E-A509-46C3FA0949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7504" y="-5965"/>
            <a:ext cx="2592288" cy="1150806"/>
          </a:xfrm>
          <a:prstGeom prst="rect">
            <a:avLst/>
          </a:prstGeom>
        </p:spPr>
      </p:pic>
      <p:pic>
        <p:nvPicPr>
          <p:cNvPr id="17" name="Bild 2">
            <a:extLst>
              <a:ext uri="{FF2B5EF4-FFF2-40B4-BE49-F238E27FC236}">
                <a16:creationId xmlns:a16="http://schemas.microsoft.com/office/drawing/2014/main" id="{F6FF9EDF-5F71-4DEB-974B-C8BF78CAB9FA}"/>
              </a:ext>
            </a:extLst>
          </p:cNvPr>
          <p:cNvPicPr>
            <a:picLocks noChangeAspect="1"/>
          </p:cNvPicPr>
          <p:nvPr userDrawn="1"/>
        </p:nvPicPr>
        <p:blipFill>
          <a:blip r:embed="rId3"/>
          <a:stretch>
            <a:fillRect/>
          </a:stretch>
        </p:blipFill>
        <p:spPr>
          <a:xfrm>
            <a:off x="9552384" y="-27384"/>
            <a:ext cx="2015208" cy="318982"/>
          </a:xfrm>
          <a:prstGeom prst="rect">
            <a:avLst/>
          </a:prstGeom>
        </p:spPr>
      </p:pic>
      <p:sp>
        <p:nvSpPr>
          <p:cNvPr id="18" name="Titel 1">
            <a:extLst>
              <a:ext uri="{FF2B5EF4-FFF2-40B4-BE49-F238E27FC236}">
                <a16:creationId xmlns:a16="http://schemas.microsoft.com/office/drawing/2014/main" id="{4D750284-B646-407C-B6B0-35BD96F7D486}"/>
              </a:ext>
            </a:extLst>
          </p:cNvPr>
          <p:cNvSpPr>
            <a:spLocks noGrp="1"/>
          </p:cNvSpPr>
          <p:nvPr>
            <p:ph type="ctrTitle" hasCustomPrompt="1"/>
          </p:nvPr>
        </p:nvSpPr>
        <p:spPr>
          <a:xfrm>
            <a:off x="623392" y="1412777"/>
            <a:ext cx="10944721" cy="612692"/>
          </a:xfrm>
          <a:prstGeom prst="rect">
            <a:avLst/>
          </a:prstGeom>
        </p:spPr>
        <p:txBody>
          <a:bodyPr vert="horz" lIns="0" tIns="0" rIns="0" bIns="0" anchor="t" anchorCtr="0">
            <a:noAutofit/>
          </a:bodyPr>
          <a:lstStyle>
            <a:lvl1pPr>
              <a:defRPr sz="4000">
                <a:solidFill>
                  <a:schemeClr val="bg1"/>
                </a:solidFill>
                <a:latin typeface="Liberation Serif" pitchFamily="18" charset="0"/>
              </a:defRPr>
            </a:lvl1pPr>
          </a:lstStyle>
          <a:p>
            <a:r>
              <a:rPr lang="de-DE" dirty="0"/>
              <a:t>Titelmasterformat durch Klicken bearbeiten</a:t>
            </a:r>
          </a:p>
        </p:txBody>
      </p:sp>
      <p:sp>
        <p:nvSpPr>
          <p:cNvPr id="20" name="Untertitel 2">
            <a:extLst>
              <a:ext uri="{FF2B5EF4-FFF2-40B4-BE49-F238E27FC236}">
                <a16:creationId xmlns:a16="http://schemas.microsoft.com/office/drawing/2014/main" id="{643E9BF6-7747-4652-AD2E-2DECF8D0135C}"/>
              </a:ext>
            </a:extLst>
          </p:cNvPr>
          <p:cNvSpPr>
            <a:spLocks noGrp="1"/>
          </p:cNvSpPr>
          <p:nvPr>
            <p:ph type="subTitle" idx="1" hasCustomPrompt="1"/>
          </p:nvPr>
        </p:nvSpPr>
        <p:spPr>
          <a:xfrm>
            <a:off x="623393" y="2099447"/>
            <a:ext cx="10944200" cy="538498"/>
          </a:xfrm>
          <a:prstGeom prst="rect">
            <a:avLst/>
          </a:prstGeom>
        </p:spPr>
        <p:txBody>
          <a:bodyPr>
            <a:noAutofit/>
          </a:bodyPr>
          <a:lstStyle>
            <a:lvl1pPr marL="0" indent="0" algn="l">
              <a:buNone/>
              <a:defRPr sz="2800">
                <a:solidFill>
                  <a:schemeClr val="bg1"/>
                </a:solidFill>
                <a:latin typeface="Liberation Serif" pitchFamily="18" charset="0"/>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de-DE" dirty="0"/>
              <a:t>Formatvorlage des Untertitelmasters durch Klicken bearbeiten</a:t>
            </a:r>
          </a:p>
        </p:txBody>
      </p:sp>
      <p:sp>
        <p:nvSpPr>
          <p:cNvPr id="21" name="Inhaltsplatzhalter 18">
            <a:extLst>
              <a:ext uri="{FF2B5EF4-FFF2-40B4-BE49-F238E27FC236}">
                <a16:creationId xmlns:a16="http://schemas.microsoft.com/office/drawing/2014/main" id="{0AFA74AB-D6FF-41EA-A6B1-3CA8CABE7881}"/>
              </a:ext>
            </a:extLst>
          </p:cNvPr>
          <p:cNvSpPr>
            <a:spLocks noGrp="1"/>
          </p:cNvSpPr>
          <p:nvPr>
            <p:ph sz="quarter" idx="11" hasCustomPrompt="1"/>
          </p:nvPr>
        </p:nvSpPr>
        <p:spPr>
          <a:xfrm>
            <a:off x="6737702" y="6102708"/>
            <a:ext cx="4838179" cy="476250"/>
          </a:xfrm>
          <a:prstGeom prst="rect">
            <a:avLst/>
          </a:prstGeom>
        </p:spPr>
        <p:txBody>
          <a:bodyPr lIns="0" rIns="0"/>
          <a:lstStyle>
            <a:lvl1pPr algn="r">
              <a:defRPr sz="2800">
                <a:solidFill>
                  <a:schemeClr val="tx2"/>
                </a:solidFill>
              </a:defRPr>
            </a:lvl1pPr>
          </a:lstStyle>
          <a:p>
            <a:pPr lvl="0"/>
            <a:r>
              <a:rPr lang="de-DE" dirty="0"/>
              <a:t>Fachbereich, Institut o.ä.</a:t>
            </a:r>
          </a:p>
        </p:txBody>
      </p:sp>
      <p:pic>
        <p:nvPicPr>
          <p:cNvPr id="22" name="Grafik 21">
            <a:extLst>
              <a:ext uri="{FF2B5EF4-FFF2-40B4-BE49-F238E27FC236}">
                <a16:creationId xmlns:a16="http://schemas.microsoft.com/office/drawing/2014/main" id="{A1FD8DD9-AF25-4C65-ADCD-63CDAF5EF26C}"/>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7345" y="5949280"/>
            <a:ext cx="2378295" cy="783106"/>
          </a:xfrm>
          <a:prstGeom prst="rect">
            <a:avLst/>
          </a:prstGeom>
        </p:spPr>
      </p:pic>
    </p:spTree>
    <p:extLst>
      <p:ext uri="{BB962C8B-B14F-4D97-AF65-F5344CB8AC3E}">
        <p14:creationId xmlns:p14="http://schemas.microsoft.com/office/powerpoint/2010/main" val="255927117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7" name="Textplatzhalter 2">
            <a:extLst>
              <a:ext uri="{FF2B5EF4-FFF2-40B4-BE49-F238E27FC236}">
                <a16:creationId xmlns:a16="http://schemas.microsoft.com/office/drawing/2014/main" id="{506B2031-0944-472D-9758-0DCDA86D1772}"/>
              </a:ext>
            </a:extLst>
          </p:cNvPr>
          <p:cNvSpPr>
            <a:spLocks noGrp="1"/>
          </p:cNvSpPr>
          <p:nvPr>
            <p:ph idx="1" hasCustomPrompt="1"/>
          </p:nvPr>
        </p:nvSpPr>
        <p:spPr bwMode="auto">
          <a:xfrm>
            <a:off x="623886" y="1685924"/>
            <a:ext cx="10943704" cy="4181553"/>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2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Titelplatzhalter 1">
            <a:extLst>
              <a:ext uri="{FF2B5EF4-FFF2-40B4-BE49-F238E27FC236}">
                <a16:creationId xmlns:a16="http://schemas.microsoft.com/office/drawing/2014/main" id="{38CB67B9-68E6-4B38-8C0A-390C5C83192D}"/>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3600" b="1">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
        <p:nvSpPr>
          <p:cNvPr id="8" name="Textfeld 7">
            <a:extLst>
              <a:ext uri="{FF2B5EF4-FFF2-40B4-BE49-F238E27FC236}">
                <a16:creationId xmlns:a16="http://schemas.microsoft.com/office/drawing/2014/main" id="{AD61DBF0-A9A3-4214-AACB-BFA17C8796B6}"/>
              </a:ext>
            </a:extLst>
          </p:cNvPr>
          <p:cNvSpPr txBox="1"/>
          <p:nvPr userDrawn="1"/>
        </p:nvSpPr>
        <p:spPr>
          <a:xfrm>
            <a:off x="10494069" y="6349346"/>
            <a:ext cx="646047" cy="307777"/>
          </a:xfrm>
          <a:prstGeom prst="rect">
            <a:avLst/>
          </a:prstGeom>
          <a:noFill/>
        </p:spPr>
        <p:txBody>
          <a:bodyPr wrap="square" rtlCol="0">
            <a:spAutoFit/>
          </a:bodyPr>
          <a:lstStyle/>
          <a:p>
            <a:pPr algn="r"/>
            <a:fld id="{3679B97E-2F6E-4600-A1D4-CAD9FE23913C}" type="slidenum">
              <a:rPr lang="de-DE" sz="1400" smtClean="0">
                <a:latin typeface="Liberation Serif" panose="02020603050405020304" pitchFamily="18" charset="0"/>
              </a:rPr>
              <a:pPr algn="r"/>
              <a:t>‹Nr.›</a:t>
            </a:fld>
            <a:endParaRPr lang="de-DE" sz="1400" dirty="0">
              <a:latin typeface="Liberation Serif" panose="02020603050405020304" pitchFamily="18" charset="0"/>
            </a:endParaRPr>
          </a:p>
        </p:txBody>
      </p:sp>
    </p:spTree>
    <p:extLst>
      <p:ext uri="{BB962C8B-B14F-4D97-AF65-F5344CB8AC3E}">
        <p14:creationId xmlns:p14="http://schemas.microsoft.com/office/powerpoint/2010/main" val="45100935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el und Inhalt">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54C57E92-D1F3-45D1-9948-450440153DE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1140116" y="6009914"/>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feld 4">
            <a:extLst>
              <a:ext uri="{FF2B5EF4-FFF2-40B4-BE49-F238E27FC236}">
                <a16:creationId xmlns:a16="http://schemas.microsoft.com/office/drawing/2014/main" id="{487D9650-9A7A-4B37-8FFC-2B4B6FD27DC6}"/>
              </a:ext>
            </a:extLst>
          </p:cNvPr>
          <p:cNvSpPr txBox="1"/>
          <p:nvPr userDrawn="1"/>
        </p:nvSpPr>
        <p:spPr>
          <a:xfrm>
            <a:off x="10494069" y="6140394"/>
            <a:ext cx="646047" cy="307777"/>
          </a:xfrm>
          <a:prstGeom prst="rect">
            <a:avLst/>
          </a:prstGeom>
          <a:noFill/>
        </p:spPr>
        <p:txBody>
          <a:bodyPr wrap="square" rtlCol="0">
            <a:spAutoFit/>
          </a:bodyPr>
          <a:lstStyle/>
          <a:p>
            <a:pPr algn="r"/>
            <a:fld id="{3679B97E-2F6E-4600-A1D4-CAD9FE23913C}" type="slidenum">
              <a:rPr lang="de-DE" sz="1400" smtClean="0">
                <a:latin typeface="Liberation Serif" panose="02020603050405020304" pitchFamily="18" charset="0"/>
              </a:rPr>
              <a:pPr algn="r"/>
              <a:t>‹Nr.›</a:t>
            </a:fld>
            <a:endParaRPr lang="de-DE" sz="1400" dirty="0">
              <a:latin typeface="Liberation Serif" panose="02020603050405020304" pitchFamily="18" charset="0"/>
            </a:endParaRPr>
          </a:p>
        </p:txBody>
      </p:sp>
      <p:sp>
        <p:nvSpPr>
          <p:cNvPr id="6" name="Textplatzhalter 2">
            <a:extLst>
              <a:ext uri="{FF2B5EF4-FFF2-40B4-BE49-F238E27FC236}">
                <a16:creationId xmlns:a16="http://schemas.microsoft.com/office/drawing/2014/main" id="{1D2B3BB5-5D99-4B39-B9A1-92A21DA09056}"/>
              </a:ext>
            </a:extLst>
          </p:cNvPr>
          <p:cNvSpPr>
            <a:spLocks noGrp="1"/>
          </p:cNvSpPr>
          <p:nvPr>
            <p:ph idx="1" hasCustomPrompt="1"/>
          </p:nvPr>
        </p:nvSpPr>
        <p:spPr bwMode="auto">
          <a:xfrm>
            <a:off x="623886" y="1268760"/>
            <a:ext cx="10943704" cy="4598718"/>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1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itelplatzhalter 1">
            <a:extLst>
              <a:ext uri="{FF2B5EF4-FFF2-40B4-BE49-F238E27FC236}">
                <a16:creationId xmlns:a16="http://schemas.microsoft.com/office/drawing/2014/main" id="{E2AD25A9-78B7-4D5C-B726-25F0ADE2C06B}"/>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2800">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Tree>
    <p:extLst>
      <p:ext uri="{BB962C8B-B14F-4D97-AF65-F5344CB8AC3E}">
        <p14:creationId xmlns:p14="http://schemas.microsoft.com/office/powerpoint/2010/main" val="3566966594"/>
      </p:ext>
    </p:extLst>
  </p:cSld>
  <p:clrMapOvr>
    <a:masterClrMapping/>
  </p:clrMapOvr>
  <p:extLst>
    <p:ext uri="{DCECCB84-F9BA-43D5-87BE-67443E8EF086}">
      <p15:sldGuideLst xmlns:p15="http://schemas.microsoft.com/office/powerpoint/2012/main">
        <p15:guide id="1" pos="393">
          <p15:clr>
            <a:srgbClr val="FBAE40"/>
          </p15:clr>
        </p15:guide>
        <p15:guide id="2" orient="horz" pos="300">
          <p15:clr>
            <a:srgbClr val="FBAE40"/>
          </p15:clr>
        </p15:guide>
        <p15:guide id="3" orient="horz" pos="70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6" name="Textplatzhalter 2">
            <a:extLst>
              <a:ext uri="{FF2B5EF4-FFF2-40B4-BE49-F238E27FC236}">
                <a16:creationId xmlns:a16="http://schemas.microsoft.com/office/drawing/2014/main" id="{1D2B3BB5-5D99-4B39-B9A1-92A21DA09056}"/>
              </a:ext>
            </a:extLst>
          </p:cNvPr>
          <p:cNvSpPr>
            <a:spLocks noGrp="1"/>
          </p:cNvSpPr>
          <p:nvPr>
            <p:ph idx="1" hasCustomPrompt="1"/>
          </p:nvPr>
        </p:nvSpPr>
        <p:spPr bwMode="auto">
          <a:xfrm>
            <a:off x="623886" y="1268760"/>
            <a:ext cx="10943704" cy="4598718"/>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1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itelplatzhalter 1">
            <a:extLst>
              <a:ext uri="{FF2B5EF4-FFF2-40B4-BE49-F238E27FC236}">
                <a16:creationId xmlns:a16="http://schemas.microsoft.com/office/drawing/2014/main" id="{E2AD25A9-78B7-4D5C-B726-25F0ADE2C06B}"/>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2800">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Tree>
    <p:extLst>
      <p:ext uri="{BB962C8B-B14F-4D97-AF65-F5344CB8AC3E}">
        <p14:creationId xmlns:p14="http://schemas.microsoft.com/office/powerpoint/2010/main" val="770161381"/>
      </p:ext>
    </p:extLst>
  </p:cSld>
  <p:clrMapOvr>
    <a:masterClrMapping/>
  </p:clrMapOvr>
  <p:extLst>
    <p:ext uri="{DCECCB84-F9BA-43D5-87BE-67443E8EF086}">
      <p15:sldGuideLst xmlns:p15="http://schemas.microsoft.com/office/powerpoint/2012/main">
        <p15:guide id="1" pos="393">
          <p15:clr>
            <a:srgbClr val="FBAE40"/>
          </p15:clr>
        </p15:guide>
        <p15:guide id="2" orient="horz" pos="300">
          <p15:clr>
            <a:srgbClr val="FBAE40"/>
          </p15:clr>
        </p15:guide>
        <p15:guide id="3" orient="horz" pos="70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bschluss">
    <p:bg>
      <p:bgPr>
        <a:solidFill>
          <a:schemeClr val="bg1"/>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B911F3F6-CFAF-4712-99FF-0821A3CDF40F}"/>
              </a:ext>
            </a:extLst>
          </p:cNvPr>
          <p:cNvSpPr/>
          <p:nvPr userDrawn="1"/>
        </p:nvSpPr>
        <p:spPr>
          <a:xfrm>
            <a:off x="0" y="1150806"/>
            <a:ext cx="12192000" cy="46894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a:p>
        </p:txBody>
      </p:sp>
      <p:sp>
        <p:nvSpPr>
          <p:cNvPr id="14" name="Titel 1">
            <a:extLst>
              <a:ext uri="{FF2B5EF4-FFF2-40B4-BE49-F238E27FC236}">
                <a16:creationId xmlns:a16="http://schemas.microsoft.com/office/drawing/2014/main" id="{F3AA6966-2C26-4F5B-A6D5-F8776664F8E6}"/>
              </a:ext>
            </a:extLst>
          </p:cNvPr>
          <p:cNvSpPr>
            <a:spLocks noGrp="1"/>
          </p:cNvSpPr>
          <p:nvPr>
            <p:ph type="ctrTitle" hasCustomPrompt="1"/>
          </p:nvPr>
        </p:nvSpPr>
        <p:spPr>
          <a:xfrm>
            <a:off x="622296" y="1412776"/>
            <a:ext cx="10945817" cy="1102519"/>
          </a:xfrm>
          <a:prstGeom prst="rect">
            <a:avLst/>
          </a:prstGeom>
        </p:spPr>
        <p:txBody>
          <a:bodyPr vert="horz" lIns="0" tIns="0" rIns="0" bIns="0" anchor="t" anchorCtr="0">
            <a:noAutofit/>
          </a:bodyPr>
          <a:lstStyle>
            <a:lvl1pPr>
              <a:defRPr sz="4000">
                <a:solidFill>
                  <a:schemeClr val="bg1"/>
                </a:solidFill>
                <a:latin typeface="Liberation Serif" pitchFamily="18" charset="0"/>
              </a:defRPr>
            </a:lvl1pPr>
          </a:lstStyle>
          <a:p>
            <a:r>
              <a:rPr lang="de-DE" dirty="0"/>
              <a:t>Abschlussmaster durch Klicken bearbeiten</a:t>
            </a:r>
          </a:p>
        </p:txBody>
      </p:sp>
      <p:pic>
        <p:nvPicPr>
          <p:cNvPr id="16" name="Bild 2">
            <a:extLst>
              <a:ext uri="{FF2B5EF4-FFF2-40B4-BE49-F238E27FC236}">
                <a16:creationId xmlns:a16="http://schemas.microsoft.com/office/drawing/2014/main" id="{F440AE9D-24A0-4E14-BEAA-A817DEA58C9B}"/>
              </a:ext>
            </a:extLst>
          </p:cNvPr>
          <p:cNvPicPr>
            <a:picLocks noChangeAspect="1"/>
          </p:cNvPicPr>
          <p:nvPr userDrawn="1"/>
        </p:nvPicPr>
        <p:blipFill>
          <a:blip r:embed="rId2"/>
          <a:stretch>
            <a:fillRect/>
          </a:stretch>
        </p:blipFill>
        <p:spPr>
          <a:xfrm>
            <a:off x="9552384" y="-27384"/>
            <a:ext cx="2015208" cy="318982"/>
          </a:xfrm>
          <a:prstGeom prst="rect">
            <a:avLst/>
          </a:prstGeom>
        </p:spPr>
      </p:pic>
      <p:pic>
        <p:nvPicPr>
          <p:cNvPr id="17" name="HRW_Logo_transparent.png">
            <a:extLst>
              <a:ext uri="{FF2B5EF4-FFF2-40B4-BE49-F238E27FC236}">
                <a16:creationId xmlns:a16="http://schemas.microsoft.com/office/drawing/2014/main" id="{977B5304-7624-44FB-8AE5-9CBDC59AB85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97504" y="-27384"/>
            <a:ext cx="2592288" cy="1150806"/>
          </a:xfrm>
          <a:prstGeom prst="rect">
            <a:avLst/>
          </a:prstGeom>
        </p:spPr>
      </p:pic>
      <p:pic>
        <p:nvPicPr>
          <p:cNvPr id="18" name="Grafik 17">
            <a:extLst>
              <a:ext uri="{FF2B5EF4-FFF2-40B4-BE49-F238E27FC236}">
                <a16:creationId xmlns:a16="http://schemas.microsoft.com/office/drawing/2014/main" id="{C25C95A8-926B-4BB4-83F9-CBBFE9E376C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7345" y="5949280"/>
            <a:ext cx="2378295" cy="783106"/>
          </a:xfrm>
          <a:prstGeom prst="rect">
            <a:avLst/>
          </a:prstGeom>
        </p:spPr>
      </p:pic>
      <p:sp>
        <p:nvSpPr>
          <p:cNvPr id="8" name="Inhaltsplatzhalter 18">
            <a:extLst>
              <a:ext uri="{FF2B5EF4-FFF2-40B4-BE49-F238E27FC236}">
                <a16:creationId xmlns:a16="http://schemas.microsoft.com/office/drawing/2014/main" id="{CE84D051-E07F-4D08-A817-41C9C28BFBB7}"/>
              </a:ext>
            </a:extLst>
          </p:cNvPr>
          <p:cNvSpPr>
            <a:spLocks noGrp="1"/>
          </p:cNvSpPr>
          <p:nvPr>
            <p:ph sz="quarter" idx="11" hasCustomPrompt="1"/>
          </p:nvPr>
        </p:nvSpPr>
        <p:spPr>
          <a:xfrm>
            <a:off x="6737702" y="6102708"/>
            <a:ext cx="4838179" cy="476250"/>
          </a:xfrm>
          <a:prstGeom prst="rect">
            <a:avLst/>
          </a:prstGeom>
        </p:spPr>
        <p:txBody>
          <a:bodyPr lIns="0" rIns="0"/>
          <a:lstStyle>
            <a:lvl1pPr algn="r">
              <a:defRPr sz="2800">
                <a:solidFill>
                  <a:schemeClr val="tx2"/>
                </a:solidFill>
              </a:defRPr>
            </a:lvl1pPr>
          </a:lstStyle>
          <a:p>
            <a:pPr lvl="0"/>
            <a:r>
              <a:rPr lang="de-DE" dirty="0"/>
              <a:t>Fachbereich, Institut o.ä.</a:t>
            </a:r>
          </a:p>
        </p:txBody>
      </p:sp>
    </p:spTree>
    <p:extLst>
      <p:ext uri="{BB962C8B-B14F-4D97-AF65-F5344CB8AC3E}">
        <p14:creationId xmlns:p14="http://schemas.microsoft.com/office/powerpoint/2010/main" val="79391983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2465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lgn="l" defTabSz="914354" rtl="0" eaLnBrk="1" latinLnBrk="0" hangingPunct="1">
        <a:lnSpc>
          <a:spcPct val="90000"/>
        </a:lnSpc>
        <a:spcBef>
          <a:spcPct val="0"/>
        </a:spcBef>
        <a:buNone/>
        <a:defRPr sz="4400" kern="1200">
          <a:solidFill>
            <a:schemeClr val="tx1"/>
          </a:solidFill>
          <a:latin typeface="Liberation Serif" panose="02020603050405020304" pitchFamily="18" charset="0"/>
          <a:ea typeface="+mj-ea"/>
          <a:cs typeface="+mj-cs"/>
        </a:defRPr>
      </a:lvl1pPr>
    </p:titleStyle>
    <p:bodyStyle>
      <a:lvl1pPr marL="0" indent="0" algn="l" defTabSz="914354" rtl="0" eaLnBrk="1" latinLnBrk="0" hangingPunct="1">
        <a:lnSpc>
          <a:spcPct val="90000"/>
        </a:lnSpc>
        <a:spcBef>
          <a:spcPts val="1001"/>
        </a:spcBef>
        <a:buFont typeface="Arial" panose="020B0604020202020204" pitchFamily="34" charset="0"/>
        <a:buNone/>
        <a:defRPr sz="2800" kern="1200">
          <a:solidFill>
            <a:schemeClr val="tx1"/>
          </a:solidFill>
          <a:latin typeface="Liberation Serif" panose="02020603050405020304" pitchFamily="18" charset="0"/>
          <a:ea typeface="+mn-ea"/>
          <a:cs typeface="+mn-cs"/>
        </a:defRPr>
      </a:lvl1pPr>
      <a:lvl2pPr marL="685767"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Liberation Serif" panose="02020603050405020304" pitchFamily="18" charset="0"/>
          <a:ea typeface="+mn-ea"/>
          <a:cs typeface="+mn-cs"/>
        </a:defRPr>
      </a:lvl2pPr>
      <a:lvl3pPr marL="1142943"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Liberation Serif" panose="02020603050405020304" pitchFamily="18" charset="0"/>
          <a:ea typeface="+mn-ea"/>
          <a:cs typeface="+mn-cs"/>
        </a:defRPr>
      </a:lvl3pPr>
      <a:lvl4pPr marL="1600121"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Liberation Serif" panose="02020603050405020304" pitchFamily="18" charset="0"/>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Liberation Serif" panose="02020603050405020304" pitchFamily="18" charset="0"/>
          <a:ea typeface="+mn-ea"/>
          <a:cs typeface="+mn-cs"/>
        </a:defRPr>
      </a:lvl5pPr>
      <a:lvl6pPr marL="2514476"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007"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de-DE"/>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87">
          <p15:clr>
            <a:srgbClr val="F26B43"/>
          </p15:clr>
        </p15:guide>
        <p15:guide id="5" orient="horz" pos="822">
          <p15:clr>
            <a:srgbClr val="F26B43"/>
          </p15:clr>
        </p15:guide>
        <p15:guide id="7" pos="393">
          <p15:clr>
            <a:srgbClr val="F26B43"/>
          </p15:clr>
        </p15:guide>
        <p15:guide id="8" orient="horz" pos="61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hyperlink" Target="https://www.viacharacter.org/account/register" TargetMode="External"/><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162C1B6F-4F4E-42F7-A31C-DFB1DDFB5D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02625" y="147093"/>
            <a:ext cx="1022400" cy="1022400"/>
          </a:xfrm>
          <a:prstGeom prst="rect">
            <a:avLst/>
          </a:prstGeom>
        </p:spPr>
      </p:pic>
      <p:sp>
        <p:nvSpPr>
          <p:cNvPr id="3" name="Titel 2">
            <a:extLst>
              <a:ext uri="{FF2B5EF4-FFF2-40B4-BE49-F238E27FC236}">
                <a16:creationId xmlns:a16="http://schemas.microsoft.com/office/drawing/2014/main" id="{277ABF4A-BA07-4BF5-8A4B-5A35F94D84E0}"/>
              </a:ext>
            </a:extLst>
          </p:cNvPr>
          <p:cNvSpPr>
            <a:spLocks noGrp="1"/>
          </p:cNvSpPr>
          <p:nvPr>
            <p:ph type="title"/>
          </p:nvPr>
        </p:nvSpPr>
        <p:spPr/>
        <p:txBody>
          <a:bodyPr/>
          <a:lstStyle/>
          <a:p>
            <a:r>
              <a:rPr lang="de-DE" sz="4000" dirty="0"/>
              <a:t>Character </a:t>
            </a:r>
            <a:r>
              <a:rPr lang="de-DE" sz="4000" dirty="0" err="1"/>
              <a:t>Strengths</a:t>
            </a:r>
            <a:endParaRPr lang="de-DE" sz="4000" dirty="0"/>
          </a:p>
        </p:txBody>
      </p:sp>
      <p:pic>
        <p:nvPicPr>
          <p:cNvPr id="9" name="Picture 2">
            <a:extLst>
              <a:ext uri="{FF2B5EF4-FFF2-40B4-BE49-F238E27FC236}">
                <a16:creationId xmlns:a16="http://schemas.microsoft.com/office/drawing/2014/main" id="{1E5056D0-F453-4081-9C9E-C23ED58F61B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11084308" y="6216870"/>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Grafik 9">
            <a:extLst>
              <a:ext uri="{FF2B5EF4-FFF2-40B4-BE49-F238E27FC236}">
                <a16:creationId xmlns:a16="http://schemas.microsoft.com/office/drawing/2014/main" id="{C81E541E-468E-4A68-9E28-FAD354E181C8}"/>
              </a:ext>
            </a:extLst>
          </p:cNvPr>
          <p:cNvPicPr>
            <a:picLocks noChangeAspect="1"/>
          </p:cNvPicPr>
          <p:nvPr/>
        </p:nvPicPr>
        <p:blipFill>
          <a:blip r:embed="rId5"/>
          <a:stretch>
            <a:fillRect/>
          </a:stretch>
        </p:blipFill>
        <p:spPr>
          <a:xfrm>
            <a:off x="10292297" y="6168287"/>
            <a:ext cx="610328" cy="626204"/>
          </a:xfrm>
          <a:prstGeom prst="rect">
            <a:avLst/>
          </a:prstGeom>
        </p:spPr>
      </p:pic>
      <p:sp>
        <p:nvSpPr>
          <p:cNvPr id="12" name="Inhaltsplatzhalter 1">
            <a:extLst>
              <a:ext uri="{FF2B5EF4-FFF2-40B4-BE49-F238E27FC236}">
                <a16:creationId xmlns:a16="http://schemas.microsoft.com/office/drawing/2014/main" id="{32A89B6B-5637-40CB-8754-7BE5A30847EF}"/>
              </a:ext>
            </a:extLst>
          </p:cNvPr>
          <p:cNvSpPr txBox="1">
            <a:spLocks/>
          </p:cNvSpPr>
          <p:nvPr/>
        </p:nvSpPr>
        <p:spPr bwMode="auto">
          <a:xfrm>
            <a:off x="623888" y="1486405"/>
            <a:ext cx="10434639" cy="3314700"/>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defTabSz="914354" rtl="0" eaLnBrk="1" latinLnBrk="0" hangingPunct="1">
              <a:lnSpc>
                <a:spcPct val="90000"/>
              </a:lnSpc>
              <a:spcBef>
                <a:spcPts val="1001"/>
              </a:spcBef>
              <a:buFont typeface="Arial" panose="020B0604020202020204" pitchFamily="34" charset="0"/>
              <a:buNone/>
              <a:tabLst>
                <a:tab pos="322498" algn="l"/>
                <a:tab pos="657954" algn="l"/>
                <a:tab pos="977572" algn="l"/>
                <a:tab pos="1301509" algn="l"/>
                <a:tab pos="1621128" algn="l"/>
                <a:tab pos="1959463" algn="l"/>
                <a:tab pos="2601579" algn="l"/>
                <a:tab pos="3259532" algn="l"/>
                <a:tab pos="3903088" algn="l"/>
                <a:tab pos="4561041" algn="l"/>
              </a:tabLst>
              <a:defRPr sz="2400" b="1" kern="1200">
                <a:solidFill>
                  <a:schemeClr val="tx1"/>
                </a:solidFill>
                <a:latin typeface="Liberation Serif" panose="02020603050405020304" pitchFamily="18" charset="0"/>
                <a:ea typeface="+mn-ea"/>
                <a:cs typeface="Liberation Serif" panose="02020603050405020304" pitchFamily="18" charset="0"/>
              </a:defRPr>
            </a:lvl1pPr>
            <a:lvl2pPr marL="0" indent="0" algn="l" defTabSz="914354" rtl="0" eaLnBrk="1" latinLnBrk="0" hangingPunct="1">
              <a:lnSpc>
                <a:spcPct val="90000"/>
              </a:lnSpc>
              <a:spcBef>
                <a:spcPts val="500"/>
              </a:spcBef>
              <a:buFont typeface="Arial" panose="020B0604020202020204" pitchFamily="34" charset="0"/>
              <a:buNone/>
              <a:tabLst>
                <a:tab pos="322498" algn="l"/>
                <a:tab pos="646436" algn="l"/>
                <a:tab pos="977572" algn="l"/>
                <a:tab pos="1304389" algn="l"/>
                <a:tab pos="1621128" algn="l"/>
                <a:tab pos="1955144"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2pPr>
            <a:lvl3pPr marL="0" indent="0" algn="l" defTabSz="407442" rtl="0" eaLnBrk="1" latinLnBrk="0" hangingPunct="1">
              <a:lnSpc>
                <a:spcPct val="90000"/>
              </a:lnSpc>
              <a:spcBef>
                <a:spcPts val="500"/>
              </a:spcBef>
              <a:buFont typeface="Arial" panose="020B0604020202020204" pitchFamily="34" charset="0"/>
              <a:buNone/>
              <a:tabLst>
                <a:tab pos="322498" algn="l"/>
                <a:tab pos="646436" algn="l"/>
                <a:tab pos="977572" algn="l"/>
                <a:tab pos="1304389" algn="l"/>
                <a:tab pos="1621128" algn="l"/>
                <a:tab pos="1950825"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3pPr>
            <a:lvl4pPr marL="322498" indent="-322498" algn="l" defTabSz="914354" rtl="0" eaLnBrk="1" latinLnBrk="0" hangingPunct="1">
              <a:lnSpc>
                <a:spcPct val="90000"/>
              </a:lnSpc>
              <a:spcBef>
                <a:spcPts val="500"/>
              </a:spcBef>
              <a:buFont typeface="+mj-lt"/>
              <a:buNone/>
              <a:tabLst>
                <a:tab pos="646436" algn="l"/>
                <a:tab pos="977572" algn="l"/>
                <a:tab pos="1304389" algn="l"/>
                <a:tab pos="1621128" algn="l"/>
                <a:tab pos="1950825"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4pPr>
            <a:lvl5pPr marL="322498" indent="-322498" algn="l" defTabSz="914354" rtl="0" eaLnBrk="1" latinLnBrk="0" hangingPunct="1">
              <a:lnSpc>
                <a:spcPct val="90000"/>
              </a:lnSpc>
              <a:spcBef>
                <a:spcPts val="500"/>
              </a:spcBef>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5pPr>
            <a:lvl6pPr marL="2514476"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007"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a:lnSpc>
                <a:spcPct val="114000"/>
              </a:lnSpc>
            </a:pPr>
            <a:r>
              <a:rPr lang="de-DE" sz="2800" dirty="0"/>
              <a:t>A </a:t>
            </a:r>
            <a:r>
              <a:rPr lang="de-DE" sz="2800" dirty="0" err="1"/>
              <a:t>definition</a:t>
            </a:r>
            <a:r>
              <a:rPr lang="de-DE" sz="2800" dirty="0"/>
              <a:t> </a:t>
            </a:r>
            <a:r>
              <a:rPr lang="de-DE" sz="2800" dirty="0" err="1"/>
              <a:t>of</a:t>
            </a:r>
            <a:r>
              <a:rPr lang="de-DE" sz="2800" dirty="0"/>
              <a:t> </a:t>
            </a:r>
            <a:r>
              <a:rPr lang="de-DE" sz="2800" dirty="0" err="1"/>
              <a:t>terms</a:t>
            </a:r>
            <a:r>
              <a:rPr lang="de-DE" sz="2800" dirty="0"/>
              <a:t>:</a:t>
            </a:r>
          </a:p>
          <a:p>
            <a:pPr marL="457200" indent="-457200">
              <a:lnSpc>
                <a:spcPct val="114000"/>
              </a:lnSpc>
              <a:spcBef>
                <a:spcPts val="0"/>
              </a:spcBef>
              <a:buFont typeface="Arial" panose="020B0604020202020204" pitchFamily="34" charset="0"/>
              <a:buChar char="•"/>
            </a:pPr>
            <a:r>
              <a:rPr lang="en-US" b="0" dirty="0"/>
              <a:t>Character strengths are relatively stable </a:t>
            </a:r>
            <a:r>
              <a:rPr lang="en-US" dirty="0"/>
              <a:t>positive traits that form the core of our being</a:t>
            </a:r>
            <a:r>
              <a:rPr lang="en-US" b="0" dirty="0"/>
              <a:t>, are personally fulfilling and energizing, are valued across cultures, and do not diminish others.</a:t>
            </a:r>
          </a:p>
          <a:p>
            <a:pPr marL="457200" indent="-457200">
              <a:lnSpc>
                <a:spcPct val="114000"/>
              </a:lnSpc>
              <a:spcBef>
                <a:spcPts val="0"/>
              </a:spcBef>
              <a:buFont typeface="Arial" panose="020B0604020202020204" pitchFamily="34" charset="0"/>
              <a:buChar char="•"/>
            </a:pPr>
            <a:r>
              <a:rPr lang="en-US" b="0" dirty="0"/>
              <a:t>Identifying and applying these strengths is associated with a </a:t>
            </a:r>
            <a:r>
              <a:rPr lang="en-US" dirty="0"/>
              <a:t>higher level of subjective well-being</a:t>
            </a:r>
            <a:r>
              <a:rPr lang="en-US" b="0" dirty="0"/>
              <a:t>.</a:t>
            </a:r>
            <a:endParaRPr lang="de-DE" b="0" dirty="0"/>
          </a:p>
          <a:p>
            <a:pPr marL="457200" indent="-457200">
              <a:lnSpc>
                <a:spcPct val="114000"/>
              </a:lnSpc>
              <a:spcBef>
                <a:spcPts val="0"/>
              </a:spcBef>
              <a:buFont typeface="Arial" panose="020B0604020202020204" pitchFamily="34" charset="0"/>
              <a:buChar char="•"/>
            </a:pPr>
            <a:r>
              <a:rPr lang="en-US" b="0" dirty="0"/>
              <a:t>There are 24 character strengths grouped into 6 virtues:</a:t>
            </a:r>
            <a:endParaRPr lang="de-DE" b="0" dirty="0"/>
          </a:p>
        </p:txBody>
      </p:sp>
      <p:sp>
        <p:nvSpPr>
          <p:cNvPr id="8" name="Textfeld 7">
            <a:extLst>
              <a:ext uri="{FF2B5EF4-FFF2-40B4-BE49-F238E27FC236}">
                <a16:creationId xmlns:a16="http://schemas.microsoft.com/office/drawing/2014/main" id="{98FC7631-2810-487C-9D9E-E32624768E48}"/>
              </a:ext>
            </a:extLst>
          </p:cNvPr>
          <p:cNvSpPr txBox="1"/>
          <p:nvPr/>
        </p:nvSpPr>
        <p:spPr>
          <a:xfrm>
            <a:off x="533936" y="6378130"/>
            <a:ext cx="9894586" cy="338554"/>
          </a:xfrm>
          <a:prstGeom prst="rect">
            <a:avLst/>
          </a:prstGeom>
          <a:noFill/>
        </p:spPr>
        <p:txBody>
          <a:bodyPr wrap="square">
            <a:spAutoFit/>
          </a:bodyPr>
          <a:lstStyle/>
          <a:p>
            <a:pPr marL="0" marR="0" indent="0">
              <a:buNone/>
            </a:pPr>
            <a:r>
              <a:rPr lang="en-US" sz="800" b="0" i="0" dirty="0">
                <a:effectLst/>
                <a:latin typeface="Segoe UI" panose="020B0502040204020203" pitchFamily="34" charset="0"/>
              </a:rPr>
              <a:t>This material was developed as part of the Happy Kit project.</a:t>
            </a:r>
            <a:br>
              <a:rPr lang="en-US" sz="800" b="0" i="0" dirty="0">
                <a:effectLst/>
                <a:latin typeface="Segoe UI" panose="020B0502040204020203" pitchFamily="34" charset="0"/>
              </a:rPr>
            </a:br>
            <a:r>
              <a:rPr lang="en-US" sz="800" b="0" i="0" dirty="0">
                <a:effectLst/>
                <a:latin typeface="Segoe UI" panose="020B0502040204020203" pitchFamily="34" charset="0"/>
              </a:rPr>
              <a:t>The project was funded from October 2024 to October 2026 through internal quality improvement funds for academic programs and teaching at Ruhr West University of Applied Sciences.</a:t>
            </a:r>
            <a:endParaRPr lang="de-DE" sz="800" b="0" i="0" dirty="0">
              <a:effectLst/>
              <a:latin typeface="Segoe UI" panose="020B0502040204020203" pitchFamily="34" charset="0"/>
            </a:endParaRPr>
          </a:p>
        </p:txBody>
      </p:sp>
      <p:pic>
        <p:nvPicPr>
          <p:cNvPr id="4" name="Grafik 3">
            <a:extLst>
              <a:ext uri="{FF2B5EF4-FFF2-40B4-BE49-F238E27FC236}">
                <a16:creationId xmlns:a16="http://schemas.microsoft.com/office/drawing/2014/main" id="{A5905C1E-384E-47C6-BC51-C38B48409407}"/>
              </a:ext>
            </a:extLst>
          </p:cNvPr>
          <p:cNvPicPr>
            <a:picLocks noChangeAspect="1"/>
          </p:cNvPicPr>
          <p:nvPr/>
        </p:nvPicPr>
        <p:blipFill rotWithShape="1">
          <a:blip r:embed="rId6">
            <a:extLst>
              <a:ext uri="{28A0092B-C50C-407E-A947-70E740481C1C}">
                <a14:useLocalDpi xmlns:a14="http://schemas.microsoft.com/office/drawing/2010/main" val="0"/>
              </a:ext>
            </a:extLst>
          </a:blip>
          <a:srcRect l="31055" r="34805"/>
          <a:stretch/>
        </p:blipFill>
        <p:spPr>
          <a:xfrm rot="16200000">
            <a:off x="5269022" y="2055696"/>
            <a:ext cx="1653436" cy="6858000"/>
          </a:xfrm>
          <a:prstGeom prst="rect">
            <a:avLst/>
          </a:prstGeom>
        </p:spPr>
      </p:pic>
    </p:spTree>
    <p:extLst>
      <p:ext uri="{BB962C8B-B14F-4D97-AF65-F5344CB8AC3E}">
        <p14:creationId xmlns:p14="http://schemas.microsoft.com/office/powerpoint/2010/main" val="3636354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3E256E18-EC24-4500-BC3B-066D14936873}"/>
              </a:ext>
            </a:extLst>
          </p:cNvPr>
          <p:cNvSpPr>
            <a:spLocks noGrp="1"/>
          </p:cNvSpPr>
          <p:nvPr>
            <p:ph idx="1"/>
          </p:nvPr>
        </p:nvSpPr>
        <p:spPr>
          <a:xfrm>
            <a:off x="623890" y="1599139"/>
            <a:ext cx="8708000" cy="4681882"/>
          </a:xfrm>
        </p:spPr>
        <p:txBody>
          <a:bodyPr/>
          <a:lstStyle/>
          <a:p>
            <a:pPr>
              <a:lnSpc>
                <a:spcPct val="114000"/>
              </a:lnSpc>
            </a:pPr>
            <a:r>
              <a:rPr lang="de-DE" sz="2800" dirty="0" err="1"/>
              <a:t>Instruction</a:t>
            </a:r>
            <a:r>
              <a:rPr lang="de-DE" sz="2800" dirty="0"/>
              <a:t>:</a:t>
            </a:r>
          </a:p>
          <a:p>
            <a:pPr marL="457200" indent="-457200">
              <a:lnSpc>
                <a:spcPct val="114000"/>
              </a:lnSpc>
              <a:buFont typeface="+mj-lt"/>
              <a:buAutoNum type="arabicPeriod"/>
            </a:pPr>
            <a:r>
              <a:rPr lang="en-US" dirty="0"/>
              <a:t>Registration</a:t>
            </a:r>
            <a:r>
              <a:rPr lang="en-US" b="0" dirty="0"/>
              <a:t>: Go to </a:t>
            </a:r>
            <a:r>
              <a:rPr lang="en-US" b="0" dirty="0">
                <a:hlinkClick r:id="rId3"/>
              </a:rPr>
              <a:t>https://www.viacharacter.org/account/register</a:t>
            </a:r>
            <a:r>
              <a:rPr lang="en-US" b="0" dirty="0"/>
              <a:t> or scan the QR-Code and register to take the test. Select </a:t>
            </a:r>
            <a:br>
              <a:rPr lang="en-US" b="0" dirty="0"/>
            </a:br>
            <a:r>
              <a:rPr lang="en-US" b="0" dirty="0"/>
              <a:t>“English” under Language to get the English version of the test.</a:t>
            </a:r>
          </a:p>
          <a:p>
            <a:pPr marL="457200" indent="-457200">
              <a:lnSpc>
                <a:spcPct val="114000"/>
              </a:lnSpc>
              <a:buFont typeface="+mj-lt"/>
              <a:buAutoNum type="arabicPeriod"/>
            </a:pPr>
            <a:r>
              <a:rPr lang="en-US" dirty="0"/>
              <a:t>Selecting the test: </a:t>
            </a:r>
            <a:r>
              <a:rPr lang="en-US" b="0" dirty="0"/>
              <a:t>After successfully registering, you will be taken to your dashboard. Click on “Take the Survey” at the top right or center left and select the </a:t>
            </a:r>
            <a:r>
              <a:rPr lang="en-US" b="0" i="1" dirty="0"/>
              <a:t>VIA Adult Survey </a:t>
            </a:r>
            <a:r>
              <a:rPr lang="en-US" b="0" dirty="0"/>
              <a:t>(on the right-hand side).</a:t>
            </a:r>
            <a:endParaRPr lang="de-DE" b="0" dirty="0"/>
          </a:p>
        </p:txBody>
      </p:sp>
      <p:sp>
        <p:nvSpPr>
          <p:cNvPr id="3" name="Titel 2">
            <a:extLst>
              <a:ext uri="{FF2B5EF4-FFF2-40B4-BE49-F238E27FC236}">
                <a16:creationId xmlns:a16="http://schemas.microsoft.com/office/drawing/2014/main" id="{277ABF4A-BA07-4BF5-8A4B-5A35F94D84E0}"/>
              </a:ext>
            </a:extLst>
          </p:cNvPr>
          <p:cNvSpPr>
            <a:spLocks noGrp="1"/>
          </p:cNvSpPr>
          <p:nvPr>
            <p:ph type="title"/>
          </p:nvPr>
        </p:nvSpPr>
        <p:spPr/>
        <p:txBody>
          <a:bodyPr/>
          <a:lstStyle/>
          <a:p>
            <a:pPr marL="0" indent="0"/>
            <a:r>
              <a:rPr lang="de-DE" sz="4000" dirty="0"/>
              <a:t>Character </a:t>
            </a:r>
            <a:r>
              <a:rPr lang="de-DE" sz="4000" dirty="0" err="1"/>
              <a:t>Strengths</a:t>
            </a:r>
            <a:endParaRPr lang="de-DE" sz="4000" b="0" dirty="0"/>
          </a:p>
        </p:txBody>
      </p:sp>
      <p:pic>
        <p:nvPicPr>
          <p:cNvPr id="9" name="Picture 2">
            <a:extLst>
              <a:ext uri="{FF2B5EF4-FFF2-40B4-BE49-F238E27FC236}">
                <a16:creationId xmlns:a16="http://schemas.microsoft.com/office/drawing/2014/main" id="{1E5056D0-F453-4081-9C9E-C23ED58F61B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11084308" y="6216870"/>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Grafik 9">
            <a:extLst>
              <a:ext uri="{FF2B5EF4-FFF2-40B4-BE49-F238E27FC236}">
                <a16:creationId xmlns:a16="http://schemas.microsoft.com/office/drawing/2014/main" id="{C81E541E-468E-4A68-9E28-FAD354E181C8}"/>
              </a:ext>
            </a:extLst>
          </p:cNvPr>
          <p:cNvPicPr>
            <a:picLocks noChangeAspect="1"/>
          </p:cNvPicPr>
          <p:nvPr/>
        </p:nvPicPr>
        <p:blipFill>
          <a:blip r:embed="rId5"/>
          <a:stretch>
            <a:fillRect/>
          </a:stretch>
        </p:blipFill>
        <p:spPr>
          <a:xfrm>
            <a:off x="10292297" y="6168287"/>
            <a:ext cx="610328" cy="626204"/>
          </a:xfrm>
          <a:prstGeom prst="rect">
            <a:avLst/>
          </a:prstGeom>
        </p:spPr>
      </p:pic>
      <p:pic>
        <p:nvPicPr>
          <p:cNvPr id="7" name="Grafik 6">
            <a:extLst>
              <a:ext uri="{FF2B5EF4-FFF2-40B4-BE49-F238E27FC236}">
                <a16:creationId xmlns:a16="http://schemas.microsoft.com/office/drawing/2014/main" id="{A89FCE53-7482-42BE-8634-B72733267EB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902625" y="147093"/>
            <a:ext cx="1022400" cy="1022400"/>
          </a:xfrm>
          <a:prstGeom prst="rect">
            <a:avLst/>
          </a:prstGeom>
        </p:spPr>
      </p:pic>
      <p:pic>
        <p:nvPicPr>
          <p:cNvPr id="8" name="Grafik 7">
            <a:extLst>
              <a:ext uri="{FF2B5EF4-FFF2-40B4-BE49-F238E27FC236}">
                <a16:creationId xmlns:a16="http://schemas.microsoft.com/office/drawing/2014/main" id="{56DFE858-1E03-4737-92AC-3F0CBB42F29F}"/>
              </a:ext>
            </a:extLst>
          </p:cNvPr>
          <p:cNvPicPr>
            <a:picLocks noChangeAspect="1"/>
          </p:cNvPicPr>
          <p:nvPr/>
        </p:nvPicPr>
        <p:blipFill rotWithShape="1">
          <a:blip r:embed="rId7">
            <a:extLst>
              <a:ext uri="{28A0092B-C50C-407E-A947-70E740481C1C}">
                <a14:useLocalDpi xmlns:a14="http://schemas.microsoft.com/office/drawing/2010/main" val="0"/>
              </a:ext>
            </a:extLst>
          </a:blip>
          <a:srcRect t="9008"/>
          <a:stretch/>
        </p:blipFill>
        <p:spPr>
          <a:xfrm>
            <a:off x="9067525" y="2642991"/>
            <a:ext cx="2857500" cy="2600085"/>
          </a:xfrm>
          <a:prstGeom prst="rect">
            <a:avLst/>
          </a:prstGeom>
        </p:spPr>
      </p:pic>
      <p:sp>
        <p:nvSpPr>
          <p:cNvPr id="11" name="Textfeld 10">
            <a:extLst>
              <a:ext uri="{FF2B5EF4-FFF2-40B4-BE49-F238E27FC236}">
                <a16:creationId xmlns:a16="http://schemas.microsoft.com/office/drawing/2014/main" id="{27461B43-277C-4E34-8332-708393FAD4ED}"/>
              </a:ext>
            </a:extLst>
          </p:cNvPr>
          <p:cNvSpPr txBox="1"/>
          <p:nvPr/>
        </p:nvSpPr>
        <p:spPr>
          <a:xfrm>
            <a:off x="533936" y="6378130"/>
            <a:ext cx="9894586" cy="338554"/>
          </a:xfrm>
          <a:prstGeom prst="rect">
            <a:avLst/>
          </a:prstGeom>
          <a:noFill/>
        </p:spPr>
        <p:txBody>
          <a:bodyPr wrap="square">
            <a:spAutoFit/>
          </a:bodyPr>
          <a:lstStyle/>
          <a:p>
            <a:pPr marL="0" marR="0" indent="0">
              <a:buNone/>
            </a:pPr>
            <a:r>
              <a:rPr lang="en-US" sz="800" b="0" i="0" dirty="0">
                <a:effectLst/>
                <a:latin typeface="Segoe UI" panose="020B0502040204020203" pitchFamily="34" charset="0"/>
              </a:rPr>
              <a:t>This material was developed as part of the Happy Kit project.</a:t>
            </a:r>
            <a:br>
              <a:rPr lang="en-US" sz="800" b="0" i="0" dirty="0">
                <a:effectLst/>
                <a:latin typeface="Segoe UI" panose="020B0502040204020203" pitchFamily="34" charset="0"/>
              </a:rPr>
            </a:br>
            <a:r>
              <a:rPr lang="en-US" sz="800" b="0" i="0" dirty="0">
                <a:effectLst/>
                <a:latin typeface="Segoe UI" panose="020B0502040204020203" pitchFamily="34" charset="0"/>
              </a:rPr>
              <a:t>The project was funded from October 2024 to October 2026 through internal quality improvement funds for academic programs and teaching at Ruhr West University of Applied Sciences.</a:t>
            </a:r>
            <a:endParaRPr lang="de-DE" sz="800" b="0" i="0" dirty="0">
              <a:effectLst/>
              <a:latin typeface="Segoe UI" panose="020B0502040204020203" pitchFamily="34" charset="0"/>
            </a:endParaRPr>
          </a:p>
        </p:txBody>
      </p:sp>
    </p:spTree>
    <p:extLst>
      <p:ext uri="{BB962C8B-B14F-4D97-AF65-F5344CB8AC3E}">
        <p14:creationId xmlns:p14="http://schemas.microsoft.com/office/powerpoint/2010/main" val="3336090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277ABF4A-BA07-4BF5-8A4B-5A35F94D84E0}"/>
              </a:ext>
            </a:extLst>
          </p:cNvPr>
          <p:cNvSpPr>
            <a:spLocks noGrp="1"/>
          </p:cNvSpPr>
          <p:nvPr>
            <p:ph type="title"/>
          </p:nvPr>
        </p:nvSpPr>
        <p:spPr/>
        <p:txBody>
          <a:bodyPr/>
          <a:lstStyle/>
          <a:p>
            <a:pPr marL="0" indent="0"/>
            <a:r>
              <a:rPr lang="de-DE" sz="4000" dirty="0"/>
              <a:t>Character </a:t>
            </a:r>
            <a:r>
              <a:rPr lang="de-DE" sz="4000" dirty="0" err="1"/>
              <a:t>Strengths</a:t>
            </a:r>
            <a:endParaRPr lang="de-DE" sz="4000" b="0" dirty="0"/>
          </a:p>
        </p:txBody>
      </p:sp>
      <p:pic>
        <p:nvPicPr>
          <p:cNvPr id="9" name="Picture 2">
            <a:extLst>
              <a:ext uri="{FF2B5EF4-FFF2-40B4-BE49-F238E27FC236}">
                <a16:creationId xmlns:a16="http://schemas.microsoft.com/office/drawing/2014/main" id="{1E5056D0-F453-4081-9C9E-C23ED58F61B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1084308" y="6216870"/>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Grafik 9">
            <a:extLst>
              <a:ext uri="{FF2B5EF4-FFF2-40B4-BE49-F238E27FC236}">
                <a16:creationId xmlns:a16="http://schemas.microsoft.com/office/drawing/2014/main" id="{C81E541E-468E-4A68-9E28-FAD354E181C8}"/>
              </a:ext>
            </a:extLst>
          </p:cNvPr>
          <p:cNvPicPr>
            <a:picLocks noChangeAspect="1"/>
          </p:cNvPicPr>
          <p:nvPr/>
        </p:nvPicPr>
        <p:blipFill>
          <a:blip r:embed="rId4"/>
          <a:stretch>
            <a:fillRect/>
          </a:stretch>
        </p:blipFill>
        <p:spPr>
          <a:xfrm>
            <a:off x="10292297" y="6168287"/>
            <a:ext cx="610328" cy="626204"/>
          </a:xfrm>
          <a:prstGeom prst="rect">
            <a:avLst/>
          </a:prstGeom>
        </p:spPr>
      </p:pic>
      <p:pic>
        <p:nvPicPr>
          <p:cNvPr id="7" name="Grafik 6">
            <a:extLst>
              <a:ext uri="{FF2B5EF4-FFF2-40B4-BE49-F238E27FC236}">
                <a16:creationId xmlns:a16="http://schemas.microsoft.com/office/drawing/2014/main" id="{A89FCE53-7482-42BE-8634-B72733267E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02625" y="147093"/>
            <a:ext cx="1022400" cy="1022400"/>
          </a:xfrm>
          <a:prstGeom prst="rect">
            <a:avLst/>
          </a:prstGeom>
        </p:spPr>
      </p:pic>
      <p:sp>
        <p:nvSpPr>
          <p:cNvPr id="8" name="Inhaltsplatzhalter 1">
            <a:extLst>
              <a:ext uri="{FF2B5EF4-FFF2-40B4-BE49-F238E27FC236}">
                <a16:creationId xmlns:a16="http://schemas.microsoft.com/office/drawing/2014/main" id="{D11CEFCE-352B-41A0-9D7F-F567855E42C6}"/>
              </a:ext>
            </a:extLst>
          </p:cNvPr>
          <p:cNvSpPr txBox="1">
            <a:spLocks/>
          </p:cNvSpPr>
          <p:nvPr/>
        </p:nvSpPr>
        <p:spPr bwMode="auto">
          <a:xfrm>
            <a:off x="623890" y="1599139"/>
            <a:ext cx="10278736" cy="4681882"/>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defTabSz="914354" rtl="0" eaLnBrk="1" latinLnBrk="0" hangingPunct="1">
              <a:lnSpc>
                <a:spcPct val="90000"/>
              </a:lnSpc>
              <a:spcBef>
                <a:spcPts val="1001"/>
              </a:spcBef>
              <a:buFont typeface="Arial" panose="020B0604020202020204" pitchFamily="34" charset="0"/>
              <a:buNone/>
              <a:tabLst>
                <a:tab pos="322498" algn="l"/>
                <a:tab pos="657954" algn="l"/>
                <a:tab pos="977572" algn="l"/>
                <a:tab pos="1301509" algn="l"/>
                <a:tab pos="1621128" algn="l"/>
                <a:tab pos="1959463" algn="l"/>
                <a:tab pos="2601579" algn="l"/>
                <a:tab pos="3259532" algn="l"/>
                <a:tab pos="3903088" algn="l"/>
                <a:tab pos="4561041" algn="l"/>
              </a:tabLst>
              <a:defRPr sz="2400" b="1" kern="1200">
                <a:solidFill>
                  <a:schemeClr val="tx1"/>
                </a:solidFill>
                <a:latin typeface="Liberation Serif" panose="02020603050405020304" pitchFamily="18" charset="0"/>
                <a:ea typeface="+mn-ea"/>
                <a:cs typeface="Liberation Serif" panose="02020603050405020304" pitchFamily="18" charset="0"/>
              </a:defRPr>
            </a:lvl1pPr>
            <a:lvl2pPr marL="0" indent="0" algn="l" defTabSz="914354" rtl="0" eaLnBrk="1" latinLnBrk="0" hangingPunct="1">
              <a:lnSpc>
                <a:spcPct val="90000"/>
              </a:lnSpc>
              <a:spcBef>
                <a:spcPts val="500"/>
              </a:spcBef>
              <a:buFont typeface="Arial" panose="020B0604020202020204" pitchFamily="34" charset="0"/>
              <a:buNone/>
              <a:tabLst>
                <a:tab pos="322498" algn="l"/>
                <a:tab pos="646436" algn="l"/>
                <a:tab pos="977572" algn="l"/>
                <a:tab pos="1304389" algn="l"/>
                <a:tab pos="1621128" algn="l"/>
                <a:tab pos="1955144"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2pPr>
            <a:lvl3pPr marL="0" indent="0" algn="l" defTabSz="407442" rtl="0" eaLnBrk="1" latinLnBrk="0" hangingPunct="1">
              <a:lnSpc>
                <a:spcPct val="90000"/>
              </a:lnSpc>
              <a:spcBef>
                <a:spcPts val="500"/>
              </a:spcBef>
              <a:buFont typeface="Arial" panose="020B0604020202020204" pitchFamily="34" charset="0"/>
              <a:buNone/>
              <a:tabLst>
                <a:tab pos="322498" algn="l"/>
                <a:tab pos="646436" algn="l"/>
                <a:tab pos="977572" algn="l"/>
                <a:tab pos="1304389" algn="l"/>
                <a:tab pos="1621128" algn="l"/>
                <a:tab pos="1950825"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3pPr>
            <a:lvl4pPr marL="322498" indent="-322498" algn="l" defTabSz="914354" rtl="0" eaLnBrk="1" latinLnBrk="0" hangingPunct="1">
              <a:lnSpc>
                <a:spcPct val="90000"/>
              </a:lnSpc>
              <a:spcBef>
                <a:spcPts val="500"/>
              </a:spcBef>
              <a:buFont typeface="+mj-lt"/>
              <a:buNone/>
              <a:tabLst>
                <a:tab pos="646436" algn="l"/>
                <a:tab pos="977572" algn="l"/>
                <a:tab pos="1304389" algn="l"/>
                <a:tab pos="1621128" algn="l"/>
                <a:tab pos="1950825"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4pPr>
            <a:lvl5pPr marL="322498" indent="-322498" algn="l" defTabSz="914354" rtl="0" eaLnBrk="1" latinLnBrk="0" hangingPunct="1">
              <a:lnSpc>
                <a:spcPct val="90000"/>
              </a:lnSpc>
              <a:spcBef>
                <a:spcPts val="500"/>
              </a:spcBef>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5pPr>
            <a:lvl6pPr marL="2514476"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007"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a:lnSpc>
                <a:spcPct val="114000"/>
              </a:lnSpc>
            </a:pPr>
            <a:r>
              <a:rPr lang="de-DE" sz="2800" dirty="0" err="1"/>
              <a:t>Instruction</a:t>
            </a:r>
            <a:r>
              <a:rPr lang="de-DE" sz="2800" dirty="0"/>
              <a:t>:</a:t>
            </a:r>
          </a:p>
          <a:p>
            <a:pPr marL="457200" indent="-457200">
              <a:lnSpc>
                <a:spcPct val="114000"/>
              </a:lnSpc>
              <a:buFont typeface="+mj-lt"/>
              <a:buAutoNum type="arabicPeriod" startAt="3"/>
            </a:pPr>
            <a:r>
              <a:rPr lang="en-US" dirty="0"/>
              <a:t>Test administration </a:t>
            </a:r>
            <a:r>
              <a:rPr lang="en-US" b="0" dirty="0"/>
              <a:t>(approx. 10 minutes): Take your time to answer the items honestly. Once completed, your Top Strengths will be displayed immediately. Scroll down to get your Free Results. Click on “Access Now” to see your 5 Top Strengths, Middle Strengths, and Lesser Strengths. </a:t>
            </a:r>
          </a:p>
          <a:p>
            <a:pPr marL="457200" indent="-457200">
              <a:lnSpc>
                <a:spcPct val="114000"/>
              </a:lnSpc>
              <a:buFont typeface="+mj-lt"/>
              <a:buAutoNum type="arabicPeriod" startAt="3"/>
            </a:pPr>
            <a:r>
              <a:rPr lang="en-US" dirty="0"/>
              <a:t>Reflection</a:t>
            </a:r>
            <a:r>
              <a:rPr lang="en-US" b="0" dirty="0"/>
              <a:t> (approx. 10 minutes): After you have received your results, reflect on them using the questions in the reflection portfolio.</a:t>
            </a:r>
            <a:endParaRPr lang="de-DE" b="0" dirty="0"/>
          </a:p>
          <a:p>
            <a:endParaRPr lang="de-DE" sz="2800" b="0" dirty="0"/>
          </a:p>
          <a:p>
            <a:endParaRPr lang="de-DE" sz="2800" b="0" dirty="0"/>
          </a:p>
        </p:txBody>
      </p:sp>
      <p:sp>
        <p:nvSpPr>
          <p:cNvPr id="11" name="Textfeld 10">
            <a:extLst>
              <a:ext uri="{FF2B5EF4-FFF2-40B4-BE49-F238E27FC236}">
                <a16:creationId xmlns:a16="http://schemas.microsoft.com/office/drawing/2014/main" id="{7A9A1F6F-6277-4C91-9650-360CF1B8500E}"/>
              </a:ext>
            </a:extLst>
          </p:cNvPr>
          <p:cNvSpPr txBox="1"/>
          <p:nvPr/>
        </p:nvSpPr>
        <p:spPr>
          <a:xfrm>
            <a:off x="533936" y="6378130"/>
            <a:ext cx="9894586" cy="338554"/>
          </a:xfrm>
          <a:prstGeom prst="rect">
            <a:avLst/>
          </a:prstGeom>
          <a:noFill/>
        </p:spPr>
        <p:txBody>
          <a:bodyPr wrap="square">
            <a:spAutoFit/>
          </a:bodyPr>
          <a:lstStyle/>
          <a:p>
            <a:pPr marL="0" marR="0" indent="0">
              <a:buNone/>
            </a:pPr>
            <a:r>
              <a:rPr lang="en-US" sz="800" b="0" i="0" dirty="0">
                <a:effectLst/>
                <a:latin typeface="Segoe UI" panose="020B0502040204020203" pitchFamily="34" charset="0"/>
              </a:rPr>
              <a:t>This material was developed as part of the Happy Kit project.</a:t>
            </a:r>
            <a:br>
              <a:rPr lang="en-US" sz="800" b="0" i="0" dirty="0">
                <a:effectLst/>
                <a:latin typeface="Segoe UI" panose="020B0502040204020203" pitchFamily="34" charset="0"/>
              </a:rPr>
            </a:br>
            <a:r>
              <a:rPr lang="en-US" sz="800" b="0" i="0" dirty="0">
                <a:effectLst/>
                <a:latin typeface="Segoe UI" panose="020B0502040204020203" pitchFamily="34" charset="0"/>
              </a:rPr>
              <a:t>The project was funded from October 2024 to October 2026 through internal quality improvement funds for academic programs and teaching at Ruhr West University of Applied Sciences.</a:t>
            </a:r>
            <a:endParaRPr lang="de-DE" sz="800" b="0" i="0" dirty="0">
              <a:effectLst/>
              <a:latin typeface="Segoe UI" panose="020B0502040204020203" pitchFamily="34" charset="0"/>
            </a:endParaRPr>
          </a:p>
        </p:txBody>
      </p:sp>
    </p:spTree>
    <p:extLst>
      <p:ext uri="{BB962C8B-B14F-4D97-AF65-F5344CB8AC3E}">
        <p14:creationId xmlns:p14="http://schemas.microsoft.com/office/powerpoint/2010/main" val="4054567779"/>
      </p:ext>
    </p:extLst>
  </p:cSld>
  <p:clrMapOvr>
    <a:masterClrMapping/>
  </p:clrMapOvr>
</p:sld>
</file>

<file path=ppt/theme/theme1.xml><?xml version="1.0" encoding="utf-8"?>
<a:theme xmlns:a="http://schemas.openxmlformats.org/drawingml/2006/main" name="1_Office">
  <a:themeElements>
    <a:clrScheme name="Benutzerdefiniert 1">
      <a:dk1>
        <a:srgbClr val="000000"/>
      </a:dk1>
      <a:lt1>
        <a:srgbClr val="FFFFFF"/>
      </a:lt1>
      <a:dk2>
        <a:srgbClr val="00A2D9"/>
      </a:dk2>
      <a:lt2>
        <a:srgbClr val="EEECE1"/>
      </a:lt2>
      <a:accent1>
        <a:srgbClr val="00A3DA"/>
      </a:accent1>
      <a:accent2>
        <a:srgbClr val="006B8E"/>
      </a:accent2>
      <a:accent3>
        <a:srgbClr val="4C4D4C"/>
      </a:accent3>
      <a:accent4>
        <a:srgbClr val="767776"/>
      </a:accent4>
      <a:accent5>
        <a:srgbClr val="767776"/>
      </a:accent5>
      <a:accent6>
        <a:srgbClr val="00AFDD"/>
      </a:accent6>
      <a:hlink>
        <a:srgbClr val="006B8E"/>
      </a:hlink>
      <a:folHlink>
        <a:srgbClr val="00516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9-06-06_HRW Powerpoint Master" id="{04377A4D-9DE6-EE41-8781-0E189CB9E1B1}" vid="{5CFA870C-B1ED-834E-B24B-41185ED9A9A9}"/>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650</Words>
  <Application>Microsoft Office PowerPoint</Application>
  <PresentationFormat>Breitbild</PresentationFormat>
  <Paragraphs>29</Paragraphs>
  <Slides>3</Slides>
  <Notes>3</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3</vt:i4>
      </vt:variant>
    </vt:vector>
  </HeadingPairs>
  <TitlesOfParts>
    <vt:vector size="8" baseType="lpstr">
      <vt:lpstr>Arial</vt:lpstr>
      <vt:lpstr>Calibri</vt:lpstr>
      <vt:lpstr>Liberation Serif</vt:lpstr>
      <vt:lpstr>Segoe UI</vt:lpstr>
      <vt:lpstr>1_Office</vt:lpstr>
      <vt:lpstr>Character Strengths</vt:lpstr>
      <vt:lpstr>Character Strengths</vt:lpstr>
      <vt:lpstr>Character Strengths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Positive Takeaway</dc:title>
  <dc:creator>Graf, Maike</dc:creator>
  <cp:lastModifiedBy>Graf, Maike</cp:lastModifiedBy>
  <cp:revision>28</cp:revision>
  <dcterms:created xsi:type="dcterms:W3CDTF">2025-04-03T10:23:37Z</dcterms:created>
  <dcterms:modified xsi:type="dcterms:W3CDTF">2026-08-27T13:33:01Z</dcterms:modified>
</cp:coreProperties>
</file>