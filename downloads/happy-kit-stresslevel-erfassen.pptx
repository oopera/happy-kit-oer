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70" r:id="rId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0508" autoAdjust="0"/>
  </p:normalViewPr>
  <p:slideViewPr>
    <p:cSldViewPr snapToGrid="0">
      <p:cViewPr varScale="1">
        <p:scale>
          <a:sx n="46" d="100"/>
          <a:sy n="46" d="100"/>
        </p:scale>
        <p:origin x="14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E940A-1D68-4567-A74C-ADD8201E4EBC}" type="datetimeFigureOut">
              <a:rPr lang="de-DE" smtClean="0"/>
              <a:t>15.04.2025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8295EB-12EE-4609-AF0C-E8A1DD69DB98}" type="slidenum">
              <a:rPr lang="de-DE" smtClean="0"/>
              <a:t>‹Nr.›</a:t>
            </a:fld>
            <a:endParaRPr lang="de-DE"/>
          </a:p>
        </p:txBody>
      </p:sp>
    </p:spTree>
    <p:extLst>
      <p:ext uri="{BB962C8B-B14F-4D97-AF65-F5344CB8AC3E}">
        <p14:creationId xmlns:p14="http://schemas.microsoft.com/office/powerpoint/2010/main" val="846315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dirty="0">
                <a:solidFill>
                  <a:srgbClr val="212529"/>
                </a:solidFill>
                <a:effectLst/>
                <a:latin typeface="-apple-system"/>
              </a:rPr>
              <a:t>Diese Stresskurve (angelehnt an die Yerkes-</a:t>
            </a:r>
            <a:r>
              <a:rPr lang="de-DE" b="0" i="0" dirty="0" err="1">
                <a:solidFill>
                  <a:srgbClr val="212529"/>
                </a:solidFill>
                <a:effectLst/>
                <a:latin typeface="-apple-system"/>
              </a:rPr>
              <a:t>Dodson</a:t>
            </a:r>
            <a:r>
              <a:rPr lang="de-DE" b="0" i="0" dirty="0">
                <a:solidFill>
                  <a:srgbClr val="212529"/>
                </a:solidFill>
                <a:effectLst/>
                <a:latin typeface="-apple-system"/>
              </a:rPr>
              <a:t>-Kurve) unterscheidet 6 verschiedene Zustände. Sie zeigt den Zusammenhang auf zwischen erlebtem Druck oder Stress und der eigenen Leistungsfähigkeit, der einem umgekehrten U gleicht: Ein gewisses Maß an Stress ist notwendig, um uns in einen Idealzustand zu bringen (auch Eustress genannt), in dem wir unsere optimale Leistung zeigen können. Wird der Stress aber zu hoch, so verringert sich unsere Performanz, wir erleben Disstress, der zu Burnout führen kann, wenn </a:t>
            </a:r>
            <a:endParaRPr lang="de-DE" dirty="0"/>
          </a:p>
        </p:txBody>
      </p:sp>
      <p:sp>
        <p:nvSpPr>
          <p:cNvPr id="4" name="Foliennummernplatzhalt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D67AAC5-E19D-4C4F-A62D-4E8DD51B8C68}" type="slidenum">
              <a:rPr kumimoji="0" lang="de-DE" sz="1000" b="0" i="0" u="none" strike="noStrike" kern="1200" cap="none" spc="0" normalizeH="0" baseline="0" noProof="0" smtClean="0">
                <a:ln>
                  <a:noFill/>
                </a:ln>
                <a:solidFill>
                  <a:prstClr val="black"/>
                </a:solidFill>
                <a:effectLst/>
                <a:uLnTx/>
                <a:uFillTx/>
                <a:latin typeface="Liberation Serif" panose="02020603050405020304" pitchFamily="18"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de-DE" sz="1000" b="0" i="0" u="none" strike="noStrike" kern="1200" cap="none" spc="0" normalizeH="0" baseline="0" noProof="0">
              <a:ln>
                <a:noFill/>
              </a:ln>
              <a:solidFill>
                <a:prstClr val="black"/>
              </a:solidFill>
              <a:effectLst/>
              <a:uLnTx/>
              <a:uFillTx/>
              <a:latin typeface="Liberation Serif" panose="02020603050405020304" pitchFamily="18" charset="0"/>
              <a:ea typeface="+mn-ea"/>
              <a:cs typeface="+mn-cs"/>
            </a:endParaRPr>
          </a:p>
        </p:txBody>
      </p:sp>
    </p:spTree>
    <p:extLst>
      <p:ext uri="{BB962C8B-B14F-4D97-AF65-F5344CB8AC3E}">
        <p14:creationId xmlns:p14="http://schemas.microsoft.com/office/powerpoint/2010/main" val="33743393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2F209691-7882-4238-801F-B63FAA938076}"/>
              </a:ext>
            </a:extLst>
          </p:cNvPr>
          <p:cNvSpPr/>
          <p:nvPr userDrawn="1"/>
        </p:nvSpPr>
        <p:spPr>
          <a:xfrm>
            <a:off x="0" y="1172225"/>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pic>
        <p:nvPicPr>
          <p:cNvPr id="16" name="HRW_Logo_transparent.png">
            <a:extLst>
              <a:ext uri="{FF2B5EF4-FFF2-40B4-BE49-F238E27FC236}">
                <a16:creationId xmlns:a16="http://schemas.microsoft.com/office/drawing/2014/main" id="{251BAA7E-DF9D-401E-A509-46C3FA0949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7504" y="-5965"/>
            <a:ext cx="2592288" cy="1150806"/>
          </a:xfrm>
          <a:prstGeom prst="rect">
            <a:avLst/>
          </a:prstGeom>
        </p:spPr>
      </p:pic>
      <p:pic>
        <p:nvPicPr>
          <p:cNvPr id="17" name="Bild 2">
            <a:extLst>
              <a:ext uri="{FF2B5EF4-FFF2-40B4-BE49-F238E27FC236}">
                <a16:creationId xmlns:a16="http://schemas.microsoft.com/office/drawing/2014/main" id="{F6FF9EDF-5F71-4DEB-974B-C8BF78CAB9FA}"/>
              </a:ext>
            </a:extLst>
          </p:cNvPr>
          <p:cNvPicPr>
            <a:picLocks noChangeAspect="1"/>
          </p:cNvPicPr>
          <p:nvPr userDrawn="1"/>
        </p:nvPicPr>
        <p:blipFill>
          <a:blip r:embed="rId3"/>
          <a:stretch>
            <a:fillRect/>
          </a:stretch>
        </p:blipFill>
        <p:spPr>
          <a:xfrm>
            <a:off x="9552384" y="-27384"/>
            <a:ext cx="2015208" cy="318982"/>
          </a:xfrm>
          <a:prstGeom prst="rect">
            <a:avLst/>
          </a:prstGeom>
        </p:spPr>
      </p:pic>
      <p:sp>
        <p:nvSpPr>
          <p:cNvPr id="18" name="Titel 1">
            <a:extLst>
              <a:ext uri="{FF2B5EF4-FFF2-40B4-BE49-F238E27FC236}">
                <a16:creationId xmlns:a16="http://schemas.microsoft.com/office/drawing/2014/main" id="{4D750284-B646-407C-B6B0-35BD96F7D486}"/>
              </a:ext>
            </a:extLst>
          </p:cNvPr>
          <p:cNvSpPr>
            <a:spLocks noGrp="1"/>
          </p:cNvSpPr>
          <p:nvPr>
            <p:ph type="ctrTitle" hasCustomPrompt="1"/>
          </p:nvPr>
        </p:nvSpPr>
        <p:spPr>
          <a:xfrm>
            <a:off x="623392" y="1412777"/>
            <a:ext cx="10944721" cy="612692"/>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Titelmasterformat durch Klicken bearbeiten</a:t>
            </a:r>
          </a:p>
        </p:txBody>
      </p:sp>
      <p:sp>
        <p:nvSpPr>
          <p:cNvPr id="20" name="Untertitel 2">
            <a:extLst>
              <a:ext uri="{FF2B5EF4-FFF2-40B4-BE49-F238E27FC236}">
                <a16:creationId xmlns:a16="http://schemas.microsoft.com/office/drawing/2014/main" id="{643E9BF6-7747-4652-AD2E-2DECF8D0135C}"/>
              </a:ext>
            </a:extLst>
          </p:cNvPr>
          <p:cNvSpPr>
            <a:spLocks noGrp="1"/>
          </p:cNvSpPr>
          <p:nvPr>
            <p:ph type="subTitle" idx="1" hasCustomPrompt="1"/>
          </p:nvPr>
        </p:nvSpPr>
        <p:spPr>
          <a:xfrm>
            <a:off x="623393" y="2099447"/>
            <a:ext cx="10944200" cy="538498"/>
          </a:xfrm>
          <a:prstGeom prst="rect">
            <a:avLst/>
          </a:prstGeom>
        </p:spPr>
        <p:txBody>
          <a:bodyPr>
            <a:noAutofit/>
          </a:bodyPr>
          <a:lstStyle>
            <a:lvl1pPr marL="0" indent="0" algn="l">
              <a:buNone/>
              <a:defRPr sz="2800">
                <a:solidFill>
                  <a:schemeClr val="bg1"/>
                </a:solidFill>
                <a:latin typeface="Liberation Serif" pitchFamily="18"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de-DE" dirty="0"/>
              <a:t>Formatvorlage des Untertitelmasters durch Klicken bearbeiten</a:t>
            </a:r>
          </a:p>
        </p:txBody>
      </p:sp>
      <p:sp>
        <p:nvSpPr>
          <p:cNvPr id="21" name="Inhaltsplatzhalter 18">
            <a:extLst>
              <a:ext uri="{FF2B5EF4-FFF2-40B4-BE49-F238E27FC236}">
                <a16:creationId xmlns:a16="http://schemas.microsoft.com/office/drawing/2014/main" id="{0AFA74AB-D6FF-41EA-A6B1-3CA8CABE7881}"/>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pic>
        <p:nvPicPr>
          <p:cNvPr id="22" name="Grafik 21">
            <a:extLst>
              <a:ext uri="{FF2B5EF4-FFF2-40B4-BE49-F238E27FC236}">
                <a16:creationId xmlns:a16="http://schemas.microsoft.com/office/drawing/2014/main" id="{A1FD8DD9-AF25-4C65-ADCD-63CDAF5EF26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Tree>
    <p:extLst>
      <p:ext uri="{BB962C8B-B14F-4D97-AF65-F5344CB8AC3E}">
        <p14:creationId xmlns:p14="http://schemas.microsoft.com/office/powerpoint/2010/main" val="149063941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feld 5">
            <a:extLst>
              <a:ext uri="{FF2B5EF4-FFF2-40B4-BE49-F238E27FC236}">
                <a16:creationId xmlns:a16="http://schemas.microsoft.com/office/drawing/2014/main" id="{F321E5D4-90C5-490B-B502-E568CC1AA46E}"/>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7" name="Textplatzhalter 2">
            <a:extLst>
              <a:ext uri="{FF2B5EF4-FFF2-40B4-BE49-F238E27FC236}">
                <a16:creationId xmlns:a16="http://schemas.microsoft.com/office/drawing/2014/main" id="{506B2031-0944-472D-9758-0DCDA86D1772}"/>
              </a:ext>
            </a:extLst>
          </p:cNvPr>
          <p:cNvSpPr>
            <a:spLocks noGrp="1"/>
          </p:cNvSpPr>
          <p:nvPr>
            <p:ph idx="1" hasCustomPrompt="1"/>
          </p:nvPr>
        </p:nvSpPr>
        <p:spPr bwMode="auto">
          <a:xfrm>
            <a:off x="623886" y="1685924"/>
            <a:ext cx="10943704" cy="4181553"/>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2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itelplatzhalter 1">
            <a:extLst>
              <a:ext uri="{FF2B5EF4-FFF2-40B4-BE49-F238E27FC236}">
                <a16:creationId xmlns:a16="http://schemas.microsoft.com/office/drawing/2014/main" id="{38CB67B9-68E6-4B38-8C0A-390C5C83192D}"/>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3600" b="1">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421705374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4C57E92-D1F3-45D1-9948-450440153DE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1140116" y="6009914"/>
            <a:ext cx="517652" cy="517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feld 4">
            <a:extLst>
              <a:ext uri="{FF2B5EF4-FFF2-40B4-BE49-F238E27FC236}">
                <a16:creationId xmlns:a16="http://schemas.microsoft.com/office/drawing/2014/main" id="{487D9650-9A7A-4B37-8FFC-2B4B6FD27DC6}"/>
              </a:ext>
            </a:extLst>
          </p:cNvPr>
          <p:cNvSpPr txBox="1"/>
          <p:nvPr userDrawn="1"/>
        </p:nvSpPr>
        <p:spPr>
          <a:xfrm>
            <a:off x="10494069" y="6140394"/>
            <a:ext cx="646047" cy="307777"/>
          </a:xfrm>
          <a:prstGeom prst="rect">
            <a:avLst/>
          </a:prstGeom>
          <a:noFill/>
        </p:spPr>
        <p:txBody>
          <a:bodyPr wrap="square" rtlCol="0">
            <a:spAutoFit/>
          </a:bodyPr>
          <a:lstStyle/>
          <a:p>
            <a:pPr algn="r"/>
            <a:fld id="{3679B97E-2F6E-4600-A1D4-CAD9FE23913C}" type="slidenum">
              <a:rPr lang="de-DE" sz="1400" smtClean="0">
                <a:latin typeface="Liberation Serif" panose="02020603050405020304" pitchFamily="18" charset="0"/>
              </a:rPr>
              <a:pPr algn="r"/>
              <a:t>‹Nr.›</a:t>
            </a:fld>
            <a:endParaRPr lang="de-DE" sz="1400" dirty="0">
              <a:latin typeface="Liberation Serif" panose="02020603050405020304" pitchFamily="18" charset="0"/>
            </a:endParaRPr>
          </a:p>
        </p:txBody>
      </p:sp>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2387800364"/>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1D2B3BB5-5D99-4B39-B9A1-92A21DA09056}"/>
              </a:ext>
            </a:extLst>
          </p:cNvPr>
          <p:cNvSpPr>
            <a:spLocks noGrp="1"/>
          </p:cNvSpPr>
          <p:nvPr>
            <p:ph idx="1" hasCustomPrompt="1"/>
          </p:nvPr>
        </p:nvSpPr>
        <p:spPr bwMode="auto">
          <a:xfrm>
            <a:off x="623886" y="1268760"/>
            <a:ext cx="10943704" cy="4598718"/>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a:buNone/>
              <a:tabLst>
                <a:tab pos="322498" algn="l"/>
                <a:tab pos="657954" algn="l"/>
                <a:tab pos="977572" algn="l"/>
                <a:tab pos="1301509" algn="l"/>
                <a:tab pos="1621128" algn="l"/>
                <a:tab pos="1959463" algn="l"/>
                <a:tab pos="2601579" algn="l"/>
                <a:tab pos="3259532" algn="l"/>
                <a:tab pos="3903088" algn="l"/>
                <a:tab pos="4561041" algn="l"/>
              </a:tabLst>
              <a:defRPr sz="1400" b="1">
                <a:solidFill>
                  <a:schemeClr val="tx1"/>
                </a:solidFill>
                <a:latin typeface="Liberation Serif" panose="02020603050405020304" pitchFamily="18" charset="0"/>
                <a:cs typeface="Liberation Serif" panose="02020603050405020304" pitchFamily="18" charset="0"/>
              </a:defRPr>
            </a:lvl1pPr>
            <a:lvl2pPr marL="0" indent="0" algn="l">
              <a:buNone/>
              <a:tabLst>
                <a:tab pos="322498" algn="l"/>
                <a:tab pos="646436"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2pPr>
            <a:lvl3pPr marL="0" indent="0" algn="l" defTabSz="407442">
              <a:buNone/>
              <a:tabLst>
                <a:tab pos="322498" algn="l"/>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3pPr>
            <a:lvl4pPr marL="322498" indent="-322498" algn="l">
              <a:buFont typeface="+mj-lt"/>
              <a:buNone/>
              <a:tabLst>
                <a:tab pos="646436" algn="l"/>
                <a:tab pos="977572" algn="l"/>
                <a:tab pos="1304389" algn="l"/>
                <a:tab pos="1621128" algn="l"/>
                <a:tab pos="1950825"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4pPr>
            <a:lvl5pPr marL="322498" indent="-322498" algn="l">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1400">
                <a:solidFill>
                  <a:schemeClr val="tx1"/>
                </a:solidFill>
                <a:latin typeface="Liberation Serif" panose="02020603050405020304" pitchFamily="18" charset="0"/>
                <a:cs typeface="Liberation Serif" panose="02020603050405020304" pitchFamily="18" charset="0"/>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itelplatzhalter 1">
            <a:extLst>
              <a:ext uri="{FF2B5EF4-FFF2-40B4-BE49-F238E27FC236}">
                <a16:creationId xmlns:a16="http://schemas.microsoft.com/office/drawing/2014/main" id="{E2AD25A9-78B7-4D5C-B726-25F0ADE2C06B}"/>
              </a:ext>
            </a:extLst>
          </p:cNvPr>
          <p:cNvSpPr>
            <a:spLocks noGrp="1"/>
          </p:cNvSpPr>
          <p:nvPr>
            <p:ph type="title"/>
          </p:nvPr>
        </p:nvSpPr>
        <p:spPr bwMode="auto">
          <a:xfrm>
            <a:off x="623888" y="489404"/>
            <a:ext cx="10943704" cy="776810"/>
          </a:xfrm>
          <a:prstGeom prst="rect">
            <a:avLst/>
          </a:prstGeom>
          <a:noFill/>
          <a:ln w="9525">
            <a:noFill/>
            <a:miter lim="800000"/>
            <a:headEnd/>
            <a:tailEnd/>
          </a:ln>
        </p:spPr>
        <p:txBody>
          <a:bodyPr vert="horz" wrap="square" lIns="0" tIns="45711" rIns="91420" bIns="45711" numCol="1" anchor="ctr" anchorCtr="0" compatLnSpc="1">
            <a:prstTxWarp prst="textNoShape">
              <a:avLst/>
            </a:prstTxWarp>
            <a:noAutofit/>
          </a:bodyPr>
          <a:lstStyle>
            <a:lvl1pPr marL="657954" indent="-657954" algn="l">
              <a:defRPr sz="2800">
                <a:solidFill>
                  <a:srgbClr val="00B0F0"/>
                </a:solidFill>
                <a:latin typeface="Liberation Serif" panose="02020603050405020304" pitchFamily="18" charset="0"/>
                <a:cs typeface="Liberation Serif" panose="02020603050405020304" pitchFamily="18" charset="0"/>
              </a:defRPr>
            </a:lvl1pPr>
          </a:lstStyle>
          <a:p>
            <a:pPr lvl="0"/>
            <a:endParaRPr lang="de-DE" dirty="0"/>
          </a:p>
        </p:txBody>
      </p:sp>
    </p:spTree>
    <p:extLst>
      <p:ext uri="{BB962C8B-B14F-4D97-AF65-F5344CB8AC3E}">
        <p14:creationId xmlns:p14="http://schemas.microsoft.com/office/powerpoint/2010/main" val="2153760255"/>
      </p:ext>
    </p:extLst>
  </p:cSld>
  <p:clrMapOvr>
    <a:masterClrMapping/>
  </p:clrMapOvr>
  <p:extLst>
    <p:ext uri="{DCECCB84-F9BA-43D5-87BE-67443E8EF086}">
      <p15:sldGuideLst xmlns:p15="http://schemas.microsoft.com/office/powerpoint/2012/main">
        <p15:guide id="1" pos="393">
          <p15:clr>
            <a:srgbClr val="FBAE40"/>
          </p15:clr>
        </p15:guide>
        <p15:guide id="2" orient="horz" pos="300">
          <p15:clr>
            <a:srgbClr val="FBAE40"/>
          </p15:clr>
        </p15:guide>
        <p15:guide id="3" orient="horz" pos="70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schluss">
    <p:bg>
      <p:bgPr>
        <a:solidFill>
          <a:schemeClr val="bg1"/>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911F3F6-CFAF-4712-99FF-0821A3CDF40F}"/>
              </a:ext>
            </a:extLst>
          </p:cNvPr>
          <p:cNvSpPr/>
          <p:nvPr userDrawn="1"/>
        </p:nvSpPr>
        <p:spPr>
          <a:xfrm>
            <a:off x="0" y="1150806"/>
            <a:ext cx="12192000" cy="46894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dirty="0"/>
          </a:p>
        </p:txBody>
      </p:sp>
      <p:sp>
        <p:nvSpPr>
          <p:cNvPr id="14" name="Titel 1">
            <a:extLst>
              <a:ext uri="{FF2B5EF4-FFF2-40B4-BE49-F238E27FC236}">
                <a16:creationId xmlns:a16="http://schemas.microsoft.com/office/drawing/2014/main" id="{F3AA6966-2C26-4F5B-A6D5-F8776664F8E6}"/>
              </a:ext>
            </a:extLst>
          </p:cNvPr>
          <p:cNvSpPr>
            <a:spLocks noGrp="1"/>
          </p:cNvSpPr>
          <p:nvPr>
            <p:ph type="ctrTitle" hasCustomPrompt="1"/>
          </p:nvPr>
        </p:nvSpPr>
        <p:spPr>
          <a:xfrm>
            <a:off x="622296" y="1412776"/>
            <a:ext cx="10945817" cy="1102519"/>
          </a:xfrm>
          <a:prstGeom prst="rect">
            <a:avLst/>
          </a:prstGeom>
        </p:spPr>
        <p:txBody>
          <a:bodyPr vert="horz" lIns="0" tIns="0" rIns="0" bIns="0" anchor="t" anchorCtr="0">
            <a:noAutofit/>
          </a:bodyPr>
          <a:lstStyle>
            <a:lvl1pPr>
              <a:defRPr sz="4000">
                <a:solidFill>
                  <a:schemeClr val="bg1"/>
                </a:solidFill>
                <a:latin typeface="Liberation Serif" pitchFamily="18" charset="0"/>
              </a:defRPr>
            </a:lvl1pPr>
          </a:lstStyle>
          <a:p>
            <a:r>
              <a:rPr lang="de-DE" dirty="0"/>
              <a:t>Abschlussmaster durch Klicken bearbeiten</a:t>
            </a:r>
          </a:p>
        </p:txBody>
      </p:sp>
      <p:pic>
        <p:nvPicPr>
          <p:cNvPr id="16" name="Bild 2">
            <a:extLst>
              <a:ext uri="{FF2B5EF4-FFF2-40B4-BE49-F238E27FC236}">
                <a16:creationId xmlns:a16="http://schemas.microsoft.com/office/drawing/2014/main" id="{F440AE9D-24A0-4E14-BEAA-A817DEA58C9B}"/>
              </a:ext>
            </a:extLst>
          </p:cNvPr>
          <p:cNvPicPr>
            <a:picLocks noChangeAspect="1"/>
          </p:cNvPicPr>
          <p:nvPr userDrawn="1"/>
        </p:nvPicPr>
        <p:blipFill>
          <a:blip r:embed="rId2"/>
          <a:stretch>
            <a:fillRect/>
          </a:stretch>
        </p:blipFill>
        <p:spPr>
          <a:xfrm>
            <a:off x="9552384" y="-27384"/>
            <a:ext cx="2015208" cy="318982"/>
          </a:xfrm>
          <a:prstGeom prst="rect">
            <a:avLst/>
          </a:prstGeom>
        </p:spPr>
      </p:pic>
      <p:pic>
        <p:nvPicPr>
          <p:cNvPr id="17" name="HRW_Logo_transparent.png">
            <a:extLst>
              <a:ext uri="{FF2B5EF4-FFF2-40B4-BE49-F238E27FC236}">
                <a16:creationId xmlns:a16="http://schemas.microsoft.com/office/drawing/2014/main" id="{977B5304-7624-44FB-8AE5-9CBDC59AB8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504" y="-27384"/>
            <a:ext cx="2592288" cy="1150806"/>
          </a:xfrm>
          <a:prstGeom prst="rect">
            <a:avLst/>
          </a:prstGeom>
        </p:spPr>
      </p:pic>
      <p:pic>
        <p:nvPicPr>
          <p:cNvPr id="18" name="Grafik 17">
            <a:extLst>
              <a:ext uri="{FF2B5EF4-FFF2-40B4-BE49-F238E27FC236}">
                <a16:creationId xmlns:a16="http://schemas.microsoft.com/office/drawing/2014/main" id="{C25C95A8-926B-4BB4-83F9-CBBFE9E376C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345" y="5949280"/>
            <a:ext cx="2378295" cy="783106"/>
          </a:xfrm>
          <a:prstGeom prst="rect">
            <a:avLst/>
          </a:prstGeom>
        </p:spPr>
      </p:pic>
      <p:sp>
        <p:nvSpPr>
          <p:cNvPr id="8" name="Inhaltsplatzhalter 18">
            <a:extLst>
              <a:ext uri="{FF2B5EF4-FFF2-40B4-BE49-F238E27FC236}">
                <a16:creationId xmlns:a16="http://schemas.microsoft.com/office/drawing/2014/main" id="{CE84D051-E07F-4D08-A817-41C9C28BFBB7}"/>
              </a:ext>
            </a:extLst>
          </p:cNvPr>
          <p:cNvSpPr>
            <a:spLocks noGrp="1"/>
          </p:cNvSpPr>
          <p:nvPr>
            <p:ph sz="quarter" idx="11" hasCustomPrompt="1"/>
          </p:nvPr>
        </p:nvSpPr>
        <p:spPr>
          <a:xfrm>
            <a:off x="6737702" y="6102708"/>
            <a:ext cx="4838179" cy="476250"/>
          </a:xfrm>
          <a:prstGeom prst="rect">
            <a:avLst/>
          </a:prstGeom>
        </p:spPr>
        <p:txBody>
          <a:bodyPr lIns="0" rIns="0"/>
          <a:lstStyle>
            <a:lvl1pPr algn="r">
              <a:defRPr sz="2800">
                <a:solidFill>
                  <a:schemeClr val="tx2"/>
                </a:solidFill>
              </a:defRPr>
            </a:lvl1pPr>
          </a:lstStyle>
          <a:p>
            <a:pPr lvl="0"/>
            <a:r>
              <a:rPr lang="de-DE" dirty="0"/>
              <a:t>Fachbereich, Institut o.ä.</a:t>
            </a:r>
          </a:p>
        </p:txBody>
      </p:sp>
    </p:spTree>
    <p:extLst>
      <p:ext uri="{BB962C8B-B14F-4D97-AF65-F5344CB8AC3E}">
        <p14:creationId xmlns:p14="http://schemas.microsoft.com/office/powerpoint/2010/main" val="67880469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837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lgn="l" defTabSz="914354" rtl="0" eaLnBrk="1" latinLnBrk="0" hangingPunct="1">
        <a:lnSpc>
          <a:spcPct val="90000"/>
        </a:lnSpc>
        <a:spcBef>
          <a:spcPct val="0"/>
        </a:spcBef>
        <a:buNone/>
        <a:defRPr sz="4400" kern="1200">
          <a:solidFill>
            <a:schemeClr val="tx1"/>
          </a:solidFill>
          <a:latin typeface="Liberation Serif" panose="02020603050405020304" pitchFamily="18" charset="0"/>
          <a:ea typeface="+mj-ea"/>
          <a:cs typeface="+mj-cs"/>
        </a:defRPr>
      </a:lvl1pPr>
    </p:titleStyle>
    <p:bodyStyle>
      <a:lvl1pPr marL="0" indent="0" algn="l" defTabSz="914354" rtl="0" eaLnBrk="1" latinLnBrk="0" hangingPunct="1">
        <a:lnSpc>
          <a:spcPct val="90000"/>
        </a:lnSpc>
        <a:spcBef>
          <a:spcPts val="1001"/>
        </a:spcBef>
        <a:buFont typeface="Arial" panose="020B0604020202020204" pitchFamily="34" charset="0"/>
        <a:buNone/>
        <a:defRPr sz="2800" kern="1200">
          <a:solidFill>
            <a:schemeClr val="tx1"/>
          </a:solidFill>
          <a:latin typeface="Liberation Serif" panose="02020603050405020304" pitchFamily="18" charset="0"/>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Liberation Serif" panose="02020603050405020304" pitchFamily="18" charset="0"/>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Liberation Serif" panose="02020603050405020304" pitchFamily="18" charset="0"/>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Liberation Serif" panose="02020603050405020304" pitchFamily="18" charset="0"/>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de-DE"/>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7">
          <p15:clr>
            <a:srgbClr val="F26B43"/>
          </p15:clr>
        </p15:guide>
        <p15:guide id="5" orient="horz" pos="822">
          <p15:clr>
            <a:srgbClr val="F26B43"/>
          </p15:clr>
        </p15:guide>
        <p15:guide id="7" pos="393">
          <p15:clr>
            <a:srgbClr val="F26B43"/>
          </p15:clr>
        </p15:guide>
        <p15:guide id="8" orient="horz" pos="6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EE9A19D7-2499-4E64-B22C-E92EFB5BD7B1}"/>
              </a:ext>
            </a:extLst>
          </p:cNvPr>
          <p:cNvSpPr>
            <a:spLocks noGrp="1"/>
          </p:cNvSpPr>
          <p:nvPr>
            <p:ph idx="1"/>
          </p:nvPr>
        </p:nvSpPr>
        <p:spPr/>
        <p:txBody>
          <a:bodyPr/>
          <a:lstStyle/>
          <a:p>
            <a:r>
              <a:rPr lang="de-DE" sz="3000" dirty="0"/>
              <a:t>Wo befindest du dich heute auf der Stresskurve?</a:t>
            </a:r>
          </a:p>
          <a:p>
            <a:endParaRPr lang="de-DE" sz="3200" dirty="0"/>
          </a:p>
          <a:p>
            <a:endParaRPr lang="de-DE" sz="3200" dirty="0"/>
          </a:p>
          <a:p>
            <a:r>
              <a:rPr lang="de-DE" b="0" dirty="0"/>
              <a:t>							    </a:t>
            </a:r>
            <a:br>
              <a:rPr lang="de-DE" b="0" dirty="0"/>
            </a:br>
            <a:endParaRPr lang="de-DE" b="0" dirty="0"/>
          </a:p>
          <a:p>
            <a:r>
              <a:rPr lang="de-DE" b="0" dirty="0"/>
              <a:t>					</a:t>
            </a:r>
          </a:p>
        </p:txBody>
      </p:sp>
      <p:sp>
        <p:nvSpPr>
          <p:cNvPr id="11" name="Titel 2">
            <a:extLst>
              <a:ext uri="{FF2B5EF4-FFF2-40B4-BE49-F238E27FC236}">
                <a16:creationId xmlns:a16="http://schemas.microsoft.com/office/drawing/2014/main" id="{11800AC2-C161-4A2F-8D5C-8EA4CBD23F57}"/>
              </a:ext>
            </a:extLst>
          </p:cNvPr>
          <p:cNvSpPr>
            <a:spLocks noGrp="1"/>
          </p:cNvSpPr>
          <p:nvPr>
            <p:ph type="title"/>
          </p:nvPr>
        </p:nvSpPr>
        <p:spPr>
          <a:xfrm>
            <a:off x="623888" y="489404"/>
            <a:ext cx="10943704" cy="776810"/>
          </a:xfrm>
        </p:spPr>
        <p:txBody>
          <a:bodyPr/>
          <a:lstStyle/>
          <a:p>
            <a:r>
              <a:rPr lang="de-DE" b="1" dirty="0">
                <a:solidFill>
                  <a:srgbClr val="009FE3"/>
                </a:solidFill>
              </a:rPr>
              <a:t>Ein kurzer Check-in: </a:t>
            </a:r>
            <a:r>
              <a:rPr lang="de-DE" b="1">
                <a:solidFill>
                  <a:srgbClr val="009FE3"/>
                </a:solidFill>
              </a:rPr>
              <a:t>Stresslevel erfassen</a:t>
            </a:r>
            <a:endParaRPr lang="de-DE" b="1" dirty="0">
              <a:solidFill>
                <a:srgbClr val="009FE3"/>
              </a:solidFill>
            </a:endParaRPr>
          </a:p>
        </p:txBody>
      </p:sp>
      <p:pic>
        <p:nvPicPr>
          <p:cNvPr id="6" name="Grafik 5">
            <a:extLst>
              <a:ext uri="{FF2B5EF4-FFF2-40B4-BE49-F238E27FC236}">
                <a16:creationId xmlns:a16="http://schemas.microsoft.com/office/drawing/2014/main" id="{F054B9CB-2C06-477A-AEED-3BD158C3669E}"/>
              </a:ext>
            </a:extLst>
          </p:cNvPr>
          <p:cNvPicPr>
            <a:picLocks noChangeAspect="1"/>
          </p:cNvPicPr>
          <p:nvPr/>
        </p:nvPicPr>
        <p:blipFill>
          <a:blip r:embed="rId3"/>
          <a:stretch>
            <a:fillRect/>
          </a:stretch>
        </p:blipFill>
        <p:spPr>
          <a:xfrm>
            <a:off x="623888" y="2064195"/>
            <a:ext cx="5538751" cy="4304401"/>
          </a:xfrm>
          <a:prstGeom prst="rect">
            <a:avLst/>
          </a:prstGeom>
        </p:spPr>
      </p:pic>
      <p:pic>
        <p:nvPicPr>
          <p:cNvPr id="5" name="Grafik 4">
            <a:extLst>
              <a:ext uri="{FF2B5EF4-FFF2-40B4-BE49-F238E27FC236}">
                <a16:creationId xmlns:a16="http://schemas.microsoft.com/office/drawing/2014/main" id="{D8F7ED12-701E-4489-9AF2-E6142070FBEF}"/>
              </a:ext>
            </a:extLst>
          </p:cNvPr>
          <p:cNvPicPr>
            <a:picLocks noChangeAspect="1"/>
          </p:cNvPicPr>
          <p:nvPr/>
        </p:nvPicPr>
        <p:blipFill>
          <a:blip r:embed="rId4"/>
          <a:stretch>
            <a:fillRect/>
          </a:stretch>
        </p:blipFill>
        <p:spPr>
          <a:xfrm>
            <a:off x="10486419" y="58366"/>
            <a:ext cx="1491574" cy="1530372"/>
          </a:xfrm>
          <a:prstGeom prst="rect">
            <a:avLst/>
          </a:prstGeom>
        </p:spPr>
      </p:pic>
      <p:sp>
        <p:nvSpPr>
          <p:cNvPr id="7" name="Inhaltsplatzhalter 1">
            <a:extLst>
              <a:ext uri="{FF2B5EF4-FFF2-40B4-BE49-F238E27FC236}">
                <a16:creationId xmlns:a16="http://schemas.microsoft.com/office/drawing/2014/main" id="{F74A877D-253F-4DB1-A479-F29E8EC4EF4D}"/>
              </a:ext>
            </a:extLst>
          </p:cNvPr>
          <p:cNvSpPr txBox="1">
            <a:spLocks/>
          </p:cNvSpPr>
          <p:nvPr/>
        </p:nvSpPr>
        <p:spPr bwMode="auto">
          <a:xfrm>
            <a:off x="7231370" y="4407023"/>
            <a:ext cx="4746624" cy="1252755"/>
          </a:xfrm>
          <a:prstGeom prst="rect">
            <a:avLst/>
          </a:prstGeom>
          <a:noFill/>
          <a:ln w="9525">
            <a:noFill/>
            <a:miter lim="800000"/>
            <a:headEnd/>
            <a:tailEnd/>
          </a:ln>
        </p:spPr>
        <p:txBody>
          <a:bodyPr vert="horz" wrap="square" lIns="0" tIns="45711" rIns="91420" bIns="45711" numCol="1" anchor="t" anchorCtr="0" compatLnSpc="1">
            <a:prstTxWarp prst="textNoShape">
              <a:avLst/>
            </a:prstTxWarp>
            <a:noAutofit/>
          </a:bodyPr>
          <a:lstStyle>
            <a:lvl1pPr marL="0" indent="0" algn="l" defTabSz="914354" rtl="0" eaLnBrk="1" latinLnBrk="0" hangingPunct="1">
              <a:lnSpc>
                <a:spcPct val="90000"/>
              </a:lnSpc>
              <a:spcBef>
                <a:spcPts val="1001"/>
              </a:spcBef>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sz="2400" b="1" kern="1200">
                <a:solidFill>
                  <a:schemeClr val="tx1"/>
                </a:solidFill>
                <a:latin typeface="Liberation Serif" panose="02020603050405020304" pitchFamily="18" charset="0"/>
                <a:ea typeface="+mn-ea"/>
                <a:cs typeface="Liberation Serif" panose="02020603050405020304" pitchFamily="18" charset="0"/>
              </a:defRPr>
            </a:lvl1pPr>
            <a:lvl2pPr marL="0" indent="0" algn="l" defTabSz="914354"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2pPr>
            <a:lvl3pPr marL="0" indent="0" algn="l" defTabSz="407442" rtl="0" eaLnBrk="1" latinLnBrk="0" hangingPunct="1">
              <a:lnSpc>
                <a:spcPct val="90000"/>
              </a:lnSpc>
              <a:spcBef>
                <a:spcPts val="500"/>
              </a:spcBef>
              <a:buFont typeface="Arial" panose="020B0604020202020204" pitchFamily="34" charset="0"/>
              <a:buNone/>
              <a:tabLst>
                <a:tab pos="322498" algn="l"/>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3pPr>
            <a:lvl4pPr marL="322498" indent="-322498" algn="l" defTabSz="914354" rtl="0" eaLnBrk="1" latinLnBrk="0" hangingPunct="1">
              <a:lnSpc>
                <a:spcPct val="90000"/>
              </a:lnSpc>
              <a:spcBef>
                <a:spcPts val="500"/>
              </a:spcBef>
              <a:buFont typeface="+mj-lt"/>
              <a:buNone/>
              <a:tabLst>
                <a:tab pos="646436" algn="l"/>
                <a:tab pos="977572" algn="l"/>
                <a:tab pos="1304389" algn="l"/>
                <a:tab pos="1621128" algn="l"/>
                <a:tab pos="1950825"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4pPr>
            <a:lvl5pPr marL="322498" indent="-322498" algn="l" defTabSz="914354" rtl="0" eaLnBrk="1" latinLnBrk="0" hangingPunct="1">
              <a:lnSpc>
                <a:spcPct val="90000"/>
              </a:lnSpc>
              <a:spcBef>
                <a:spcPts val="500"/>
              </a:spcBef>
              <a:buFont typeface="Arial" pitchFamily="34" charset="0"/>
              <a:buChar char="•"/>
              <a:tabLst>
                <a:tab pos="656514" algn="l"/>
                <a:tab pos="977572" algn="l"/>
                <a:tab pos="1304389" algn="l"/>
                <a:tab pos="1621128" algn="l"/>
                <a:tab pos="1955144" algn="l"/>
                <a:tab pos="2601579" algn="l"/>
                <a:tab pos="3259532" algn="l"/>
                <a:tab pos="3903088" algn="l"/>
                <a:tab pos="4561041" algn="l"/>
              </a:tabLst>
              <a:defRPr sz="2400" kern="1200">
                <a:solidFill>
                  <a:schemeClr val="tx1"/>
                </a:solidFill>
                <a:latin typeface="Liberation Serif" panose="02020603050405020304" pitchFamily="18" charset="0"/>
                <a:ea typeface="+mn-ea"/>
                <a:cs typeface="Liberation Serif" panose="02020603050405020304" pitchFamily="18" charset="0"/>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001"/>
              </a:spcBef>
              <a:spcAft>
                <a:spcPts val="0"/>
              </a:spcAft>
              <a:buClrTx/>
              <a:buSzTx/>
              <a:buFont typeface="Arial" panose="020B0604020202020204" pitchFamily="34" charset="0"/>
              <a:buNone/>
              <a:tabLst>
                <a:tab pos="322498" algn="l"/>
                <a:tab pos="657954" algn="l"/>
                <a:tab pos="977572" algn="l"/>
                <a:tab pos="1301509" algn="l"/>
                <a:tab pos="1621128" algn="l"/>
                <a:tab pos="1959463" algn="l"/>
                <a:tab pos="2601579" algn="l"/>
                <a:tab pos="3259532" algn="l"/>
                <a:tab pos="3903088" algn="l"/>
                <a:tab pos="4561041" algn="l"/>
              </a:tabLst>
              <a:defRPr/>
            </a:pP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Gehen Sie auf </a:t>
            </a:r>
            <a:r>
              <a:rPr kumimoji="0" lang="de-DE" sz="2400" b="1" i="0" u="none" strike="noStrike" kern="1200" cap="none" spc="0" normalizeH="0" baseline="0" noProof="0" dirty="0">
                <a:ln>
                  <a:noFill/>
                </a:ln>
                <a:solidFill>
                  <a:srgbClr val="000000"/>
                </a:solidFill>
                <a:effectLst/>
                <a:uLnTx/>
                <a:uFillTx/>
                <a:latin typeface="Liberation Serif" panose="02020603050405020304" pitchFamily="18" charset="0"/>
                <a:ea typeface="+mn-ea"/>
              </a:rPr>
              <a:t>wooclap.com/de </a:t>
            </a: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und </a:t>
            </a:r>
            <a:b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geben Sie den Code ein, der gleich </a:t>
            </a:r>
            <a:b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mit Ihnen geteilt wird.</a:t>
            </a:r>
            <a:b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b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br>
            <a:r>
              <a:rPr kumimoji="0" lang="de-DE" sz="2400" b="0" i="0" u="none" strike="noStrike" kern="1200" cap="none" spc="0" normalizeH="0" baseline="0" noProof="0" dirty="0">
                <a:ln>
                  <a:noFill/>
                </a:ln>
                <a:solidFill>
                  <a:srgbClr val="000000"/>
                </a:solidFill>
                <a:effectLst/>
                <a:uLnTx/>
                <a:uFillTx/>
                <a:latin typeface="Liberation Serif" panose="02020603050405020304" pitchFamily="18" charset="0"/>
                <a:ea typeface="+mn-ea"/>
              </a:rPr>
              <a:t>							</a:t>
            </a:r>
          </a:p>
        </p:txBody>
      </p:sp>
      <p:pic>
        <p:nvPicPr>
          <p:cNvPr id="8" name="Picture 2" descr="Erstellen Sie interaktive Präsentationen mit Wooclap">
            <a:extLst>
              <a:ext uri="{FF2B5EF4-FFF2-40B4-BE49-F238E27FC236}">
                <a16:creationId xmlns:a16="http://schemas.microsoft.com/office/drawing/2014/main" id="{6676D26D-2EA7-4F5B-BEEA-C9049E3CD13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403" b="18148"/>
          <a:stretch/>
        </p:blipFill>
        <p:spPr bwMode="auto">
          <a:xfrm>
            <a:off x="7329313" y="2855219"/>
            <a:ext cx="3227316" cy="14546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Cours : WOOCLAP">
            <a:extLst>
              <a:ext uri="{FF2B5EF4-FFF2-40B4-BE49-F238E27FC236}">
                <a16:creationId xmlns:a16="http://schemas.microsoft.com/office/drawing/2014/main" id="{90BC7663-5B11-4DBD-A44F-24F66A7267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1369" y="2521008"/>
            <a:ext cx="2504661" cy="74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852809"/>
      </p:ext>
    </p:extLst>
  </p:cSld>
  <p:clrMapOvr>
    <a:masterClrMapping/>
  </p:clrMapOvr>
</p:sld>
</file>

<file path=ppt/theme/theme1.xml><?xml version="1.0" encoding="utf-8"?>
<a:theme xmlns:a="http://schemas.openxmlformats.org/drawingml/2006/main" name="1_Office">
  <a:themeElements>
    <a:clrScheme name="Benutzerdefiniert 1">
      <a:dk1>
        <a:srgbClr val="000000"/>
      </a:dk1>
      <a:lt1>
        <a:srgbClr val="FFFFFF"/>
      </a:lt1>
      <a:dk2>
        <a:srgbClr val="00A2D9"/>
      </a:dk2>
      <a:lt2>
        <a:srgbClr val="EEECE1"/>
      </a:lt2>
      <a:accent1>
        <a:srgbClr val="00A3DA"/>
      </a:accent1>
      <a:accent2>
        <a:srgbClr val="006B8E"/>
      </a:accent2>
      <a:accent3>
        <a:srgbClr val="4C4D4C"/>
      </a:accent3>
      <a:accent4>
        <a:srgbClr val="767776"/>
      </a:accent4>
      <a:accent5>
        <a:srgbClr val="767776"/>
      </a:accent5>
      <a:accent6>
        <a:srgbClr val="00AFDD"/>
      </a:accent6>
      <a:hlink>
        <a:srgbClr val="006B8E"/>
      </a:hlink>
      <a:folHlink>
        <a:srgbClr val="00516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6-06_HRW Powerpoint Master" id="{04377A4D-9DE6-EE41-8781-0E189CB9E1B1}" vid="{5CFA870C-B1ED-834E-B24B-41185ED9A9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Words>
  <Application>Microsoft Office PowerPoint</Application>
  <PresentationFormat>Breitbild</PresentationFormat>
  <Paragraphs>9</Paragraphs>
  <Slides>1</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vt:i4>
      </vt:variant>
    </vt:vector>
  </HeadingPairs>
  <TitlesOfParts>
    <vt:vector size="6" baseType="lpstr">
      <vt:lpstr>-apple-system</vt:lpstr>
      <vt:lpstr>Arial</vt:lpstr>
      <vt:lpstr>Calibri</vt:lpstr>
      <vt:lpstr>Liberation Serif</vt:lpstr>
      <vt:lpstr>1_Office</vt:lpstr>
      <vt:lpstr>Ein kurzer Check-in: Stresslevel erfassen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 kurzer Check-in: Stresslevel erfassen</dc:title>
  <dc:creator>Graf, Maike</dc:creator>
  <cp:lastModifiedBy>Graf, Maike</cp:lastModifiedBy>
  <cp:revision>3</cp:revision>
  <dcterms:created xsi:type="dcterms:W3CDTF">2025-03-31T17:09:24Z</dcterms:created>
  <dcterms:modified xsi:type="dcterms:W3CDTF">2025-04-15T11:32:08Z</dcterms:modified>
</cp:coreProperties>
</file>